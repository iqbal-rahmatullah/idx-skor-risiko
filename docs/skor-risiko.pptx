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20.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2" r:id="rId14"/>
    <p:sldId id="273" r:id="rId15"/>
    <p:sldId id="270" r:id="rId16"/>
    <p:sldId id="271" r:id="rId17"/>
    <p:sldId id="277" r:id="rId26"/>
    <p:sldId id="276" r:id="rId25"/>
    <p:sldId id="274" r:id="rId18"/>
    <p:sldId id="27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6"/>
    <p:restoredTop sz="94610"/>
  </p:normalViewPr>
  <p:slideViewPr>
    <p:cSldViewPr snapToGrid="0" snapToObjects="1">
      <p:cViewPr>
        <p:scale>
          <a:sx n="119" d="100"/>
          <a:sy n="119" d="100"/>
        </p:scale>
        <p:origin x="117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7.xml"/>  <Relationship Id="rId26" Type="http://schemas.openxmlformats.org/officeDocument/2006/relationships/slide" Target="slides/slide2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26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market.bisnis.com/read/20260401/7/1963525/bei-resmi-berlakukan-free-float-15-big-caps-diberi-tenggat-waktu-hingga-2027" TargetMode="External"/><Relationship Id="rId4" Type="http://schemas.openxmlformats.org/officeDocument/2006/relationships/hyperlink" Target="https://www.idx.id/Media/pyuil405/signed_peraturan_i_x_penempatan_pencatatan_ebe_pada_papan_pemantauan_khusus.pdf" TargetMode="External"/><Relationship Id="rId5" Type="http://schemas.openxmlformats.org/officeDocument/2006/relationships/hyperlink" Target="https://www.kppu.go.id/docs/Merger/Lampiran.pdf" TargetMode="External"/><Relationship Id="rId6" Type="http://schemas.openxmlformats.org/officeDocument/2006/relationships/image" Target="../media/image7.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idx.id/Media/pyuil405/signed_peraturan_i_x_penempatan_pencatatan_ebe_pada_papan_pemantauan_khusus.pdf" TargetMode="External"/><Relationship Id="rId4" Type="http://schemas.openxmlformats.org/officeDocument/2006/relationships/hyperlink" Target="https://en.wikipedia.org/wiki/Altman_Z-score" TargetMode="External"/><Relationship Id="rId5" Type="http://schemas.openxmlformats.org/officeDocument/2006/relationships/hyperlink" Target="https://en.wikipedia.org/wiki/Piotroski_F-score" TargetMode="External"/><Relationship Id="rId6" Type="http://schemas.openxmlformats.org/officeDocument/2006/relationships/image" Target="../media/image9.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ojk.go.id/id/regulasi/Pages/POJK-tentang-Kewajiban-Penyediaan-Modal-Minimum-Bank-Umum-.aspx" TargetMode="External"/><Relationship Id="rId4" Type="http://schemas.openxmlformats.org/officeDocument/2006/relationships/hyperlink" Target="https://www.bi.go.id/id/publikasi/peraturan/Pages/PBI_230221.aspx" TargetMode="External"/><Relationship Id="rId5" Type="http://schemas.openxmlformats.org/officeDocument/2006/relationships/hyperlink" Target="https://www.bi.go.id/id/publikasi/peraturan/Documents/PADG_210519.pdf" TargetMode="External"/><Relationship Id="rId6" Type="http://schemas.openxmlformats.org/officeDocument/2006/relationships/hyperlink" Target="https://jurnal.fem.uniba-bpn.ac.id/index.php/geoekonomi/article/download/150/81/693" TargetMode="External"/><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stablebread.com/graham-number/" TargetMode="External"/><Relationship Id="rId4" Type="http://schemas.openxmlformats.org/officeDocument/2006/relationships/image" Target="../media/image1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papers.ssrn.com/sol3/papers.cfm?abstract_id=253079" TargetMode="External"/><Relationship Id="rId4" Type="http://schemas.openxmlformats.org/officeDocument/2006/relationships/hyperlink" Target="https://www.idx.co.id/media/3lvd1yk1/lampiran-panduan-metodologi-indeks-idx80-lq45-dan-idx30.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www.investasiku.id/eduvest/saham/arti-notasi-khusus-pada-saham" TargetMode="External"/><Relationship Id="rId4" Type="http://schemas.openxmlformats.org/officeDocument/2006/relationships/hyperlink" Target="https://www.idx.id/Media/pyuil405/signed_peraturan_i_x_penempatan_pencatatan_ebe_pada_papan_pemantauan_khusus.pdf" TargetMode="External"/><Relationship Id="rId5" Type="http://schemas.openxmlformats.org/officeDocument/2006/relationships/hyperlink" Target="https://www.researchgate.net/publication/252059255_The_Detection_of_Earnings_Manipulation" TargetMode="External"/><Relationship Id="rId6" Type="http://schemas.openxmlformats.org/officeDocument/2006/relationships/hyperlink" Target="https://ideas.repec.org/a/inm/ormnsc/v57y2011i5p797-816.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Cara kerja</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F6B78"/>
                </a:solidFill>
                <a:latin typeface="Calibri" pitchFamily="34" charset="0"/>
                <a:ea typeface="Calibri" pitchFamily="34" charset="-122"/>
                <a:cs typeface="Calibri" pitchFamily="34" charset="-120"/>
              </a:rPr>
              <a:t>Kode menghitung angkanya. AI menulis seluruh narasinya.</a:t>
            </a:r>
            <a:endParaRPr lang="en-US" sz="1400" dirty="0"/>
          </a:p>
        </p:txBody>
      </p:sp>
      <p:sp>
        <p:nvSpPr>
          <p:cNvPr id="4" name="Shape 2"/>
          <p:cNvSpPr/>
          <p:nvPr/>
        </p:nvSpPr>
        <p:spPr>
          <a:xfrm>
            <a:off x="548640" y="2240280"/>
            <a:ext cx="2468880" cy="1097280"/>
          </a:xfrm>
          <a:prstGeom prst="roundRect">
            <a:avLst>
              <a:gd name="adj" fmla="val 8333"/>
            </a:avLst>
          </a:prstGeom>
          <a:solidFill>
            <a:srgbClr val="EEF1F4"/>
          </a:solidFill>
          <a:ln w="9525">
            <a:solidFill>
              <a:srgbClr val="EEF1F4"/>
            </a:solidFill>
            <a:prstDash val="solid"/>
          </a:ln>
        </p:spPr>
      </p:sp>
      <p:sp>
        <p:nvSpPr>
          <p:cNvPr id="5" name="Text 3"/>
          <p:cNvSpPr txBox="1"/>
          <p:nvPr/>
        </p:nvSpPr>
        <p:spPr>
          <a:xfrm>
            <a:off x="548640" y="2240280"/>
            <a:ext cx="2468880" cy="1097280"/>
          </a:xfrm>
          <a:prstGeom prst="rect">
            <a:avLst/>
          </a:prstGeom>
          <a:noFill/>
          <a:ln/>
        </p:spPr>
        <p:txBody>
          <a:bodyPr wrap="square" lIns="762" tIns="762" rIns="762" bIns="762" rtlCol="0" anchor="ctr"/>
          <a:lstStyle/>
          <a:p>
            <a:pPr algn="ctr" indent="0" marL="0">
              <a:buNone/>
            </a:pPr>
            <a:r>
              <a:rPr lang="en-US" sz="1250" b="1" dirty="0">
                <a:solidFill>
                  <a:srgbClr val="1B2430"/>
                </a:solidFill>
                <a:latin typeface="Calibri" pitchFamily="34" charset="0"/>
                <a:ea typeface="Calibri" pitchFamily="34" charset="-122"/>
                <a:cs typeface="Calibri" pitchFamily="34" charset="-120"/>
              </a:rPr>
              <a:t>Input</a:t>
            </a:r>
            <a:endParaRPr lang="en-US" sz="1250" dirty="0"/>
          </a:p>
          <a:p>
            <a:pPr algn="ctr" indent="0" marL="0">
              <a:buNone/>
            </a:pPr>
            <a:r>
              <a:rPr lang="en-US" sz="950" dirty="0">
                <a:solidFill>
                  <a:srgbClr val="5F6B78"/>
                </a:solidFill>
                <a:latin typeface="Calibri" pitchFamily="34" charset="0"/>
                <a:ea typeface="Calibri" pitchFamily="34" charset="-122"/>
                <a:cs typeface="Calibri" pitchFamily="34" charset="-120"/>
              </a:rPr>
              <a:t>/risk ANTM</a:t>
            </a:r>
            <a:endParaRPr lang="en-US" sz="1250" dirty="0"/>
          </a:p>
          <a:p>
            <a:pPr algn="ctr" indent="0" marL="0">
              <a:buNone/>
            </a:pPr>
            <a:r>
              <a:rPr lang="en-US" sz="950" dirty="0">
                <a:solidFill>
                  <a:srgbClr val="5F6B78"/>
                </a:solidFill>
                <a:latin typeface="Calibri" pitchFamily="34" charset="0"/>
                <a:ea typeface="Calibri" pitchFamily="34" charset="-122"/>
                <a:cs typeface="Calibri" pitchFamily="34" charset="-120"/>
              </a:rPr>
              <a:t>atau cron harian</a:t>
            </a:r>
            <a:endParaRPr lang="en-US" sz="1250" dirty="0"/>
          </a:p>
        </p:txBody>
      </p:sp>
      <p:sp>
        <p:nvSpPr>
          <p:cNvPr id="6" name="Shape 4"/>
          <p:cNvSpPr/>
          <p:nvPr/>
        </p:nvSpPr>
        <p:spPr>
          <a:xfrm>
            <a:off x="3017520" y="2788920"/>
            <a:ext cx="411480" cy="914"/>
          </a:xfrm>
          <a:prstGeom prst="line">
            <a:avLst/>
          </a:prstGeom>
          <a:noFill/>
          <a:ln w="15875">
            <a:solidFill>
              <a:srgbClr val="5F6B78"/>
            </a:solidFill>
            <a:prstDash val="solid"/>
            <a:tailEnd type="triangle"/>
          </a:ln>
        </p:spPr>
      </p:sp>
      <p:sp>
        <p:nvSpPr>
          <p:cNvPr id="7" name="Shape 5"/>
          <p:cNvSpPr/>
          <p:nvPr/>
        </p:nvSpPr>
        <p:spPr>
          <a:xfrm>
            <a:off x="3429000" y="2240280"/>
            <a:ext cx="2468880" cy="1097280"/>
          </a:xfrm>
          <a:prstGeom prst="roundRect">
            <a:avLst>
              <a:gd name="adj" fmla="val 8333"/>
            </a:avLst>
          </a:prstGeom>
          <a:solidFill>
            <a:srgbClr val="E3F2EC"/>
          </a:solidFill>
          <a:ln w="9525">
            <a:solidFill>
              <a:srgbClr val="E3F2EC"/>
            </a:solidFill>
            <a:prstDash val="solid"/>
          </a:ln>
        </p:spPr>
      </p:sp>
      <p:sp>
        <p:nvSpPr>
          <p:cNvPr id="8" name="Text 6"/>
          <p:cNvSpPr txBox="1"/>
          <p:nvPr/>
        </p:nvSpPr>
        <p:spPr>
          <a:xfrm>
            <a:off x="3429000" y="2240280"/>
            <a:ext cx="2468880" cy="1097280"/>
          </a:xfrm>
          <a:prstGeom prst="rect">
            <a:avLst/>
          </a:prstGeom>
          <a:noFill/>
          <a:ln/>
        </p:spPr>
        <p:txBody>
          <a:bodyPr wrap="square" lIns="762" tIns="762" rIns="762" bIns="762" rtlCol="0" anchor="ctr"/>
          <a:lstStyle/>
          <a:p>
            <a:pPr algn="ctr" indent="0" marL="0">
              <a:buNone/>
            </a:pPr>
            <a:r>
              <a:rPr lang="en-US" sz="1250" b="1" dirty="0">
                <a:solidFill>
                  <a:srgbClr val="0F4A3B"/>
                </a:solidFill>
                <a:latin typeface="Calibri" pitchFamily="34" charset="0"/>
                <a:ea typeface="Calibri" pitchFamily="34" charset="-122"/>
                <a:cs typeface="Calibri" pitchFamily="34" charset="-120"/>
              </a:rPr>
              <a:t>Kode: 27 indikator</a:t>
            </a:r>
            <a:endParaRPr lang="en-US" sz="1250" dirty="0"/>
          </a:p>
          <a:p>
            <a:pPr algn="ctr" indent="0" marL="0">
              <a:buNone/>
            </a:pPr>
            <a:r>
              <a:rPr lang="en-US" sz="950" dirty="0">
                <a:solidFill>
                  <a:srgbClr val="1E7A63"/>
                </a:solidFill>
                <a:latin typeface="Calibri" pitchFamily="34" charset="0"/>
                <a:ea typeface="Calibri" pitchFamily="34" charset="-122"/>
                <a:cs typeface="Calibri" pitchFamily="34" charset="-120"/>
              </a:rPr>
              <a:t>status, skor, ambang</a:t>
            </a:r>
            <a:endParaRPr lang="en-US" sz="1250" dirty="0"/>
          </a:p>
          <a:p>
            <a:pPr algn="ctr" indent="0" marL="0">
              <a:buNone/>
            </a:pPr>
            <a:r>
              <a:rPr lang="en-US" sz="950" dirty="0">
                <a:solidFill>
                  <a:srgbClr val="1E7A63"/>
                </a:solidFill>
                <a:latin typeface="Calibri" pitchFamily="34" charset="0"/>
                <a:ea typeface="Calibri" pitchFamily="34" charset="-122"/>
                <a:cs typeface="Calibri" pitchFamily="34" charset="-120"/>
              </a:rPr>
              <a:t>→ indicators.json</a:t>
            </a:r>
            <a:endParaRPr lang="en-US" sz="1250" dirty="0"/>
          </a:p>
        </p:txBody>
      </p:sp>
      <p:sp>
        <p:nvSpPr>
          <p:cNvPr id="9" name="Shape 7"/>
          <p:cNvSpPr/>
          <p:nvPr/>
        </p:nvSpPr>
        <p:spPr>
          <a:xfrm>
            <a:off x="5897880" y="2788920"/>
            <a:ext cx="411480" cy="914"/>
          </a:xfrm>
          <a:prstGeom prst="line">
            <a:avLst/>
          </a:prstGeom>
          <a:noFill/>
          <a:ln w="15875">
            <a:solidFill>
              <a:srgbClr val="5F6B78"/>
            </a:solidFill>
            <a:prstDash val="solid"/>
            <a:tailEnd type="triangle"/>
          </a:ln>
        </p:spPr>
      </p:sp>
      <p:sp>
        <p:nvSpPr>
          <p:cNvPr id="10" name="Shape 8"/>
          <p:cNvSpPr/>
          <p:nvPr/>
        </p:nvSpPr>
        <p:spPr>
          <a:xfrm>
            <a:off x="6309360" y="2240280"/>
            <a:ext cx="2468880" cy="1097280"/>
          </a:xfrm>
          <a:prstGeom prst="roundRect">
            <a:avLst>
              <a:gd name="adj" fmla="val 8333"/>
            </a:avLst>
          </a:prstGeom>
          <a:solidFill>
            <a:srgbClr val="FBE7E0"/>
          </a:solidFill>
          <a:ln w="9525">
            <a:solidFill>
              <a:srgbClr val="FBE7E0"/>
            </a:solidFill>
            <a:prstDash val="solid"/>
          </a:ln>
        </p:spPr>
      </p:sp>
      <p:sp>
        <p:nvSpPr>
          <p:cNvPr id="11" name="Text 9"/>
          <p:cNvSpPr txBox="1"/>
          <p:nvPr/>
        </p:nvSpPr>
        <p:spPr>
          <a:xfrm>
            <a:off x="6309360" y="2240280"/>
            <a:ext cx="2468880" cy="1097280"/>
          </a:xfrm>
          <a:prstGeom prst="rect">
            <a:avLst/>
          </a:prstGeom>
          <a:noFill/>
          <a:ln/>
        </p:spPr>
        <p:txBody>
          <a:bodyPr wrap="square" lIns="762" tIns="762" rIns="762" bIns="762" rtlCol="0" anchor="ctr"/>
          <a:lstStyle/>
          <a:p>
            <a:pPr algn="ctr" indent="0" marL="0">
              <a:buNone/>
            </a:pPr>
            <a:r>
              <a:rPr lang="en-US" sz="1250" b="1" dirty="0">
                <a:solidFill>
                  <a:srgbClr val="8E2F14"/>
                </a:solidFill>
                <a:latin typeface="Calibri" pitchFamily="34" charset="0"/>
                <a:ea typeface="Calibri" pitchFamily="34" charset="-122"/>
                <a:cs typeface="Calibri" pitchFamily="34" charset="-120"/>
              </a:rPr>
              <a:t>AI + skill finance</a:t>
            </a:r>
            <a:endParaRPr lang="en-US" sz="1250" dirty="0"/>
          </a:p>
          <a:p>
            <a:pPr algn="ctr" indent="0" marL="0">
              <a:buNone/>
            </a:pPr>
            <a:r>
              <a:rPr lang="en-US" sz="950" dirty="0">
                <a:solidFill>
                  <a:srgbClr val="C4451F"/>
                </a:solidFill>
                <a:latin typeface="Calibri" pitchFamily="34" charset="0"/>
                <a:ea typeface="Calibri" pitchFamily="34" charset="-122"/>
                <a:cs typeface="Calibri" pitchFamily="34" charset="-120"/>
              </a:rPr>
              <a:t>menulis seluruh</a:t>
            </a:r>
            <a:endParaRPr lang="en-US" sz="1250" dirty="0"/>
          </a:p>
          <a:p>
            <a:pPr algn="ctr" indent="0" marL="0">
              <a:buNone/>
            </a:pPr>
            <a:r>
              <a:rPr lang="en-US" sz="950" dirty="0">
                <a:solidFill>
                  <a:srgbClr val="C4451F"/>
                </a:solidFill>
                <a:latin typeface="Calibri" pitchFamily="34" charset="0"/>
                <a:ea typeface="Calibri" pitchFamily="34" charset="-122"/>
                <a:cs typeface="Calibri" pitchFamily="34" charset="-120"/>
              </a:rPr>
              <a:t>narasi kartu</a:t>
            </a:r>
            <a:endParaRPr lang="en-US" sz="1250" dirty="0"/>
          </a:p>
        </p:txBody>
      </p:sp>
      <p:sp>
        <p:nvSpPr>
          <p:cNvPr id="12" name="Shape 10"/>
          <p:cNvSpPr/>
          <p:nvPr/>
        </p:nvSpPr>
        <p:spPr>
          <a:xfrm>
            <a:off x="8778240" y="2788920"/>
            <a:ext cx="411480" cy="914"/>
          </a:xfrm>
          <a:prstGeom prst="line">
            <a:avLst/>
          </a:prstGeom>
          <a:noFill/>
          <a:ln w="15875">
            <a:solidFill>
              <a:srgbClr val="5F6B78"/>
            </a:solidFill>
            <a:prstDash val="solid"/>
            <a:tailEnd type="triangle"/>
          </a:ln>
        </p:spPr>
      </p:sp>
      <p:sp>
        <p:nvSpPr>
          <p:cNvPr id="13" name="Shape 11"/>
          <p:cNvSpPr/>
          <p:nvPr/>
        </p:nvSpPr>
        <p:spPr>
          <a:xfrm>
            <a:off x="9189720" y="2240280"/>
            <a:ext cx="2468880" cy="1097280"/>
          </a:xfrm>
          <a:prstGeom prst="roundRect">
            <a:avLst>
              <a:gd name="adj" fmla="val 8333"/>
            </a:avLst>
          </a:prstGeom>
          <a:solidFill>
            <a:srgbClr val="1B2430"/>
          </a:solidFill>
          <a:ln w="9525">
            <a:solidFill>
              <a:srgbClr val="1B2430"/>
            </a:solidFill>
            <a:prstDash val="solid"/>
          </a:ln>
        </p:spPr>
      </p:sp>
      <p:sp>
        <p:nvSpPr>
          <p:cNvPr id="14" name="Text 12"/>
          <p:cNvSpPr txBox="1"/>
          <p:nvPr/>
        </p:nvSpPr>
        <p:spPr>
          <a:xfrm>
            <a:off x="9189720" y="2240280"/>
            <a:ext cx="2468880" cy="1097280"/>
          </a:xfrm>
          <a:prstGeom prst="rect">
            <a:avLst/>
          </a:prstGeom>
          <a:noFill/>
          <a:ln/>
        </p:spPr>
        <p:txBody>
          <a:bodyPr wrap="square" lIns="762" tIns="762" rIns="762" bIns="762"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Gerbang angka → kartu</a:t>
            </a:r>
            <a:endParaRPr lang="en-US" sz="1250" dirty="0"/>
          </a:p>
          <a:p>
            <a:pPr algn="ctr" indent="0" marL="0">
              <a:buNone/>
            </a:pPr>
            <a:r>
              <a:rPr lang="en-US" sz="950" dirty="0">
                <a:solidFill>
                  <a:srgbClr val="B8C2CC"/>
                </a:solidFill>
                <a:latin typeface="Calibri" pitchFamily="34" charset="0"/>
                <a:ea typeface="Calibri" pitchFamily="34" charset="-122"/>
                <a:cs typeface="Calibri" pitchFamily="34" charset="-120"/>
              </a:rPr>
              <a:t>tolak kalimat yang</a:t>
            </a:r>
            <a:endParaRPr lang="en-US" sz="1250" dirty="0"/>
          </a:p>
          <a:p>
            <a:pPr algn="ctr" indent="0" marL="0">
              <a:buNone/>
            </a:pPr>
            <a:r>
              <a:rPr lang="en-US" sz="950" dirty="0">
                <a:solidFill>
                  <a:srgbClr val="B8C2CC"/>
                </a:solidFill>
                <a:latin typeface="Calibri" pitchFamily="34" charset="0"/>
                <a:ea typeface="Calibri" pitchFamily="34" charset="-122"/>
                <a:cs typeface="Calibri" pitchFamily="34" charset="-120"/>
              </a:rPr>
              <a:t>angkanya tak terlacak</a:t>
            </a:r>
            <a:endParaRPr lang="en-US" sz="1250" dirty="0"/>
          </a:p>
        </p:txBody>
      </p:sp>
      <p:sp>
        <p:nvSpPr>
          <p:cNvPr id="15" name="Shape 13"/>
          <p:cNvSpPr/>
          <p:nvPr/>
        </p:nvSpPr>
        <p:spPr>
          <a:xfrm>
            <a:off x="6309360" y="3538728"/>
            <a:ext cx="2468880" cy="1051560"/>
          </a:xfrm>
          <a:prstGeom prst="roundRect">
            <a:avLst>
              <a:gd name="adj" fmla="val 6957"/>
            </a:avLst>
          </a:prstGeom>
          <a:solidFill>
            <a:srgbClr val="FFFFFF"/>
          </a:solidFill>
          <a:ln w="12700">
            <a:solidFill>
              <a:srgbClr val="FBE7E0"/>
            </a:solidFill>
            <a:prstDash val="solid"/>
          </a:ln>
        </p:spPr>
      </p:sp>
      <p:sp>
        <p:nvSpPr>
          <p:cNvPr id="16" name="Text 14"/>
          <p:cNvSpPr txBox="1"/>
          <p:nvPr/>
        </p:nvSpPr>
        <p:spPr>
          <a:xfrm>
            <a:off x="6309360" y="3538728"/>
            <a:ext cx="2468880" cy="1051560"/>
          </a:xfrm>
          <a:prstGeom prst="rect">
            <a:avLst/>
          </a:prstGeom>
          <a:noFill/>
          <a:ln/>
        </p:spPr>
        <p:txBody>
          <a:bodyPr wrap="square" lIns="1143" tIns="1143" rIns="1143" bIns="1143" rtlCol="0" anchor="ctr"/>
          <a:lstStyle/>
          <a:p>
            <a:pPr algn="ctr" indent="0" marL="0">
              <a:buNone/>
            </a:pPr>
            <a:r>
              <a:rPr lang="en-US" sz="1000" b="1" dirty="0">
                <a:solidFill>
                  <a:srgbClr val="8E2F14"/>
                </a:solidFill>
                <a:latin typeface="Calibri" pitchFamily="34" charset="0"/>
                <a:ea typeface="Calibri" pitchFamily="34" charset="-122"/>
                <a:cs typeface="Calibri" pitchFamily="34" charset="-120"/>
              </a:rPr>
              <a:t>Isi skill</a:t>
            </a: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kamus istilah baku</a:t>
            </a: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aturan nada dan larangan</a:t>
            </a: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cara membaca kombinasi</a:t>
            </a: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contoh narasi yang baik</a:t>
            </a:r>
            <a:endParaRPr lang="en-US" sz="1000" dirty="0"/>
          </a:p>
        </p:txBody>
      </p:sp>
      <p:sp>
        <p:nvSpPr>
          <p:cNvPr id="17" name="Shape 15"/>
          <p:cNvSpPr/>
          <p:nvPr/>
        </p:nvSpPr>
        <p:spPr>
          <a:xfrm flipV="1">
            <a:off x="7543800" y="3374136"/>
            <a:ext cx="914" cy="164592"/>
          </a:xfrm>
          <a:prstGeom prst="line">
            <a:avLst/>
          </a:prstGeom>
          <a:noFill/>
          <a:ln w="15875">
            <a:solidFill>
              <a:srgbClr val="FBE7E0"/>
            </a:solidFill>
            <a:prstDash val="solid"/>
            <a:tailEnd type="triangle"/>
          </a:ln>
        </p:spPr>
      </p:sp>
      <p:sp>
        <p:nvSpPr>
          <p:cNvPr id="18" name="Shape 16"/>
          <p:cNvSpPr/>
          <p:nvPr/>
        </p:nvSpPr>
        <p:spPr>
          <a:xfrm>
            <a:off x="548640" y="4956048"/>
            <a:ext cx="11064240" cy="868680"/>
          </a:xfrm>
          <a:prstGeom prst="roundRect">
            <a:avLst>
              <a:gd name="adj" fmla="val 8421"/>
            </a:avLst>
          </a:prstGeom>
          <a:solidFill>
            <a:srgbClr val="FDF0DC"/>
          </a:solidFill>
          <a:ln w="12700">
            <a:solidFill>
              <a:srgbClr val="FDF0DC"/>
            </a:solidFill>
            <a:prstDash val="solid"/>
          </a:ln>
        </p:spPr>
      </p:sp>
      <p:sp>
        <p:nvSpPr>
          <p:cNvPr id="19" name="Text 17"/>
          <p:cNvSpPr txBox="1"/>
          <p:nvPr/>
        </p:nvSpPr>
        <p:spPr>
          <a:xfrm>
            <a:off x="777240" y="4956048"/>
            <a:ext cx="10607040" cy="868680"/>
          </a:xfrm>
          <a:prstGeom prst="rect">
            <a:avLst/>
          </a:prstGeom>
          <a:noFill/>
          <a:ln/>
        </p:spPr>
        <p:txBody>
          <a:bodyPr wrap="square" lIns="0" tIns="0" rIns="0" bIns="0" rtlCol="0" anchor="ctr"/>
          <a:lstStyle/>
          <a:p>
            <a:pPr indent="0" marL="0">
              <a:buNone/>
            </a:pPr>
            <a:r>
              <a:rPr lang="en-US" sz="1250" b="1" dirty="0">
                <a:solidFill>
                  <a:srgbClr val="8A5A12"/>
                </a:solidFill>
                <a:latin typeface="Calibri" pitchFamily="34" charset="0"/>
                <a:ea typeface="Calibri" pitchFamily="34" charset="-122"/>
                <a:cs typeface="Calibri" pitchFamily="34" charset="-120"/>
              </a:rPr>
              <a:t>Konsekuensinya: </a:t>
            </a:r>
            <a:pPr indent="0" marL="0">
              <a:buNone/>
            </a:pPr>
            <a:r>
              <a:rPr lang="en-US" sz="1250" dirty="0">
                <a:solidFill>
                  <a:srgbClr val="8A5A12"/>
                </a:solidFill>
                <a:latin typeface="Calibri" pitchFamily="34" charset="0"/>
                <a:ea typeface="Calibri" pitchFamily="34" charset="-122"/>
                <a:cs typeface="Calibri" pitchFamily="34" charset="-120"/>
              </a:rPr>
              <a:t>kartu baru muncul setelah AI selesai, sekitar 30 detik. Bot mengirim tanda terima lebih dulu supaya pengguna tahu permintaannya diproses. Kalau AI gagal atau kehabisan anggaran, bot jatuh ke kartu ringkas berisi angka mentah tanpa penjelasan — cadangan ini wajib ada, karena tanpa AI tidak ada kalimat apa pun yang bisa ditampilkan.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Enam pilar kalkulasi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Sekitar 27 flag. Tiap pilar menjawab satu pertanyaan.</a:t>
            </a:r>
            <a:endParaRPr lang="en-US" sz="1400" dirty="0"/>
          </a:p>
        </p:txBody>
      </p:sp>
      <p:sp>
        <p:nvSpPr>
          <p:cNvPr id="4" name="Shape 2"/>
          <p:cNvSpPr/>
          <p:nvPr/>
        </p:nvSpPr>
        <p:spPr>
          <a:xfrm>
            <a:off x="548640" y="1691640"/>
            <a:ext cx="3566160" cy="1965960"/>
          </a:xfrm>
          <a:prstGeom prst="roundRect">
            <a:avLst>
              <a:gd name="adj" fmla="val 6512"/>
            </a:avLst>
          </a:prstGeom>
          <a:solidFill>
            <a:srgbClr val="EEF1F4"/>
          </a:solidFill>
          <a:ln w="9525">
            <a:solidFill>
              <a:srgbClr val="EEF1F4"/>
            </a:solidFill>
            <a:prstDash val="solid"/>
          </a:ln>
        </p:spPr>
      </p:sp>
      <p:sp>
        <p:nvSpPr>
          <p:cNvPr id="5" name="Shape 3"/>
          <p:cNvSpPr/>
          <p:nvPr/>
        </p:nvSpPr>
        <p:spPr>
          <a:xfrm>
            <a:off x="822960" y="1965960"/>
            <a:ext cx="566928" cy="566928"/>
          </a:xfrm>
          <a:prstGeom prst="ellipse">
            <a:avLst/>
          </a:prstGeom>
          <a:solidFill>
            <a:srgbClr val="1B2430"/>
          </a:solidFill>
          <a:ln w="12700">
            <a:solidFill>
              <a:srgbClr val="1B2430"/>
            </a:solidFill>
            <a:prstDash val="solid"/>
          </a:ln>
        </p:spPr>
      </p:sp>
      <p:pic>
        <p:nvPicPr>
          <p:cNvPr id="6" name="Image 0" descr="preencoded.png"/>
          <p:cNvPicPr>
            <a:picLocks noChangeAspect="1"/>
          </p:cNvPicPr>
          <p:nvPr/>
        </p:nvPicPr>
        <p:blipFill>
          <a:blip r:embed="rId3"/>
          <a:stretch>
            <a:fillRect/>
          </a:stretch>
        </p:blipFill>
        <p:spPr>
          <a:xfrm>
            <a:off x="950976" y="2093976"/>
            <a:ext cx="310896" cy="310896"/>
          </a:xfrm>
          <a:prstGeom prst="rect">
            <a:avLst/>
          </a:prstGeom>
        </p:spPr>
      </p:pic>
      <p:sp>
        <p:nvSpPr>
          <p:cNvPr id="7" name="Text 4"/>
          <p:cNvSpPr txBox="1"/>
          <p:nvPr/>
        </p:nvSpPr>
        <p:spPr>
          <a:xfrm>
            <a:off x="822960" y="2651760"/>
            <a:ext cx="301752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Ukuran dan likuiditas</a:t>
            </a:r>
            <a:endParaRPr lang="en-US" sz="1500" dirty="0"/>
          </a:p>
        </p:txBody>
      </p:sp>
      <p:sp>
        <p:nvSpPr>
          <p:cNvPr id="8" name="Text 5"/>
          <p:cNvSpPr txBox="1"/>
          <p:nvPr/>
        </p:nvSpPr>
        <p:spPr>
          <a:xfrm>
            <a:off x="822960" y="3017520"/>
            <a:ext cx="3017520" cy="548640"/>
          </a:xfrm>
          <a:prstGeom prst="rect">
            <a:avLst/>
          </a:prstGeom>
          <a:noFill/>
          <a:ln/>
        </p:spPr>
        <p:txBody>
          <a:bodyPr wrap="square" lIns="0" tIns="0" rIns="0" bIns="0" rtlCol="0" anchor="t"/>
          <a:lstStyle/>
          <a:p>
            <a:pPr marL="0" indent="0">
              <a:buNone/>
            </a:pPr>
            <a:r>
              <a:rPr lang="en-US" sz="1150" dirty="0">
                <a:solidFill>
                  <a:srgbClr val="5F6B78"/>
                </a:solidFill>
                <a:latin typeface="Calibri" pitchFamily="34" charset="0"/>
                <a:ea typeface="Calibri" pitchFamily="34" charset="-122"/>
                <a:cs typeface="Calibri" pitchFamily="34" charset="-120"/>
              </a:rPr>
              <a:t>Seberapa mudah harga saham ini digerakkan segelintir pihak?</a:t>
            </a:r>
            <a:endParaRPr lang="en-US" sz="1150" dirty="0"/>
          </a:p>
        </p:txBody>
      </p:sp>
      <p:sp>
        <p:nvSpPr>
          <p:cNvPr id="9" name="Shape 6"/>
          <p:cNvSpPr/>
          <p:nvPr/>
        </p:nvSpPr>
        <p:spPr>
          <a:xfrm>
            <a:off x="4297680" y="1691640"/>
            <a:ext cx="3566160" cy="1965960"/>
          </a:xfrm>
          <a:prstGeom prst="roundRect">
            <a:avLst>
              <a:gd name="adj" fmla="val 6512"/>
            </a:avLst>
          </a:prstGeom>
          <a:solidFill>
            <a:srgbClr val="EEF1F4"/>
          </a:solidFill>
          <a:ln w="9525">
            <a:solidFill>
              <a:srgbClr val="EEF1F4"/>
            </a:solidFill>
            <a:prstDash val="solid"/>
          </a:ln>
        </p:spPr>
      </p:sp>
      <p:sp>
        <p:nvSpPr>
          <p:cNvPr id="10" name="Shape 7"/>
          <p:cNvSpPr/>
          <p:nvPr/>
        </p:nvSpPr>
        <p:spPr>
          <a:xfrm>
            <a:off x="4572000" y="1965960"/>
            <a:ext cx="566928" cy="566928"/>
          </a:xfrm>
          <a:prstGeom prst="ellipse">
            <a:avLst/>
          </a:prstGeom>
          <a:solidFill>
            <a:srgbClr val="1B2430"/>
          </a:solidFill>
          <a:ln w="12700">
            <a:solidFill>
              <a:srgbClr val="1B2430"/>
            </a:solidFill>
            <a:prstDash val="solid"/>
          </a:ln>
        </p:spPr>
      </p:sp>
      <p:pic>
        <p:nvPicPr>
          <p:cNvPr id="11" name="Image 1" descr="preencoded.png"/>
          <p:cNvPicPr>
            <a:picLocks noChangeAspect="1"/>
          </p:cNvPicPr>
          <p:nvPr/>
        </p:nvPicPr>
        <p:blipFill>
          <a:blip r:embed="rId4"/>
          <a:stretch>
            <a:fillRect/>
          </a:stretch>
        </p:blipFill>
        <p:spPr>
          <a:xfrm>
            <a:off x="4700016" y="2093976"/>
            <a:ext cx="310896" cy="310896"/>
          </a:xfrm>
          <a:prstGeom prst="rect">
            <a:avLst/>
          </a:prstGeom>
        </p:spPr>
      </p:pic>
      <p:sp>
        <p:nvSpPr>
          <p:cNvPr id="12" name="Text 8"/>
          <p:cNvSpPr txBox="1"/>
          <p:nvPr/>
        </p:nvSpPr>
        <p:spPr>
          <a:xfrm>
            <a:off x="4572000" y="2651760"/>
            <a:ext cx="301752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Kesehatan keuangan</a:t>
            </a:r>
            <a:endParaRPr lang="en-US" sz="1500" dirty="0"/>
          </a:p>
        </p:txBody>
      </p:sp>
      <p:sp>
        <p:nvSpPr>
          <p:cNvPr id="13" name="Text 9"/>
          <p:cNvSpPr txBox="1"/>
          <p:nvPr/>
        </p:nvSpPr>
        <p:spPr>
          <a:xfrm>
            <a:off x="4572000" y="3017520"/>
            <a:ext cx="3017520" cy="548640"/>
          </a:xfrm>
          <a:prstGeom prst="rect">
            <a:avLst/>
          </a:prstGeom>
          <a:noFill/>
          <a:ln/>
        </p:spPr>
        <p:txBody>
          <a:bodyPr wrap="square" lIns="0" tIns="0" rIns="0" bIns="0" rtlCol="0" anchor="t"/>
          <a:lstStyle/>
          <a:p>
            <a:pPr marL="0" indent="0">
              <a:buNone/>
            </a:pPr>
            <a:r>
              <a:rPr lang="en-US" sz="1150" dirty="0">
                <a:solidFill>
                  <a:srgbClr val="5F6B78"/>
                </a:solidFill>
                <a:latin typeface="Calibri" pitchFamily="34" charset="0"/>
                <a:ea typeface="Calibri" pitchFamily="34" charset="-122"/>
                <a:cs typeface="Calibri" pitchFamily="34" charset="-120"/>
              </a:rPr>
              <a:t>Perusahaannya untung, punya kas, dan utangnya wajar?</a:t>
            </a:r>
            <a:endParaRPr lang="en-US" sz="1150" dirty="0"/>
          </a:p>
        </p:txBody>
      </p:sp>
      <p:sp>
        <p:nvSpPr>
          <p:cNvPr id="14" name="Shape 10"/>
          <p:cNvSpPr/>
          <p:nvPr/>
        </p:nvSpPr>
        <p:spPr>
          <a:xfrm>
            <a:off x="8046720" y="1691640"/>
            <a:ext cx="3566160" cy="1965960"/>
          </a:xfrm>
          <a:prstGeom prst="roundRect">
            <a:avLst>
              <a:gd name="adj" fmla="val 6512"/>
            </a:avLst>
          </a:prstGeom>
          <a:solidFill>
            <a:srgbClr val="EEF1F4"/>
          </a:solidFill>
          <a:ln w="9525">
            <a:solidFill>
              <a:srgbClr val="EEF1F4"/>
            </a:solidFill>
            <a:prstDash val="solid"/>
          </a:ln>
        </p:spPr>
      </p:sp>
      <p:sp>
        <p:nvSpPr>
          <p:cNvPr id="15" name="Shape 11"/>
          <p:cNvSpPr/>
          <p:nvPr/>
        </p:nvSpPr>
        <p:spPr>
          <a:xfrm>
            <a:off x="8321040" y="1965960"/>
            <a:ext cx="566928" cy="566928"/>
          </a:xfrm>
          <a:prstGeom prst="ellipse">
            <a:avLst/>
          </a:prstGeom>
          <a:solidFill>
            <a:srgbClr val="1B2430"/>
          </a:solidFill>
          <a:ln w="12700">
            <a:solidFill>
              <a:srgbClr val="1B2430"/>
            </a:solidFill>
            <a:prstDash val="solid"/>
          </a:ln>
        </p:spPr>
      </p:sp>
      <p:pic>
        <p:nvPicPr>
          <p:cNvPr id="16" name="Image 2" descr="preencoded.png"/>
          <p:cNvPicPr>
            <a:picLocks noChangeAspect="1"/>
          </p:cNvPicPr>
          <p:nvPr/>
        </p:nvPicPr>
        <p:blipFill>
          <a:blip r:embed="rId5"/>
          <a:stretch>
            <a:fillRect/>
          </a:stretch>
        </p:blipFill>
        <p:spPr>
          <a:xfrm>
            <a:off x="8449056" y="2093976"/>
            <a:ext cx="310896" cy="310896"/>
          </a:xfrm>
          <a:prstGeom prst="rect">
            <a:avLst/>
          </a:prstGeom>
        </p:spPr>
      </p:pic>
      <p:sp>
        <p:nvSpPr>
          <p:cNvPr id="17" name="Text 12"/>
          <p:cNvSpPr txBox="1"/>
          <p:nvPr/>
        </p:nvSpPr>
        <p:spPr>
          <a:xfrm>
            <a:off x="8321040" y="2651760"/>
            <a:ext cx="301752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Valuasi</a:t>
            </a:r>
            <a:endParaRPr lang="en-US" sz="1500" dirty="0"/>
          </a:p>
        </p:txBody>
      </p:sp>
      <p:sp>
        <p:nvSpPr>
          <p:cNvPr id="18" name="Text 13"/>
          <p:cNvSpPr txBox="1"/>
          <p:nvPr/>
        </p:nvSpPr>
        <p:spPr>
          <a:xfrm>
            <a:off x="8321040" y="3017520"/>
            <a:ext cx="3017520" cy="548640"/>
          </a:xfrm>
          <a:prstGeom prst="rect">
            <a:avLst/>
          </a:prstGeom>
          <a:noFill/>
          <a:ln/>
        </p:spPr>
        <p:txBody>
          <a:bodyPr wrap="square" lIns="0" tIns="0" rIns="0" bIns="0" rtlCol="0" anchor="t"/>
          <a:lstStyle/>
          <a:p>
            <a:pPr marL="0" indent="0">
              <a:buNone/>
            </a:pPr>
            <a:r>
              <a:rPr lang="en-US" sz="1150" dirty="0">
                <a:solidFill>
                  <a:srgbClr val="5F6B78"/>
                </a:solidFill>
                <a:latin typeface="Calibri" pitchFamily="34" charset="0"/>
                <a:ea typeface="Calibri" pitchFamily="34" charset="-122"/>
                <a:cs typeface="Calibri" pitchFamily="34" charset="-120"/>
              </a:rPr>
              <a:t>Harganya sudah kemahalan dibanding perusahaan sejenis?</a:t>
            </a:r>
            <a:endParaRPr lang="en-US" sz="1150" dirty="0"/>
          </a:p>
        </p:txBody>
      </p:sp>
      <p:sp>
        <p:nvSpPr>
          <p:cNvPr id="19" name="Shape 14"/>
          <p:cNvSpPr/>
          <p:nvPr/>
        </p:nvSpPr>
        <p:spPr>
          <a:xfrm>
            <a:off x="548640" y="3931920"/>
            <a:ext cx="3566160" cy="1965960"/>
          </a:xfrm>
          <a:prstGeom prst="roundRect">
            <a:avLst>
              <a:gd name="adj" fmla="val 6512"/>
            </a:avLst>
          </a:prstGeom>
          <a:solidFill>
            <a:srgbClr val="EEF1F4"/>
          </a:solidFill>
          <a:ln w="9525">
            <a:solidFill>
              <a:srgbClr val="EEF1F4"/>
            </a:solidFill>
            <a:prstDash val="solid"/>
          </a:ln>
        </p:spPr>
      </p:sp>
      <p:sp>
        <p:nvSpPr>
          <p:cNvPr id="20" name="Shape 15"/>
          <p:cNvSpPr/>
          <p:nvPr/>
        </p:nvSpPr>
        <p:spPr>
          <a:xfrm>
            <a:off x="822960" y="4206240"/>
            <a:ext cx="566928" cy="566928"/>
          </a:xfrm>
          <a:prstGeom prst="ellipse">
            <a:avLst/>
          </a:prstGeom>
          <a:solidFill>
            <a:srgbClr val="1B2430"/>
          </a:solidFill>
          <a:ln w="12700">
            <a:solidFill>
              <a:srgbClr val="1B2430"/>
            </a:solidFill>
            <a:prstDash val="solid"/>
          </a:ln>
        </p:spPr>
      </p:sp>
      <p:pic>
        <p:nvPicPr>
          <p:cNvPr id="21" name="Image 3" descr="preencoded.png"/>
          <p:cNvPicPr>
            <a:picLocks noChangeAspect="1"/>
          </p:cNvPicPr>
          <p:nvPr/>
        </p:nvPicPr>
        <p:blipFill>
          <a:blip r:embed="rId6"/>
          <a:stretch>
            <a:fillRect/>
          </a:stretch>
        </p:blipFill>
        <p:spPr>
          <a:xfrm>
            <a:off x="950976" y="4334256"/>
            <a:ext cx="310896" cy="310896"/>
          </a:xfrm>
          <a:prstGeom prst="rect">
            <a:avLst/>
          </a:prstGeom>
        </p:spPr>
      </p:pic>
      <p:sp>
        <p:nvSpPr>
          <p:cNvPr id="22" name="Text 16"/>
          <p:cNvSpPr txBox="1"/>
          <p:nvPr/>
        </p:nvSpPr>
        <p:spPr>
          <a:xfrm>
            <a:off x="822960" y="4892040"/>
            <a:ext cx="301752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Kepemilikan dan orang dalam</a:t>
            </a:r>
            <a:endParaRPr lang="en-US" sz="1500" dirty="0"/>
          </a:p>
        </p:txBody>
      </p:sp>
      <p:sp>
        <p:nvSpPr>
          <p:cNvPr id="23" name="Text 17"/>
          <p:cNvSpPr txBox="1"/>
          <p:nvPr/>
        </p:nvSpPr>
        <p:spPr>
          <a:xfrm>
            <a:off x="822960" y="5257800"/>
            <a:ext cx="3017520" cy="548640"/>
          </a:xfrm>
          <a:prstGeom prst="rect">
            <a:avLst/>
          </a:prstGeom>
          <a:noFill/>
          <a:ln/>
        </p:spPr>
        <p:txBody>
          <a:bodyPr wrap="square" lIns="0" tIns="0" rIns="0" bIns="0" rtlCol="0" anchor="t"/>
          <a:lstStyle/>
          <a:p>
            <a:pPr marL="0" indent="0">
              <a:buNone/>
            </a:pPr>
            <a:r>
              <a:rPr lang="en-US" sz="1150" dirty="0">
                <a:solidFill>
                  <a:srgbClr val="5F6B78"/>
                </a:solidFill>
                <a:latin typeface="Calibri" pitchFamily="34" charset="0"/>
                <a:ea typeface="Calibri" pitchFamily="34" charset="-122"/>
                <a:cs typeface="Calibri" pitchFamily="34" charset="-120"/>
              </a:rPr>
              <a:t>Orang yang tahu lebih dulu sedang beli atau jual?</a:t>
            </a:r>
            <a:endParaRPr lang="en-US" sz="1150" dirty="0"/>
          </a:p>
        </p:txBody>
      </p:sp>
      <p:sp>
        <p:nvSpPr>
          <p:cNvPr id="24" name="Shape 18"/>
          <p:cNvSpPr/>
          <p:nvPr/>
        </p:nvSpPr>
        <p:spPr>
          <a:xfrm>
            <a:off x="4297680" y="3931920"/>
            <a:ext cx="3566160" cy="1965960"/>
          </a:xfrm>
          <a:prstGeom prst="roundRect">
            <a:avLst>
              <a:gd name="adj" fmla="val 6512"/>
            </a:avLst>
          </a:prstGeom>
          <a:solidFill>
            <a:srgbClr val="EEF1F4"/>
          </a:solidFill>
          <a:ln w="9525">
            <a:solidFill>
              <a:srgbClr val="EEF1F4"/>
            </a:solidFill>
            <a:prstDash val="solid"/>
          </a:ln>
        </p:spPr>
      </p:sp>
      <p:sp>
        <p:nvSpPr>
          <p:cNvPr id="25" name="Shape 19"/>
          <p:cNvSpPr/>
          <p:nvPr/>
        </p:nvSpPr>
        <p:spPr>
          <a:xfrm>
            <a:off x="4572000" y="4206240"/>
            <a:ext cx="566928" cy="566928"/>
          </a:xfrm>
          <a:prstGeom prst="ellipse">
            <a:avLst/>
          </a:prstGeom>
          <a:solidFill>
            <a:srgbClr val="1B2430"/>
          </a:solidFill>
          <a:ln w="12700">
            <a:solidFill>
              <a:srgbClr val="1B2430"/>
            </a:solidFill>
            <a:prstDash val="solid"/>
          </a:ln>
        </p:spPr>
      </p:sp>
      <p:pic>
        <p:nvPicPr>
          <p:cNvPr id="26" name="Image 4" descr="preencoded.png"/>
          <p:cNvPicPr>
            <a:picLocks noChangeAspect="1"/>
          </p:cNvPicPr>
          <p:nvPr/>
        </p:nvPicPr>
        <p:blipFill>
          <a:blip r:embed="rId7"/>
          <a:stretch>
            <a:fillRect/>
          </a:stretch>
        </p:blipFill>
        <p:spPr>
          <a:xfrm>
            <a:off x="4700016" y="4334256"/>
            <a:ext cx="310896" cy="310896"/>
          </a:xfrm>
          <a:prstGeom prst="rect">
            <a:avLst/>
          </a:prstGeom>
        </p:spPr>
      </p:pic>
      <p:sp>
        <p:nvSpPr>
          <p:cNvPr id="27" name="Text 20"/>
          <p:cNvSpPr txBox="1"/>
          <p:nvPr/>
        </p:nvSpPr>
        <p:spPr>
          <a:xfrm>
            <a:off x="4572000" y="4892040"/>
            <a:ext cx="301752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Peristiwa dan berita</a:t>
            </a:r>
            <a:endParaRPr lang="en-US" sz="1500" dirty="0"/>
          </a:p>
        </p:txBody>
      </p:sp>
      <p:sp>
        <p:nvSpPr>
          <p:cNvPr id="28" name="Text 21"/>
          <p:cNvSpPr txBox="1"/>
          <p:nvPr/>
        </p:nvSpPr>
        <p:spPr>
          <a:xfrm>
            <a:off x="4572000" y="5257800"/>
            <a:ext cx="3017520" cy="548640"/>
          </a:xfrm>
          <a:prstGeom prst="rect">
            <a:avLst/>
          </a:prstGeom>
          <a:noFill/>
          <a:ln/>
        </p:spPr>
        <p:txBody>
          <a:bodyPr wrap="square" lIns="0" tIns="0" rIns="0" bIns="0" rtlCol="0" anchor="t"/>
          <a:lstStyle/>
          <a:p>
            <a:pPr marL="0" indent="0">
              <a:buNone/>
            </a:pPr>
            <a:r>
              <a:rPr lang="en-US" sz="1150" dirty="0">
                <a:solidFill>
                  <a:srgbClr val="5F6B78"/>
                </a:solidFill>
                <a:latin typeface="Calibri" pitchFamily="34" charset="0"/>
                <a:ea typeface="Calibri" pitchFamily="34" charset="-122"/>
                <a:cs typeface="Calibri" pitchFamily="34" charset="-120"/>
              </a:rPr>
              <a:t>Ada masalah hukum, dilusi, atau kabar buruk?</a:t>
            </a:r>
            <a:endParaRPr lang="en-US" sz="1150" dirty="0"/>
          </a:p>
        </p:txBody>
      </p:sp>
      <p:sp>
        <p:nvSpPr>
          <p:cNvPr id="29" name="Shape 22"/>
          <p:cNvSpPr/>
          <p:nvPr/>
        </p:nvSpPr>
        <p:spPr>
          <a:xfrm>
            <a:off x="8046720" y="3931920"/>
            <a:ext cx="3566160" cy="1965960"/>
          </a:xfrm>
          <a:prstGeom prst="roundRect">
            <a:avLst>
              <a:gd name="adj" fmla="val 6512"/>
            </a:avLst>
          </a:prstGeom>
          <a:solidFill>
            <a:srgbClr val="EEF1F4"/>
          </a:solidFill>
          <a:ln w="9525">
            <a:solidFill>
              <a:srgbClr val="EEF1F4"/>
            </a:solidFill>
            <a:prstDash val="solid"/>
          </a:ln>
        </p:spPr>
      </p:sp>
      <p:sp>
        <p:nvSpPr>
          <p:cNvPr id="30" name="Shape 23"/>
          <p:cNvSpPr/>
          <p:nvPr/>
        </p:nvSpPr>
        <p:spPr>
          <a:xfrm>
            <a:off x="8321040" y="4206240"/>
            <a:ext cx="566928" cy="566928"/>
          </a:xfrm>
          <a:prstGeom prst="ellipse">
            <a:avLst/>
          </a:prstGeom>
          <a:solidFill>
            <a:srgbClr val="1B2430"/>
          </a:solidFill>
          <a:ln w="12700">
            <a:solidFill>
              <a:srgbClr val="1B2430"/>
            </a:solidFill>
            <a:prstDash val="solid"/>
          </a:ln>
        </p:spPr>
      </p:sp>
      <p:pic>
        <p:nvPicPr>
          <p:cNvPr id="31" name="Image 5" descr="preencoded.png"/>
          <p:cNvPicPr>
            <a:picLocks noChangeAspect="1"/>
          </p:cNvPicPr>
          <p:nvPr/>
        </p:nvPicPr>
        <p:blipFill>
          <a:blip r:embed="rId8"/>
          <a:stretch>
            <a:fillRect/>
          </a:stretch>
        </p:blipFill>
        <p:spPr>
          <a:xfrm>
            <a:off x="8449056" y="4334256"/>
            <a:ext cx="310896" cy="310896"/>
          </a:xfrm>
          <a:prstGeom prst="rect">
            <a:avLst/>
          </a:prstGeom>
        </p:spPr>
      </p:pic>
      <p:sp>
        <p:nvSpPr>
          <p:cNvPr id="32" name="Text 24"/>
          <p:cNvSpPr txBox="1"/>
          <p:nvPr/>
        </p:nvSpPr>
        <p:spPr>
          <a:xfrm>
            <a:off x="8321040" y="4892040"/>
            <a:ext cx="3017520" cy="365760"/>
          </a:xfrm>
          <a:prstGeom prst="rect">
            <a:avLst/>
          </a:prstGeom>
          <a:noFill/>
          <a:ln/>
        </p:spPr>
        <p:txBody>
          <a:bodyPr wrap="square" lIns="0" tIns="0" rIns="0" bIns="0" rtlCol="0" anchor="ctr"/>
          <a:lstStyle/>
          <a:p>
            <a:pPr marL="0" indent="0">
              <a:buNone/>
            </a:pPr>
            <a:r>
              <a:rPr lang="en-US" sz="1500" b="1" dirty="0">
                <a:solidFill>
                  <a:srgbClr val="1B2430"/>
                </a:solidFill>
                <a:latin typeface="Calibri" pitchFamily="34" charset="0"/>
                <a:ea typeface="Calibri" pitchFamily="34" charset="-122"/>
                <a:cs typeface="Calibri" pitchFamily="34" charset="-120"/>
              </a:rPr>
              <a:t>Perilaku harga</a:t>
            </a:r>
            <a:endParaRPr lang="en-US" sz="1500" dirty="0"/>
          </a:p>
        </p:txBody>
      </p:sp>
      <p:sp>
        <p:nvSpPr>
          <p:cNvPr id="33" name="Text 25"/>
          <p:cNvSpPr txBox="1"/>
          <p:nvPr/>
        </p:nvSpPr>
        <p:spPr>
          <a:xfrm>
            <a:off x="8321040" y="5257800"/>
            <a:ext cx="3017520" cy="548640"/>
          </a:xfrm>
          <a:prstGeom prst="rect">
            <a:avLst/>
          </a:prstGeom>
          <a:noFill/>
          <a:ln/>
        </p:spPr>
        <p:txBody>
          <a:bodyPr wrap="square" lIns="0" tIns="0" rIns="0" bIns="0" rtlCol="0" anchor="t"/>
          <a:lstStyle/>
          <a:p>
            <a:pPr marL="0" indent="0">
              <a:buNone/>
            </a:pPr>
            <a:r>
              <a:rPr lang="en-US" sz="1150" dirty="0">
                <a:solidFill>
                  <a:srgbClr val="5F6B78"/>
                </a:solidFill>
                <a:latin typeface="Calibri" pitchFamily="34" charset="0"/>
                <a:ea typeface="Calibri" pitchFamily="34" charset="-122"/>
                <a:cs typeface="Calibri" pitchFamily="34" charset="-120"/>
              </a:rPr>
              <a:t>Harganya bergerak wajar atau liar?</a:t>
            </a:r>
            <a:endParaRPr lang="en-US" sz="1150" dirty="0"/>
          </a:p>
        </p:txBody>
      </p:sp>
      <p:sp>
        <p:nvSpPr>
          <p:cNvPr id="34" name="Text 26"/>
          <p:cNvSpPr txBox="1"/>
          <p:nvPr/>
        </p:nvSpPr>
        <p:spPr>
          <a:xfrm>
            <a:off x="548640" y="6172200"/>
            <a:ext cx="11064240" cy="411480"/>
          </a:xfrm>
          <a:prstGeom prst="rect">
            <a:avLst/>
          </a:prstGeom>
          <a:noFill/>
          <a:ln/>
        </p:spPr>
        <p:txBody>
          <a:bodyPr wrap="square" lIns="0" tIns="0" rIns="0" bIns="0" rtlCol="0" anchor="ctr"/>
          <a:lstStyle/>
          <a:p>
            <a:pPr marL="0" indent="0">
              <a:buNone/>
            </a:pPr>
            <a:r>
              <a:rPr lang="en-US" sz="1100" dirty="0" err="1">
                <a:solidFill>
                  <a:srgbClr val="5F6B78"/>
                </a:solidFill>
                <a:latin typeface="Calibri" pitchFamily="34" charset="0"/>
                <a:ea typeface="Calibri" pitchFamily="34" charset="-122"/>
                <a:cs typeface="Calibri" pitchFamily="34" charset="-120"/>
              </a:rPr>
              <a:t>Tiap</a:t>
            </a:r>
            <a:r>
              <a:rPr lang="en-US" sz="1100" dirty="0">
                <a:solidFill>
                  <a:srgbClr val="5F6B78"/>
                </a:solidFill>
                <a:latin typeface="Calibri" pitchFamily="34" charset="0"/>
                <a:ea typeface="Calibri" pitchFamily="34" charset="-122"/>
                <a:cs typeface="Calibri" pitchFamily="34" charset="-120"/>
              </a:rPr>
              <a:t> flag menyala atau mati. Skor pilar = bobot bendera yang menyala dibagi total bobot. Bobot berbeda per </a:t>
            </a:r>
            <a:r>
              <a:rPr lang="en-US" sz="1100" dirty="0" err="1">
                <a:solidFill>
                  <a:srgbClr val="5F6B78"/>
                </a:solidFill>
                <a:latin typeface="Calibri" pitchFamily="34" charset="0"/>
                <a:ea typeface="Calibri" pitchFamily="34" charset="-122"/>
                <a:cs typeface="Calibri" pitchFamily="34" charset="-120"/>
              </a:rPr>
              <a:t>sektor</a:t>
            </a:r>
            <a:r>
              <a:rPr lang="en-US" sz="1100" dirty="0">
                <a:solidFill>
                  <a:srgbClr val="5F6B78"/>
                </a:solidFill>
                <a:latin typeface="Calibri" pitchFamily="34" charset="0"/>
                <a:ea typeface="Calibri" pitchFamily="34" charset="-122"/>
                <a:cs typeface="Calibri" pitchFamily="34" charset="-120"/>
              </a:rPr>
              <a:t> </a:t>
            </a:r>
            <a:r>
              <a:rPr lang="en-US" sz="1100" dirty="0" err="1">
                <a:solidFill>
                  <a:srgbClr val="5F6B78"/>
                </a:solidFill>
                <a:latin typeface="Calibri" pitchFamily="34" charset="0"/>
                <a:ea typeface="Calibri" pitchFamily="34" charset="-122"/>
                <a:cs typeface="Calibri" pitchFamily="34" charset="-120"/>
              </a:rPr>
              <a:t>emiten</a:t>
            </a:r>
            <a:r>
              <a:rPr lang="en-US" sz="1100" dirty="0">
                <a:solidFill>
                  <a:srgbClr val="5F6B78"/>
                </a:solidFill>
                <a:latin typeface="Calibri" pitchFamily="34" charset="0"/>
                <a:ea typeface="Calibri" pitchFamily="34" charset="-122"/>
                <a:cs typeface="Calibri" pitchFamily="34" charset="-120"/>
              </a:rPr>
              <a:t>: bank tidak dinilai dengan ambang manufaktur.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1 — Ukuran dan likuiditas</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Seberapa mudah harga saham ini digerakkan segelintir pihak?</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Free float</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Persentase saham yang beredar bebas di publik, bukan dipegang pengendali. Makin kecil, makin mudah harga dimainkan.</a:t>
            </a:r>
            <a:endParaRPr lang="en-US" sz="1350" dirty="0"/>
          </a:p>
        </p:txBody>
      </p:sp>
      <p:sp>
        <p:nvSpPr>
          <p:cNvPr id="9" name="Text 7"/>
          <p:cNvSpPr txBox="1"/>
          <p:nvPr/>
        </p:nvSpPr>
        <p:spPr>
          <a:xfrm>
            <a:off x="5669280" y="2103120"/>
            <a:ext cx="2194560" cy="548640"/>
          </a:xfrm>
          <a:prstGeom prst="roundRect">
            <a:avLst>
              <a:gd name="adj" fmla="val 16667"/>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bawah 15% (Saham yang listing board </a:t>
            </a:r>
            <a:r>
              <a:rPr lang="en-US" sz="1050" b="1" dirty="0" err="1">
                <a:solidFill>
                  <a:srgbClr val="8E2F14"/>
                </a:solidFill>
                <a:latin typeface="Calibri" pitchFamily="34" charset="0"/>
                <a:ea typeface="Calibri" pitchFamily="34" charset="-122"/>
                <a:cs typeface="Calibri" pitchFamily="34" charset="-120"/>
              </a:rPr>
              <a:t>nya</a:t>
            </a:r>
            <a:r>
              <a:rPr lang="en-US" sz="1050" b="1" dirty="0">
                <a:solidFill>
                  <a:srgbClr val="8E2F14"/>
                </a:solidFill>
                <a:latin typeface="Calibri" pitchFamily="34" charset="0"/>
                <a:ea typeface="Calibri" pitchFamily="34" charset="-122"/>
                <a:cs typeface="Calibri" pitchFamily="34" charset="-120"/>
              </a:rPr>
              <a:t> </a:t>
            </a:r>
            <a:r>
              <a:rPr lang="en-US" sz="1050" b="1" dirty="0" err="1">
                <a:solidFill>
                  <a:srgbClr val="8E2F14"/>
                </a:solidFill>
                <a:latin typeface="Calibri" pitchFamily="34" charset="0"/>
                <a:ea typeface="Calibri" pitchFamily="34" charset="-122"/>
                <a:cs typeface="Calibri" pitchFamily="34" charset="-120"/>
              </a:rPr>
              <a:t>bukan</a:t>
            </a:r>
            <a:r>
              <a:rPr lang="en-US" sz="1050" b="1" dirty="0">
                <a:solidFill>
                  <a:srgbClr val="8E2F14"/>
                </a:solidFill>
                <a:latin typeface="Calibri" pitchFamily="34" charset="0"/>
                <a:ea typeface="Calibri" pitchFamily="34" charset="-122"/>
                <a:cs typeface="Calibri" pitchFamily="34" charset="-120"/>
              </a:rPr>
              <a:t> Main: 7,5%)</a:t>
            </a:r>
            <a:endParaRPr lang="en-US" sz="1050" dirty="0"/>
          </a:p>
        </p:txBody>
      </p:sp>
      <p:sp>
        <p:nvSpPr>
          <p:cNvPr id="10" name="Text 8"/>
          <p:cNvSpPr txBox="1"/>
          <p:nvPr/>
        </p:nvSpPr>
        <p:spPr>
          <a:xfrm>
            <a:off x="8229600" y="208483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Peraturan BEI No. I-A, berlaku 31 Mar 2026. Transisi bertahap sampai 2028–2029.</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market.bisnis.com › BEI resmi berlakukan free float 15%</a:t>
            </a:r>
            <a:endParaRPr lang="en-US" sz="1000" dirty="0"/>
          </a:p>
        </p:txBody>
      </p:sp>
      <p:sp>
        <p:nvSpPr>
          <p:cNvPr id="11" name="Shape 9"/>
          <p:cNvSpPr/>
          <p:nvPr/>
        </p:nvSpPr>
        <p:spPr>
          <a:xfrm>
            <a:off x="548640" y="2834640"/>
            <a:ext cx="11064240" cy="914"/>
          </a:xfrm>
          <a:prstGeom prst="line">
            <a:avLst/>
          </a:prstGeom>
          <a:noFill/>
          <a:ln w="15875">
            <a:solidFill>
              <a:srgbClr val="D5DAE0"/>
            </a:solidFill>
            <a:prstDash val="solid"/>
          </a:ln>
        </p:spPr>
      </p:sp>
      <p:sp>
        <p:nvSpPr>
          <p:cNvPr id="12" name="Text 10"/>
          <p:cNvSpPr txBox="1"/>
          <p:nvPr/>
        </p:nvSpPr>
        <p:spPr>
          <a:xfrm>
            <a:off x="548640" y="290779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Likuiditas harian</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Rata-rata nilai dan jumlah lembar yang diperdagangkan per hari selama 6 bulan.</a:t>
            </a:r>
            <a:endParaRPr lang="en-US" sz="1350" dirty="0"/>
          </a:p>
        </p:txBody>
      </p:sp>
      <p:sp>
        <p:nvSpPr>
          <p:cNvPr id="13" name="Text 11"/>
          <p:cNvSpPr txBox="1"/>
          <p:nvPr/>
        </p:nvSpPr>
        <p:spPr>
          <a:xfrm>
            <a:off x="5669280" y="2926080"/>
            <a:ext cx="2194560" cy="548640"/>
          </a:xfrm>
          <a:prstGeom prst="roundRect">
            <a:avLst>
              <a:gd name="adj" fmla="val 16667"/>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nilai &lt; Rp5 juta dan volume &lt; 10.000 saham per hari</a:t>
            </a:r>
            <a:endParaRPr lang="en-US" sz="1050" dirty="0"/>
          </a:p>
        </p:txBody>
      </p:sp>
      <p:sp>
        <p:nvSpPr>
          <p:cNvPr id="14" name="Text 12"/>
          <p:cNvSpPr txBox="1"/>
          <p:nvPr/>
        </p:nvSpPr>
        <p:spPr>
          <a:xfrm>
            <a:off x="8229600" y="290779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Peraturan BEI No. I-X, kriteria Papan Pemantauan Khusus.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4"/>
              </a:rPr>
              <a:t>idx.id › Peraturan I-X (PDF)</a:t>
            </a:r>
            <a:endParaRPr lang="en-US" sz="1000" dirty="0"/>
          </a:p>
        </p:txBody>
      </p:sp>
      <p:sp>
        <p:nvSpPr>
          <p:cNvPr id="15" name="Shape 13"/>
          <p:cNvSpPr/>
          <p:nvPr/>
        </p:nvSpPr>
        <p:spPr>
          <a:xfrm>
            <a:off x="548640" y="3657600"/>
            <a:ext cx="11064240" cy="914"/>
          </a:xfrm>
          <a:prstGeom prst="line">
            <a:avLst/>
          </a:prstGeom>
          <a:noFill/>
          <a:ln w="15875">
            <a:solidFill>
              <a:srgbClr val="D5DAE0"/>
            </a:solidFill>
            <a:prstDash val="solid"/>
          </a:ln>
        </p:spPr>
      </p:sp>
      <p:sp>
        <p:nvSpPr>
          <p:cNvPr id="16" name="Text 14"/>
          <p:cNvSpPr txBox="1"/>
          <p:nvPr/>
        </p:nvSpPr>
        <p:spPr>
          <a:xfrm>
            <a:off x="548640" y="373075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Harga saham sangat rendah</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Rata-rata harga penutupan 6 bulan terakhir. Saham receh cenderung jadi arena spekulasi.</a:t>
            </a:r>
            <a:endParaRPr lang="en-US" sz="1350" dirty="0"/>
          </a:p>
        </p:txBody>
      </p:sp>
      <p:sp>
        <p:nvSpPr>
          <p:cNvPr id="17" name="Text 15"/>
          <p:cNvSpPr txBox="1"/>
          <p:nvPr/>
        </p:nvSpPr>
        <p:spPr>
          <a:xfrm>
            <a:off x="5669280" y="3749040"/>
            <a:ext cx="2194560" cy="548640"/>
          </a:xfrm>
          <a:prstGeom prst="roundRect">
            <a:avLst>
              <a:gd name="adj" fmla="val 16667"/>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bawah Rp51</a:t>
            </a:r>
            <a:endParaRPr lang="en-US" sz="1050" dirty="0"/>
          </a:p>
        </p:txBody>
      </p:sp>
      <p:sp>
        <p:nvSpPr>
          <p:cNvPr id="18" name="Text 16"/>
          <p:cNvSpPr txBox="1"/>
          <p:nvPr/>
        </p:nvSpPr>
        <p:spPr>
          <a:xfrm>
            <a:off x="8229600" y="373075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Peraturan BEI No. I-X, kriteria Papan Pemantauan Khusus.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4"/>
              </a:rPr>
              <a:t>idx.id › Peraturan I-X (PDF)</a:t>
            </a:r>
            <a:endParaRPr lang="en-US" sz="1000" dirty="0"/>
          </a:p>
        </p:txBody>
      </p:sp>
      <p:sp>
        <p:nvSpPr>
          <p:cNvPr id="19" name="Shape 17"/>
          <p:cNvSpPr/>
          <p:nvPr/>
        </p:nvSpPr>
        <p:spPr>
          <a:xfrm>
            <a:off x="548640" y="4480560"/>
            <a:ext cx="11064240" cy="914"/>
          </a:xfrm>
          <a:prstGeom prst="line">
            <a:avLst/>
          </a:prstGeom>
          <a:noFill/>
          <a:ln w="15875">
            <a:solidFill>
              <a:srgbClr val="D5DAE0"/>
            </a:solidFill>
            <a:prstDash val="solid"/>
          </a:ln>
        </p:spPr>
      </p:sp>
      <p:sp>
        <p:nvSpPr>
          <p:cNvPr id="20" name="Text 18"/>
          <p:cNvSpPr txBox="1"/>
          <p:nvPr/>
        </p:nvSpPr>
        <p:spPr>
          <a:xfrm>
            <a:off x="548640" y="455371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Lonjakan volume</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Jumlah lembar yang berpindah tangan hari ini dibanding kebiasaan saham itu sendiri.</a:t>
            </a:r>
            <a:endParaRPr lang="en-US" sz="1350" dirty="0"/>
          </a:p>
        </p:txBody>
      </p:sp>
      <p:sp>
        <p:nvSpPr>
          <p:cNvPr id="21" name="Text 19"/>
          <p:cNvSpPr txBox="1"/>
          <p:nvPr/>
        </p:nvSpPr>
        <p:spPr>
          <a:xfrm>
            <a:off x="5669280" y="4572000"/>
            <a:ext cx="2194560" cy="548640"/>
          </a:xfrm>
          <a:prstGeom prst="roundRect">
            <a:avLst>
              <a:gd name="adj" fmla="val 16667"/>
            </a:avLst>
          </a:prstGeom>
          <a:solidFill>
            <a:srgbClr val="E3F2EC"/>
          </a:solidFill>
          <a:ln/>
        </p:spPr>
        <p:txBody>
          <a:bodyPr wrap="square" lIns="1016" tIns="1016" rIns="1016" bIns="1016" rtlCol="0" anchor="ctr"/>
          <a:lstStyle/>
          <a:p>
            <a:pPr marL="0" indent="0" algn="l">
              <a:buNone/>
            </a:pPr>
            <a:r>
              <a:rPr lang="en-US" sz="1050" b="1" dirty="0">
                <a:solidFill>
                  <a:srgbClr val="0F4A3B"/>
                </a:solidFill>
                <a:latin typeface="Calibri" pitchFamily="34" charset="0"/>
                <a:ea typeface="Calibri" pitchFamily="34" charset="-122"/>
                <a:cs typeface="Calibri" pitchFamily="34" charset="-120"/>
              </a:rPr>
              <a:t>di atas persentil 99 dari 90 hari terakhir</a:t>
            </a:r>
            <a:endParaRPr lang="en-US" sz="1050" dirty="0"/>
          </a:p>
        </p:txBody>
      </p:sp>
      <p:sp>
        <p:nvSpPr>
          <p:cNvPr id="22" name="Text 20"/>
          <p:cNvSpPr txBox="1"/>
          <p:nvPr/>
        </p:nvSpPr>
        <p:spPr>
          <a:xfrm>
            <a:off x="8229600" y="455371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Tidak ada ambang resmi. Diturunkan dari data: log(volume) lalu robust z-score berbasis MAD.</a:t>
            </a:r>
            <a:endParaRPr lang="en-US" sz="1000" dirty="0"/>
          </a:p>
        </p:txBody>
      </p:sp>
      <p:sp>
        <p:nvSpPr>
          <p:cNvPr id="23" name="Shape 21"/>
          <p:cNvSpPr/>
          <p:nvPr/>
        </p:nvSpPr>
        <p:spPr>
          <a:xfrm>
            <a:off x="548640" y="5303520"/>
            <a:ext cx="11064240" cy="914"/>
          </a:xfrm>
          <a:prstGeom prst="line">
            <a:avLst/>
          </a:prstGeom>
          <a:noFill/>
          <a:ln w="15875">
            <a:solidFill>
              <a:srgbClr val="D5DAE0"/>
            </a:solidFill>
            <a:prstDash val="solid"/>
          </a:ln>
        </p:spPr>
      </p:sp>
      <p:sp>
        <p:nvSpPr>
          <p:cNvPr id="24" name="Text 22"/>
          <p:cNvSpPr txBox="1"/>
          <p:nvPr/>
        </p:nvSpPr>
        <p:spPr>
          <a:xfrm>
            <a:off x="548640" y="537667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Konsentrasi broker</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Seberapa besar pembelian hari ini menumpuk di satu broker sekuritas.</a:t>
            </a:r>
            <a:endParaRPr lang="en-US" sz="1350" dirty="0"/>
          </a:p>
        </p:txBody>
      </p:sp>
      <p:sp>
        <p:nvSpPr>
          <p:cNvPr id="25" name="Text 23"/>
          <p:cNvSpPr txBox="1"/>
          <p:nvPr/>
        </p:nvSpPr>
        <p:spPr>
          <a:xfrm>
            <a:off x="5669280" y="5394960"/>
            <a:ext cx="2194560" cy="548640"/>
          </a:xfrm>
          <a:prstGeom prst="roundRect">
            <a:avLst>
              <a:gd name="adj" fmla="val 16667"/>
            </a:avLst>
          </a:prstGeom>
          <a:solidFill>
            <a:srgbClr val="E3F2EC"/>
          </a:solidFill>
          <a:ln/>
        </p:spPr>
        <p:txBody>
          <a:bodyPr wrap="square" lIns="1016" tIns="1016" rIns="1016" bIns="1016" rtlCol="0" anchor="ctr"/>
          <a:lstStyle/>
          <a:p>
            <a:pPr marL="0" indent="0" algn="l">
              <a:buNone/>
            </a:pPr>
            <a:r>
              <a:rPr lang="en-US" sz="1050" b="1" dirty="0">
                <a:solidFill>
                  <a:srgbClr val="0F4A3B"/>
                </a:solidFill>
                <a:latin typeface="Calibri" pitchFamily="34" charset="0"/>
                <a:ea typeface="Calibri" pitchFamily="34" charset="-122"/>
                <a:cs typeface="Calibri" pitchFamily="34" charset="-120"/>
              </a:rPr>
              <a:t>di atas persentil 99 dari riwayat saham itu</a:t>
            </a:r>
            <a:endParaRPr lang="en-US" sz="1050" dirty="0"/>
          </a:p>
        </p:txBody>
      </p:sp>
      <p:sp>
        <p:nvSpPr>
          <p:cNvPr id="26" name="Text 24"/>
          <p:cNvSpPr txBox="1"/>
          <p:nvPr/>
        </p:nvSpPr>
        <p:spPr>
          <a:xfrm>
            <a:off x="8229600" y="537667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Tidak ada ambang resmi. HHI dari hukum persaingan usaha (KPPU: 1.800) hanya dipakai sebagai analogi.</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5"/>
              </a:rPr>
              <a:t>kppu.go.id › Pedoman Merger (PDF)</a:t>
            </a:r>
            <a:endParaRPr lang="en-US" sz="1000" dirty="0"/>
          </a:p>
        </p:txBody>
      </p:sp>
      <p:sp>
        <p:nvSpPr>
          <p:cNvPr id="27" name="Shape 25"/>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8" name="Text 26"/>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9" name="Shape 27"/>
          <p:cNvSpPr/>
          <p:nvPr/>
        </p:nvSpPr>
        <p:spPr>
          <a:xfrm>
            <a:off x="3840480" y="6373368"/>
            <a:ext cx="274320" cy="164592"/>
          </a:xfrm>
          <a:prstGeom prst="roundRect">
            <a:avLst>
              <a:gd name="adj" fmla="val 27778"/>
            </a:avLst>
          </a:prstGeom>
          <a:solidFill>
            <a:srgbClr val="E3F2EC"/>
          </a:solidFill>
          <a:ln w="12700">
            <a:solidFill>
              <a:srgbClr val="E3F2EC"/>
            </a:solidFill>
            <a:prstDash val="solid"/>
          </a:ln>
        </p:spPr>
      </p:sp>
      <p:sp>
        <p:nvSpPr>
          <p:cNvPr id="30" name="Text 28"/>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pic>
        <p:nvPicPr>
          <p:cNvPr id="32" name="Picture 31">
            <a:extLst>
              <a:ext uri="{FF2B5EF4-FFF2-40B4-BE49-F238E27FC236}">
                <a16:creationId xmlns:a16="http://schemas.microsoft.com/office/drawing/2014/main" id="{64219F5C-B6C1-D0E1-06BF-C33E194C3307}"/>
              </a:ext>
            </a:extLst>
          </p:cNvPr>
          <p:cNvPicPr>
            <a:picLocks noChangeAspect="1"/>
          </p:cNvPicPr>
          <p:nvPr/>
        </p:nvPicPr>
        <p:blipFill>
          <a:blip r:embed="rId6"/>
          <a:stretch>
            <a:fillRect/>
          </a:stretch>
        </p:blipFill>
        <p:spPr>
          <a:xfrm>
            <a:off x="8188619" y="3200400"/>
            <a:ext cx="2631118" cy="411990"/>
          </a:xfrm>
          <a:prstGeom prst="rect">
            <a:avLst/>
          </a:prstGeom>
        </p:spPr>
      </p:pic>
      <p:pic>
        <p:nvPicPr>
          <p:cNvPr id="33" name="Picture 32">
            <a:extLst>
              <a:ext uri="{FF2B5EF4-FFF2-40B4-BE49-F238E27FC236}">
                <a16:creationId xmlns:a16="http://schemas.microsoft.com/office/drawing/2014/main" id="{66A8BD31-DFFD-37BA-BAF6-1DBEDF18D360}"/>
              </a:ext>
            </a:extLst>
          </p:cNvPr>
          <p:cNvPicPr>
            <a:picLocks noChangeAspect="1"/>
          </p:cNvPicPr>
          <p:nvPr/>
        </p:nvPicPr>
        <p:blipFill>
          <a:blip r:embed="rId7"/>
          <a:stretch>
            <a:fillRect/>
          </a:stretch>
        </p:blipFill>
        <p:spPr>
          <a:xfrm>
            <a:off x="8229600" y="4089975"/>
            <a:ext cx="3124200" cy="215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1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Ukuran dan likuiditas</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sp>
      <p:sp>
        <p:nvSpPr>
          <p:cNvPr id="9" name="Text 7"/>
          <p:cNvSpPr txBox="1"/>
          <p:nvPr/>
        </p:nvSpPr>
        <p:spPr>
          <a:xfrm>
            <a:off x="548640" y="2084832"/>
            <a:ext cx="1783080" cy="9281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Free float</a:t>
            </a:r>
            <a:endParaRPr lang="en-US" sz="1200" dirty="0"/>
          </a:p>
        </p:txBody>
      </p:sp>
      <p:sp>
        <p:nvSpPr>
          <p:cNvPr id="10" name="Text 8"/>
          <p:cNvSpPr txBox="1"/>
          <p:nvPr/>
        </p:nvSpPr>
        <p:spPr>
          <a:xfrm>
            <a:off x="2606040" y="2084832"/>
            <a:ext cx="2606040" cy="9281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?sections=ownership</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a:t>
            </a:r>
            <a:endParaRPr lang="en-US" sz="850" dirty="0"/>
          </a:p>
        </p:txBody>
      </p:sp>
      <p:sp>
        <p:nvSpPr>
          <p:cNvPr id="11" name="Text 9"/>
          <p:cNvSpPr txBox="1"/>
          <p:nvPr/>
        </p:nvSpPr>
        <p:spPr>
          <a:xfrm>
            <a:off x="5486400" y="2084832"/>
            <a:ext cx="2011680" cy="928116"/>
          </a:xfrm>
          <a:prstGeom prst="rect">
            <a:avLst/>
          </a:prstGeom>
          <a:noFill/>
          <a:ln/>
        </p:spPr>
        <p:txBody>
          <a:bodyPr wrap="square" lIns="0" tIns="0" rIns="0" bIns="0" rtlCol="0" anchor="t"/>
          <a:lstStyle/>
          <a:p>
            <a:pPr marL="0" indent="0">
              <a:buNone/>
            </a:pPr>
            <a:r>
              <a:rPr lang="en-US" sz="850" dirty="0" err="1">
                <a:solidFill>
                  <a:srgbClr val="0F4A3B"/>
                </a:solidFill>
                <a:latin typeface="Courier New" pitchFamily="34" charset="0"/>
                <a:ea typeface="Courier New" pitchFamily="34" charset="-122"/>
                <a:cs typeface="Courier New" pitchFamily="34" charset="-120"/>
              </a:rPr>
              <a:t>ownership.major_shareholders</a:t>
            </a:r>
            <a:r>
              <a:rPr lang="en-US" sz="850" dirty="0">
                <a:solidFill>
                  <a:srgbClr val="0F4A3B"/>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  .name == "Public"</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  .</a:t>
            </a:r>
            <a:r>
              <a:rPr lang="en-US" sz="850" dirty="0" err="1">
                <a:solidFill>
                  <a:srgbClr val="0F4A3B"/>
                </a:solidFill>
                <a:latin typeface="Courier New" pitchFamily="34" charset="0"/>
                <a:ea typeface="Courier New" pitchFamily="34" charset="-122"/>
                <a:cs typeface="Courier New" pitchFamily="34" charset="-120"/>
              </a:rPr>
              <a:t>share_percentage</a:t>
            </a:r>
            <a:endParaRPr lang="en-US" sz="850" dirty="0">
              <a:solidFill>
                <a:srgbClr val="0F4A3B"/>
              </a:solidFill>
              <a:latin typeface="Courier New" pitchFamily="34" charset="0"/>
              <a:ea typeface="Courier New" pitchFamily="34" charset="-122"/>
              <a:cs typeface="Courier New" pitchFamily="34" charset="-120"/>
            </a:endParaRPr>
          </a:p>
          <a:p>
            <a:pPr marL="0" indent="0">
              <a:buNone/>
            </a:pPr>
            <a:endParaRPr lang="en-US" sz="850" dirty="0">
              <a:solidFill>
                <a:srgbClr val="0F4A3B"/>
              </a:solidFill>
              <a:latin typeface="Courier New" pitchFamily="34" charset="0"/>
              <a:ea typeface="Courier New" pitchFamily="34" charset="-122"/>
              <a:cs typeface="Courier New" pitchFamily="34" charset="-120"/>
            </a:endParaRPr>
          </a:p>
          <a:p>
            <a:r>
              <a:rPr lang="en-ID" sz="850" dirty="0">
                <a:solidFill>
                  <a:srgbClr val="0F4A3B"/>
                </a:solidFill>
                <a:latin typeface="Courier New" pitchFamily="34" charset="0"/>
                <a:cs typeface="Courier New" pitchFamily="34" charset="-120"/>
              </a:rPr>
              <a:t>"overview": { "</a:t>
            </a:r>
            <a:r>
              <a:rPr lang="en-ID" sz="850" dirty="0" err="1">
                <a:solidFill>
                  <a:srgbClr val="0F4A3B"/>
                </a:solidFill>
                <a:latin typeface="Courier New" pitchFamily="34" charset="0"/>
                <a:cs typeface="Courier New" pitchFamily="34" charset="-120"/>
              </a:rPr>
              <a:t>listing_board</a:t>
            </a:r>
            <a:r>
              <a:rPr lang="en-ID" sz="850" dirty="0">
                <a:solidFill>
                  <a:srgbClr val="0F4A3B"/>
                </a:solidFill>
                <a:latin typeface="Courier New" pitchFamily="34" charset="0"/>
                <a:cs typeface="Courier New" pitchFamily="34" charset="-120"/>
              </a:rPr>
              <a:t>": "Main",}</a:t>
            </a:r>
            <a:endParaRPr lang="en-US" sz="850" dirty="0">
              <a:solidFill>
                <a:srgbClr val="0F4A3B"/>
              </a:solidFill>
              <a:latin typeface="Courier New" pitchFamily="34" charset="0"/>
              <a:cs typeface="Courier New" pitchFamily="34" charset="-120"/>
            </a:endParaRPr>
          </a:p>
          <a:p>
            <a:pPr marL="0" indent="0">
              <a:buNone/>
            </a:pPr>
            <a:endParaRPr lang="en-US" sz="850" dirty="0">
              <a:solidFill>
                <a:srgbClr val="0F4A3B"/>
              </a:solidFill>
              <a:latin typeface="Courier New" pitchFamily="34" charset="0"/>
              <a:ea typeface="Courier New" pitchFamily="34" charset="-122"/>
              <a:cs typeface="Courier New" pitchFamily="34" charset="-120"/>
            </a:endParaRPr>
          </a:p>
        </p:txBody>
      </p:sp>
      <p:sp>
        <p:nvSpPr>
          <p:cNvPr id="12" name="Text 10"/>
          <p:cNvSpPr txBox="1"/>
          <p:nvPr/>
        </p:nvSpPr>
        <p:spPr>
          <a:xfrm>
            <a:off x="7772400" y="208483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sz="850" b="0">
                <a:solidFill>
                  <a:srgbClr val="1B2430"/>
                </a:solidFill>
                <a:latin typeface="Courier New"/>
              </a:rPr>
              <a:t>"major_shareholders": [</a:t>
            </a:r>
            <a:endParaRPr lang="en-US" sz="750" dirty="0"/>
          </a:p>
          <a:p>
            <a:r>
              <a:rPr sz="850" b="0">
                <a:solidFill>
                  <a:srgbClr val="1B2430"/>
                </a:solidFill>
                <a:latin typeface="Courier New"/>
              </a:rPr>
              <a:t>  {"name": "Public",</a:t>
            </a:r>
          </a:p>
          <a:p>
            <a:r>
              <a:rPr sz="850" b="0">
                <a:solidFill>
                  <a:srgbClr val="1B2430"/>
                </a:solidFill>
                <a:highlight>
                  <a:srgbClr val="FFFF00"/>
                </a:highlight>
                <a:latin typeface="Courier New"/>
              </a:rPr>
              <a:t>   "share_percentage": "0.35"}]</a:t>
            </a:r>
          </a:p>
          <a:p>
            <a:r>
              <a:rPr sz="850" b="0">
                <a:solidFill>
                  <a:srgbClr val="1B2430"/>
                </a:solidFill>
                <a:highlight>
                  <a:srgbClr val="FFFF00"/>
                </a:highlight>
                <a:latin typeface="Courier New"/>
              </a:rPr>
              <a:t>// nilainya STRING, wajib di-parse</a:t>
            </a:r>
          </a:p>
        </p:txBody>
      </p:sp>
      <p:sp>
        <p:nvSpPr>
          <p:cNvPr id="13" name="Shape 11"/>
          <p:cNvSpPr/>
          <p:nvPr/>
        </p:nvSpPr>
        <p:spPr>
          <a:xfrm>
            <a:off x="548640" y="3086100"/>
            <a:ext cx="11064240" cy="914"/>
          </a:xfrm>
          <a:prstGeom prst="line">
            <a:avLst/>
          </a:prstGeom>
          <a:noFill/>
          <a:ln w="15875">
            <a:solidFill>
              <a:srgbClr val="D5DAE0"/>
            </a:solidFill>
            <a:prstDash val="solid"/>
          </a:ln>
        </p:spPr>
      </p:sp>
      <p:sp>
        <p:nvSpPr>
          <p:cNvPr id="14" name="Text 12"/>
          <p:cNvSpPr txBox="1"/>
          <p:nvPr/>
        </p:nvSpPr>
        <p:spPr>
          <a:xfrm>
            <a:off x="548640" y="3159252"/>
            <a:ext cx="1783080" cy="9281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Likuiditas harian dan harga rendah</a:t>
            </a:r>
            <a:endParaRPr lang="en-US" sz="1200" dirty="0"/>
          </a:p>
        </p:txBody>
      </p:sp>
      <p:sp>
        <p:nvSpPr>
          <p:cNvPr id="15" name="Text 13"/>
          <p:cNvSpPr txBox="1"/>
          <p:nvPr/>
        </p:nvSpPr>
        <p:spPr>
          <a:xfrm>
            <a:off x="2606040" y="3159252"/>
            <a:ext cx="2606040" cy="928116"/>
          </a:xfrm>
          <a:prstGeom prst="rect">
            <a:avLst/>
          </a:prstGeom>
          <a:noFill/>
          <a:ln/>
        </p:spPr>
        <p:txBody>
          <a:bodyPr wrap="square" lIns="0" tIns="0" rIns="0" bIns="0" rtlCol="0" anchor="t"/>
          <a:lstStyle/>
          <a:p>
            <a:pPr marL="0" indent="0">
              <a:buNone/>
            </a:pPr>
            <a:r>
              <a:rPr sz="850" b="0">
                <a:solidFill>
                  <a:srgbClr val="1B2430"/>
                </a:solidFill>
                <a:latin typeface="Courier New"/>
              </a:rPr>
              <a:t>GET /v2/daily/{symbol}/</a:t>
            </a:r>
            <a:endParaRPr lang="en-US" sz="850" dirty="0"/>
          </a:p>
          <a:p>
            <a:r>
              <a:rPr sz="850" b="0">
                <a:solidFill>
                  <a:srgbClr val="1B2430"/>
                </a:solidFill>
                <a:latin typeface="Courier New"/>
              </a:rPr>
              <a:t>    ?start=&amp;end=</a:t>
            </a:r>
          </a:p>
          <a:p>
            <a:r>
              <a:rPr sz="900" b="0">
                <a:solidFill>
                  <a:srgbClr val="5F6B78"/>
                </a:solidFill>
                <a:highlight>
                  <a:srgbClr val="FFFF00"/>
                </a:highlight>
                <a:latin typeface="Calibri"/>
              </a:rPr>
              <a:t>1 kredit. Maks 90 hari KALENDER → 63 baris bursa.</a:t>
            </a:r>
          </a:p>
          <a:p>
            <a:r>
              <a:rPr sz="900" b="0">
                <a:solidFill>
                  <a:srgbClr val="5F6B78"/>
                </a:solidFill>
                <a:highlight>
                  <a:srgbClr val="FFFF00"/>
                </a:highlight>
                <a:latin typeface="Calibri"/>
              </a:rPr>
              <a:t>Rentang lebih panjang dipotong diam-diam.</a:t>
            </a:r>
          </a:p>
          <a:p>
            <a:r>
              <a:rPr sz="900" b="0">
                <a:solidFill>
                  <a:srgbClr val="5F6B78"/>
                </a:solidFill>
                <a:highlight>
                  <a:srgbClr val="FFFF00"/>
                </a:highlight>
                <a:latin typeface="Calibri"/>
              </a:rPr>
              <a:t>Likuiditas 6 bulan: 2–3 panggilan backfill.</a:t>
            </a:r>
          </a:p>
        </p:txBody>
      </p:sp>
      <p:sp>
        <p:nvSpPr>
          <p:cNvPr id="16" name="Text 14"/>
          <p:cNvSpPr txBox="1"/>
          <p:nvPr/>
        </p:nvSpPr>
        <p:spPr>
          <a:xfrm>
            <a:off x="5486400" y="3159252"/>
            <a:ext cx="2011680" cy="9281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[].date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[].close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[].volume</a:t>
            </a:r>
            <a:endParaRPr lang="en-US" sz="850" dirty="0"/>
          </a:p>
        </p:txBody>
      </p:sp>
      <p:sp>
        <p:nvSpPr>
          <p:cNvPr id="17" name="Text 15"/>
          <p:cNvSpPr txBox="1"/>
          <p:nvPr/>
        </p:nvSpPr>
        <p:spPr>
          <a:xfrm>
            <a:off x="7772400" y="315925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[{"symbol": "ANTM.JK",</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"date": "2026-09-15",</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"close": 1800, "volume": 92219000}]</a:t>
            </a:r>
            <a:endParaRPr lang="en-US" sz="750" dirty="0"/>
          </a:p>
        </p:txBody>
      </p:sp>
      <p:sp>
        <p:nvSpPr>
          <p:cNvPr id="18" name="Shape 16"/>
          <p:cNvSpPr/>
          <p:nvPr/>
        </p:nvSpPr>
        <p:spPr>
          <a:xfrm>
            <a:off x="548640" y="4160520"/>
            <a:ext cx="11064240" cy="914"/>
          </a:xfrm>
          <a:prstGeom prst="line">
            <a:avLst/>
          </a:prstGeom>
          <a:noFill/>
          <a:ln w="15875">
            <a:solidFill>
              <a:srgbClr val="D5DAE0"/>
            </a:solidFill>
            <a:prstDash val="solid"/>
          </a:ln>
        </p:spPr>
      </p:sp>
      <p:sp>
        <p:nvSpPr>
          <p:cNvPr id="19" name="Text 17"/>
          <p:cNvSpPr txBox="1"/>
          <p:nvPr/>
        </p:nvSpPr>
        <p:spPr>
          <a:xfrm>
            <a:off x="548640" y="4233672"/>
            <a:ext cx="1783080" cy="9281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Lonjakan volume</a:t>
            </a:r>
            <a:endParaRPr lang="en-US" sz="1200" dirty="0"/>
          </a:p>
        </p:txBody>
      </p:sp>
      <p:sp>
        <p:nvSpPr>
          <p:cNvPr id="20" name="Text 18"/>
          <p:cNvSpPr txBox="1"/>
          <p:nvPr/>
        </p:nvSpPr>
        <p:spPr>
          <a:xfrm>
            <a:off x="2606040" y="4233672"/>
            <a:ext cx="2606040" cy="9281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/v2/daily/{symbol}/  (sama)</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reuse, 0 kredit tambahan</a:t>
            </a:r>
            <a:endParaRPr lang="en-US" sz="850" dirty="0"/>
          </a:p>
        </p:txBody>
      </p:sp>
      <p:sp>
        <p:nvSpPr>
          <p:cNvPr id="21" name="Text 19"/>
          <p:cNvSpPr txBox="1"/>
          <p:nvPr/>
        </p:nvSpPr>
        <p:spPr>
          <a:xfrm>
            <a:off x="5486400" y="4233672"/>
            <a:ext cx="2011680" cy="928116"/>
          </a:xfrm>
          <a:prstGeom prst="rect">
            <a:avLst/>
          </a:prstGeom>
          <a:noFill/>
          <a:ln/>
        </p:spPr>
        <p:txBody>
          <a:bodyPr wrap="square" lIns="0" tIns="0" rIns="0" bIns="0" rtlCol="0" anchor="t"/>
          <a:lstStyle/>
          <a:p>
            <a:pPr marL="0" indent="0">
              <a:buNone/>
            </a:pPr>
            <a:r>
              <a:rPr sz="850" b="0">
                <a:solidFill>
                  <a:srgbClr val="0F4A3B"/>
                </a:solidFill>
                <a:latin typeface="Courier New"/>
              </a:rPr>
              <a:t>[].volume  → 90 hari</a:t>
            </a:r>
            <a:endParaRPr lang="en-US" sz="850" dirty="0"/>
          </a:p>
          <a:p>
            <a:r>
              <a:rPr sz="850" b="0">
                <a:solidFill>
                  <a:srgbClr val="0F4A3B"/>
                </a:solidFill>
                <a:highlight>
                  <a:srgbClr val="FFFF00"/>
                </a:highlight>
                <a:latin typeface="Courier New"/>
              </a:rPr>
              <a:t>persentil 95 deret saham itu</a:t>
            </a:r>
          </a:p>
        </p:txBody>
      </p:sp>
      <p:sp>
        <p:nvSpPr>
          <p:cNvPr id="22" name="Text 20"/>
          <p:cNvSpPr txBox="1"/>
          <p:nvPr/>
        </p:nvSpPr>
        <p:spPr>
          <a:xfrm>
            <a:off x="7772400" y="423367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sz="850" b="0">
                <a:solidFill>
                  <a:srgbClr val="1B2430"/>
                </a:solidFill>
                <a:latin typeface="Courier New"/>
              </a:rPr>
              <a:t>// dihitung di kode</a:t>
            </a:r>
            <a:endParaRPr lang="en-US" sz="750" dirty="0"/>
          </a:p>
          <a:p>
            <a:r>
              <a:rPr sz="850" b="0">
                <a:solidFill>
                  <a:srgbClr val="1B2430"/>
                </a:solidFill>
                <a:highlight>
                  <a:srgbClr val="FFFF00"/>
                </a:highlight>
                <a:latin typeface="Courier New"/>
              </a:rPr>
              <a:t>ambang = percentile(volume_90d, 95)</a:t>
            </a:r>
          </a:p>
          <a:p>
            <a:r>
              <a:rPr sz="850" b="0">
                <a:solidFill>
                  <a:srgbClr val="1B2430"/>
                </a:solidFill>
                <a:highlight>
                  <a:srgbClr val="FFFF00"/>
                </a:highlight>
                <a:latin typeface="Courier New"/>
              </a:rPr>
              <a:t>// ANTM: p95 171 jt, p99 225 jt</a:t>
            </a:r>
          </a:p>
          <a:p>
            <a:r>
              <a:rPr sz="850" b="0">
                <a:solidFill>
                  <a:srgbClr val="1B2430"/>
                </a:solidFill>
                <a:highlight>
                  <a:srgbClr val="FFFF00"/>
                </a:highlight>
                <a:latin typeface="Courier New"/>
              </a:rPr>
              <a:t>// p99 cuma 1 dari 63 hari, terlalu ketat</a:t>
            </a:r>
          </a:p>
        </p:txBody>
      </p:sp>
      <p:sp>
        <p:nvSpPr>
          <p:cNvPr id="23" name="Shape 21"/>
          <p:cNvSpPr/>
          <p:nvPr/>
        </p:nvSpPr>
        <p:spPr>
          <a:xfrm>
            <a:off x="548640" y="5234940"/>
            <a:ext cx="11064240" cy="914"/>
          </a:xfrm>
          <a:prstGeom prst="line">
            <a:avLst/>
          </a:prstGeom>
          <a:noFill/>
          <a:ln w="15875">
            <a:solidFill>
              <a:srgbClr val="D5DAE0"/>
            </a:solidFill>
            <a:prstDash val="solid"/>
          </a:ln>
        </p:spPr>
      </p:sp>
      <p:sp>
        <p:nvSpPr>
          <p:cNvPr id="24" name="Text 22"/>
          <p:cNvSpPr txBox="1"/>
          <p:nvPr/>
        </p:nvSpPr>
        <p:spPr>
          <a:xfrm>
            <a:off x="548640" y="5308092"/>
            <a:ext cx="1783080" cy="9281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Konsentrasi broker</a:t>
            </a:r>
            <a:endParaRPr lang="en-US" sz="1200" dirty="0"/>
          </a:p>
        </p:txBody>
      </p:sp>
      <p:sp>
        <p:nvSpPr>
          <p:cNvPr id="25" name="Text 23"/>
          <p:cNvSpPr txBox="1"/>
          <p:nvPr/>
        </p:nvSpPr>
        <p:spPr>
          <a:xfrm>
            <a:off x="2606040" y="5308092"/>
            <a:ext cx="2606040" cy="9281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/v2/broker-summary/{symbol}/top/</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?start=&amp;end=&amp;n_brokers=10</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2 kredit</a:t>
            </a:r>
            <a:endParaRPr lang="en-US" sz="850" dirty="0"/>
          </a:p>
        </p:txBody>
      </p:sp>
      <p:sp>
        <p:nvSpPr>
          <p:cNvPr id="26" name="Text 24"/>
          <p:cNvSpPr txBox="1"/>
          <p:nvPr/>
        </p:nvSpPr>
        <p:spPr>
          <a:xfrm>
            <a:off x="5486400" y="5308092"/>
            <a:ext cx="2011680" cy="9281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top_buyers[].broker_code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top_buyers[].buy_idr</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top_buyers[].net_idr</a:t>
            </a:r>
            <a:endParaRPr lang="en-US" sz="850" dirty="0"/>
          </a:p>
        </p:txBody>
      </p:sp>
      <p:sp>
        <p:nvSpPr>
          <p:cNvPr id="27" name="Text 25"/>
          <p:cNvSpPr txBox="1"/>
          <p:nvPr/>
        </p:nvSpPr>
        <p:spPr>
          <a:xfrm>
            <a:off x="7772400" y="530809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"top_buyers": [</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{"rank": 1, "broker_code": "KZ",</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"buy_idr": 1163325432500,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"net_idr": 645536242500}]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2 — Kesehatan keuangan (non-bank)</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Perusahaannya untung, punya kas, dan utangnya wajar?</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7909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Ekuitas negatif</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Total utang lebih besar dari total aset; modal pemilik sudah habis.</a:t>
            </a:r>
            <a:endParaRPr lang="en-US" sz="1350" dirty="0"/>
          </a:p>
        </p:txBody>
      </p:sp>
      <p:sp>
        <p:nvSpPr>
          <p:cNvPr id="9" name="Text 7"/>
          <p:cNvSpPr txBox="1"/>
          <p:nvPr/>
        </p:nvSpPr>
        <p:spPr>
          <a:xfrm>
            <a:off x="5669280" y="21031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ekuitas di bawah 0</a:t>
            </a:r>
            <a:endParaRPr lang="en-US" sz="1050" dirty="0"/>
          </a:p>
        </p:txBody>
      </p:sp>
      <p:sp>
        <p:nvSpPr>
          <p:cNvPr id="10" name="Text 8"/>
          <p:cNvSpPr txBox="1"/>
          <p:nvPr/>
        </p:nvSpPr>
        <p:spPr>
          <a:xfrm>
            <a:off x="8229600" y="2084832"/>
            <a:ext cx="3383280" cy="7909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Notasi khusus E dan kriteria Papan Pemantauan Khusus, Peraturan BEI No. I-X.</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idx.id › Peraturan I-X (PDF)</a:t>
            </a:r>
            <a:endParaRPr lang="en-US" sz="1000" dirty="0"/>
          </a:p>
        </p:txBody>
      </p:sp>
      <p:sp>
        <p:nvSpPr>
          <p:cNvPr id="11" name="Shape 9"/>
          <p:cNvSpPr/>
          <p:nvPr/>
        </p:nvSpPr>
        <p:spPr>
          <a:xfrm>
            <a:off x="548640" y="2948940"/>
            <a:ext cx="11064240" cy="914"/>
          </a:xfrm>
          <a:prstGeom prst="line">
            <a:avLst/>
          </a:prstGeom>
          <a:noFill/>
          <a:ln w="15875">
            <a:solidFill>
              <a:srgbClr val="D5DAE0"/>
            </a:solidFill>
            <a:prstDash val="solid"/>
          </a:ln>
        </p:spPr>
      </p:sp>
      <p:sp>
        <p:nvSpPr>
          <p:cNvPr id="12" name="Text 10"/>
          <p:cNvSpPr txBox="1"/>
          <p:nvPr/>
        </p:nvSpPr>
        <p:spPr>
          <a:xfrm>
            <a:off x="548640" y="3022092"/>
            <a:ext cx="4754880" cy="7909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Tanpa pendapatan usaha</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Laporan keuangan terakhir tidak mencatat pendapatan dari bisnis intinya.</a:t>
            </a:r>
            <a:endParaRPr lang="en-US" sz="1350" dirty="0"/>
          </a:p>
        </p:txBody>
      </p:sp>
      <p:sp>
        <p:nvSpPr>
          <p:cNvPr id="13" name="Text 11"/>
          <p:cNvSpPr txBox="1"/>
          <p:nvPr/>
        </p:nvSpPr>
        <p:spPr>
          <a:xfrm>
            <a:off x="5669280" y="304038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pendapatan usaha = 0</a:t>
            </a:r>
            <a:endParaRPr lang="en-US" sz="1050" dirty="0"/>
          </a:p>
        </p:txBody>
      </p:sp>
      <p:sp>
        <p:nvSpPr>
          <p:cNvPr id="14" name="Text 12"/>
          <p:cNvSpPr txBox="1"/>
          <p:nvPr/>
        </p:nvSpPr>
        <p:spPr>
          <a:xfrm>
            <a:off x="8229600" y="3022092"/>
            <a:ext cx="3383280" cy="7909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Notasi khusus S dan kriteria Papan Pemantauan Khusus, Peraturan BEI No. I-X.</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idx.id › Peraturan I-X (PDF)</a:t>
            </a:r>
            <a:endParaRPr lang="en-US" sz="1000" dirty="0"/>
          </a:p>
        </p:txBody>
      </p:sp>
      <p:sp>
        <p:nvSpPr>
          <p:cNvPr id="15" name="Shape 13"/>
          <p:cNvSpPr/>
          <p:nvPr/>
        </p:nvSpPr>
        <p:spPr>
          <a:xfrm>
            <a:off x="548640" y="3886200"/>
            <a:ext cx="11064240" cy="914"/>
          </a:xfrm>
          <a:prstGeom prst="line">
            <a:avLst/>
          </a:prstGeom>
          <a:noFill/>
          <a:ln w="15875">
            <a:solidFill>
              <a:srgbClr val="D5DAE0"/>
            </a:solidFill>
            <a:prstDash val="solid"/>
          </a:ln>
        </p:spPr>
      </p:sp>
      <p:sp>
        <p:nvSpPr>
          <p:cNvPr id="16" name="Text 14"/>
          <p:cNvSpPr txBox="1"/>
          <p:nvPr/>
        </p:nvSpPr>
        <p:spPr>
          <a:xfrm>
            <a:off x="548640" y="3959352"/>
            <a:ext cx="4754880" cy="7909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Altman Z''-Score</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Rumus </a:t>
            </a:r>
            <a:r>
              <a:rPr lang="en-US" sz="1050" dirty="0" err="1">
                <a:solidFill>
                  <a:srgbClr val="5F6B78"/>
                </a:solidFill>
                <a:latin typeface="Calibri" pitchFamily="34" charset="0"/>
                <a:ea typeface="Calibri" pitchFamily="34" charset="-122"/>
                <a:cs typeface="Calibri" pitchFamily="34" charset="-120"/>
              </a:rPr>
              <a:t>prediksi</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kebangkrutan</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dalam</a:t>
            </a:r>
            <a:r>
              <a:rPr lang="en-US" sz="1050" dirty="0">
                <a:solidFill>
                  <a:srgbClr val="5F6B78"/>
                </a:solidFill>
                <a:latin typeface="Calibri" pitchFamily="34" charset="0"/>
                <a:ea typeface="Calibri" pitchFamily="34" charset="-122"/>
                <a:cs typeface="Calibri" pitchFamily="34" charset="-120"/>
              </a:rPr>
              <a:t> 2 </a:t>
            </a:r>
            <a:r>
              <a:rPr lang="en-US" sz="1050" dirty="0" err="1">
                <a:solidFill>
                  <a:srgbClr val="5F6B78"/>
                </a:solidFill>
                <a:latin typeface="Calibri" pitchFamily="34" charset="0"/>
                <a:ea typeface="Calibri" pitchFamily="34" charset="-122"/>
                <a:cs typeface="Calibri" pitchFamily="34" charset="-120"/>
              </a:rPr>
              <a:t>tahun</a:t>
            </a:r>
            <a:r>
              <a:rPr lang="en-US" sz="1050" dirty="0">
                <a:solidFill>
                  <a:srgbClr val="5F6B78"/>
                </a:solidFill>
                <a:latin typeface="Calibri" pitchFamily="34" charset="0"/>
                <a:ea typeface="Calibri" pitchFamily="34" charset="-122"/>
                <a:cs typeface="Calibri" pitchFamily="34" charset="-120"/>
              </a:rPr>
              <a:t> dari 4 rasio neraca. Pakai varian pasar berkembang (Z'') untuk emiten IDX.</a:t>
            </a:r>
            <a:endParaRPr lang="en-US" sz="1350" dirty="0"/>
          </a:p>
        </p:txBody>
      </p:sp>
      <p:sp>
        <p:nvSpPr>
          <p:cNvPr id="17" name="Text 15"/>
          <p:cNvSpPr txBox="1"/>
          <p:nvPr/>
        </p:nvSpPr>
        <p:spPr>
          <a:xfrm>
            <a:off x="5669280" y="397764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bawah 1,1 = zona bahaya</a:t>
            </a:r>
            <a:endParaRPr lang="en-US" sz="1050" dirty="0"/>
          </a:p>
        </p:txBody>
      </p:sp>
      <p:sp>
        <p:nvSpPr>
          <p:cNvPr id="18" name="Text 16"/>
          <p:cNvSpPr txBox="1"/>
          <p:nvPr/>
        </p:nvSpPr>
        <p:spPr>
          <a:xfrm>
            <a:off x="8229600" y="3959352"/>
            <a:ext cx="3383280" cy="7909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Altman (1968) dan turunannya untuk emerging markets.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4"/>
              </a:rPr>
              <a:t>en.wikipedia.org › Altman Z-score</a:t>
            </a:r>
            <a:endParaRPr lang="en-US" sz="1000" dirty="0"/>
          </a:p>
        </p:txBody>
      </p:sp>
      <p:sp>
        <p:nvSpPr>
          <p:cNvPr id="19" name="Shape 17"/>
          <p:cNvSpPr/>
          <p:nvPr/>
        </p:nvSpPr>
        <p:spPr>
          <a:xfrm>
            <a:off x="548640" y="4823460"/>
            <a:ext cx="11064240" cy="914"/>
          </a:xfrm>
          <a:prstGeom prst="line">
            <a:avLst/>
          </a:prstGeom>
          <a:noFill/>
          <a:ln w="15875">
            <a:solidFill>
              <a:srgbClr val="D5DAE0"/>
            </a:solidFill>
            <a:prstDash val="solid"/>
          </a:ln>
        </p:spPr>
      </p:sp>
      <p:sp>
        <p:nvSpPr>
          <p:cNvPr id="20" name="Text 18"/>
          <p:cNvSpPr txBox="1"/>
          <p:nvPr/>
        </p:nvSpPr>
        <p:spPr>
          <a:xfrm>
            <a:off x="548640" y="4896612"/>
            <a:ext cx="4754880" cy="7909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Piotroski F-Score</a:t>
            </a:r>
            <a:endParaRPr lang="en-US" sz="1350" dirty="0"/>
          </a:p>
          <a:p>
            <a:pPr marL="0" indent="0">
              <a:buNone/>
            </a:pPr>
            <a:r>
              <a:rPr lang="en-US" sz="1050" dirty="0" err="1">
                <a:solidFill>
                  <a:srgbClr val="5F6B78"/>
                </a:solidFill>
                <a:latin typeface="Calibri" pitchFamily="34" charset="0"/>
                <a:ea typeface="Calibri" pitchFamily="34" charset="-122"/>
                <a:cs typeface="Calibri" pitchFamily="34" charset="-120"/>
              </a:rPr>
              <a:t>Rapor</a:t>
            </a:r>
            <a:r>
              <a:rPr lang="en-US" sz="1050" dirty="0">
                <a:solidFill>
                  <a:srgbClr val="5F6B78"/>
                </a:solidFill>
                <a:latin typeface="Calibri" pitchFamily="34" charset="0"/>
                <a:ea typeface="Calibri" pitchFamily="34" charset="-122"/>
                <a:cs typeface="Calibri" pitchFamily="34" charset="-120"/>
              </a:rPr>
              <a:t> Kesehatan </a:t>
            </a:r>
            <a:r>
              <a:rPr lang="en-US" sz="1050" dirty="0" err="1">
                <a:solidFill>
                  <a:srgbClr val="5F6B78"/>
                </a:solidFill>
                <a:latin typeface="Calibri" pitchFamily="34" charset="0"/>
                <a:ea typeface="Calibri" pitchFamily="34" charset="-122"/>
                <a:cs typeface="Calibri" pitchFamily="34" charset="-120"/>
              </a:rPr>
              <a:t>keuangan</a:t>
            </a:r>
            <a:r>
              <a:rPr lang="en-US" sz="1050" dirty="0">
                <a:solidFill>
                  <a:srgbClr val="5F6B78"/>
                </a:solidFill>
                <a:latin typeface="Calibri" pitchFamily="34" charset="0"/>
                <a:ea typeface="Calibri" pitchFamily="34" charset="-122"/>
                <a:cs typeface="Calibri" pitchFamily="34" charset="-120"/>
              </a:rPr>
              <a:t> </a:t>
            </a:r>
            <a:r>
              <a:rPr lang="en-US" sz="1050" dirty="0">
                <a:solidFill>
                  <a:srgbClr val="5F6B78"/>
                </a:solidFill>
                <a:latin typeface="Calibri" pitchFamily="34" charset="0"/>
                <a:ea typeface="Calibri" pitchFamily="34" charset="-122"/>
                <a:cs typeface="Calibri" pitchFamily="34" charset="-120"/>
                <a:sym typeface="Wingdings" pitchFamily="2" charset="2"/>
              </a:rPr>
              <a:t> </a:t>
            </a:r>
            <a:r>
              <a:rPr lang="en-US" sz="1050" dirty="0" err="1">
                <a:solidFill>
                  <a:srgbClr val="5F6B78"/>
                </a:solidFill>
                <a:latin typeface="Calibri" pitchFamily="34" charset="0"/>
                <a:ea typeface="Calibri" pitchFamily="34" charset="-122"/>
                <a:cs typeface="Calibri" pitchFamily="34" charset="-120"/>
                <a:sym typeface="Wingdings" pitchFamily="2" charset="2"/>
              </a:rPr>
              <a:t>s</a:t>
            </a:r>
            <a:r>
              <a:rPr lang="en-US" sz="1050" dirty="0" err="1">
                <a:solidFill>
                  <a:srgbClr val="5F6B78"/>
                </a:solidFill>
                <a:latin typeface="Calibri" pitchFamily="34" charset="0"/>
                <a:ea typeface="Calibri" pitchFamily="34" charset="-122"/>
                <a:cs typeface="Calibri" pitchFamily="34" charset="-120"/>
              </a:rPr>
              <a:t>embilan</a:t>
            </a:r>
            <a:r>
              <a:rPr lang="en-US" sz="1050" dirty="0">
                <a:solidFill>
                  <a:srgbClr val="5F6B78"/>
                </a:solidFill>
                <a:latin typeface="Calibri" pitchFamily="34" charset="0"/>
                <a:ea typeface="Calibri" pitchFamily="34" charset="-122"/>
                <a:cs typeface="Calibri" pitchFamily="34" charset="-120"/>
              </a:rPr>
              <a:t> cek akuntansi (laba, kas, utang, margin), tiap cek bernilai 0 atau 1. (</a:t>
            </a:r>
            <a:r>
              <a:rPr lang="en-US" sz="1050" dirty="0" err="1">
                <a:solidFill>
                  <a:srgbClr val="5F6B78"/>
                </a:solidFill>
                <a:latin typeface="Calibri" pitchFamily="34" charset="0"/>
                <a:ea typeface="Calibri" pitchFamily="34" charset="-122"/>
                <a:cs typeface="Calibri" pitchFamily="34" charset="-120"/>
              </a:rPr>
              <a:t>pebandingan</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dengan</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tahun</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sebelumnya</a:t>
            </a:r>
            <a:r>
              <a:rPr lang="en-US" sz="1050" dirty="0">
                <a:solidFill>
                  <a:srgbClr val="5F6B78"/>
                </a:solidFill>
                <a:latin typeface="Calibri" pitchFamily="34" charset="0"/>
                <a:ea typeface="Calibri" pitchFamily="34" charset="-122"/>
                <a:cs typeface="Calibri" pitchFamily="34" charset="-120"/>
              </a:rPr>
              <a:t>)</a:t>
            </a:r>
            <a:endParaRPr lang="en-US" sz="1350" dirty="0"/>
          </a:p>
        </p:txBody>
      </p:sp>
      <p:sp>
        <p:nvSpPr>
          <p:cNvPr id="21" name="Text 19"/>
          <p:cNvSpPr txBox="1"/>
          <p:nvPr/>
        </p:nvSpPr>
        <p:spPr>
          <a:xfrm>
            <a:off x="5669280" y="491490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skor 2 ke bawah = lemah</a:t>
            </a:r>
            <a:endParaRPr lang="en-US" sz="1050" dirty="0"/>
          </a:p>
        </p:txBody>
      </p:sp>
      <p:sp>
        <p:nvSpPr>
          <p:cNvPr id="22" name="Text 20"/>
          <p:cNvSpPr txBox="1"/>
          <p:nvPr/>
        </p:nvSpPr>
        <p:spPr>
          <a:xfrm>
            <a:off x="8229600" y="4896612"/>
            <a:ext cx="3383280" cy="790956"/>
          </a:xfrm>
          <a:prstGeom prst="rect">
            <a:avLst/>
          </a:prstGeom>
          <a:noFill/>
          <a:ln/>
        </p:spPr>
        <p:txBody>
          <a:bodyPr wrap="square" lIns="0" tIns="0" rIns="0" bIns="0" rtlCol="0" anchor="t"/>
          <a:lstStyle/>
          <a:p>
            <a:r>
              <a:rPr lang="en-US" sz="1000" dirty="0">
                <a:solidFill>
                  <a:srgbClr val="1B2430"/>
                </a:solidFill>
                <a:latin typeface="Calibri" pitchFamily="34" charset="0"/>
                <a:ea typeface="Calibri" pitchFamily="34" charset="-122"/>
                <a:cs typeface="Calibri" pitchFamily="34" charset="-120"/>
              </a:rPr>
              <a:t>Piotroski (2000), Journal of Accounting Research. </a:t>
            </a:r>
            <a:r>
              <a:rPr lang="en-US" sz="800" dirty="0">
                <a:solidFill>
                  <a:srgbClr val="1B2430"/>
                </a:solidFill>
                <a:latin typeface="Calibri" pitchFamily="34" charset="0"/>
                <a:ea typeface="Calibri" pitchFamily="34" charset="-122"/>
                <a:cs typeface="Calibri" pitchFamily="34" charset="-120"/>
                <a:hlinkClick r:id="rId5"/>
              </a:rPr>
              <a:t>https://en.wikipedia.org/wiki/Piotroski_F-score</a:t>
            </a:r>
            <a:endParaRPr lang="en-US" sz="1000" dirty="0"/>
          </a:p>
        </p:txBody>
      </p:sp>
      <p:sp>
        <p:nvSpPr>
          <p:cNvPr id="23" name="Text 21"/>
          <p:cNvSpPr txBox="1"/>
          <p:nvPr/>
        </p:nvSpPr>
        <p:spPr>
          <a:xfrm>
            <a:off x="548640" y="5833872"/>
            <a:ext cx="11064240" cy="384048"/>
          </a:xfrm>
          <a:prstGeom prst="rect">
            <a:avLst/>
          </a:prstGeom>
          <a:noFill/>
          <a:ln/>
        </p:spPr>
        <p:txBody>
          <a:bodyPr wrap="square" lIns="0" tIns="0" rIns="0" bIns="0" rtlCol="0" anchor="ctr"/>
          <a:lstStyle/>
          <a:p>
            <a:pPr marL="0" indent="0">
              <a:buNone/>
            </a:pPr>
            <a:r>
              <a:rPr lang="en-US" sz="1050" i="1" dirty="0">
                <a:solidFill>
                  <a:srgbClr val="5F6B78"/>
                </a:solidFill>
                <a:latin typeface="Calibri" pitchFamily="34" charset="0"/>
                <a:ea typeface="Calibri" pitchFamily="34" charset="-122"/>
                <a:cs typeface="Calibri" pitchFamily="34" charset="-120"/>
              </a:rPr>
              <a:t>Model di slide ini tidak berlaku untuk bank, asuransi, dan lembaga keuangan karena struktur neracanya berbeda. Bank memakai slide berikutnya.</a:t>
            </a:r>
            <a:endParaRPr lang="en-US" sz="1050" dirty="0"/>
          </a:p>
        </p:txBody>
      </p:sp>
      <p:sp>
        <p:nvSpPr>
          <p:cNvPr id="24" name="Shape 22"/>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5" name="Text 23"/>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6" name="Shape 24"/>
          <p:cNvSpPr/>
          <p:nvPr/>
        </p:nvSpPr>
        <p:spPr>
          <a:xfrm>
            <a:off x="3840480" y="6373368"/>
            <a:ext cx="274320" cy="164592"/>
          </a:xfrm>
          <a:prstGeom prst="roundRect">
            <a:avLst>
              <a:gd name="adj" fmla="val 27778"/>
            </a:avLst>
          </a:prstGeom>
          <a:solidFill>
            <a:srgbClr val="E3F2EC"/>
          </a:solidFill>
          <a:ln w="12700">
            <a:solidFill>
              <a:srgbClr val="E3F2EC"/>
            </a:solidFill>
            <a:prstDash val="solid"/>
          </a:ln>
        </p:spPr>
      </p:sp>
      <p:sp>
        <p:nvSpPr>
          <p:cNvPr id="27" name="Text 25"/>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pic>
        <p:nvPicPr>
          <p:cNvPr id="28" name="Picture 27">
            <a:extLst>
              <a:ext uri="{FF2B5EF4-FFF2-40B4-BE49-F238E27FC236}">
                <a16:creationId xmlns:a16="http://schemas.microsoft.com/office/drawing/2014/main" id="{B7CE1C76-DA55-0DB7-6807-1FA77925F52C}"/>
              </a:ext>
            </a:extLst>
          </p:cNvPr>
          <p:cNvPicPr>
            <a:picLocks noChangeAspect="1"/>
          </p:cNvPicPr>
          <p:nvPr/>
        </p:nvPicPr>
        <p:blipFill>
          <a:blip r:embed="rId6"/>
          <a:stretch>
            <a:fillRect/>
          </a:stretch>
        </p:blipFill>
        <p:spPr>
          <a:xfrm>
            <a:off x="8229600" y="2561049"/>
            <a:ext cx="2603500" cy="203200"/>
          </a:xfrm>
          <a:prstGeom prst="rect">
            <a:avLst/>
          </a:prstGeom>
        </p:spPr>
      </p:pic>
      <p:pic>
        <p:nvPicPr>
          <p:cNvPr id="29" name="Picture 28">
            <a:extLst>
              <a:ext uri="{FF2B5EF4-FFF2-40B4-BE49-F238E27FC236}">
                <a16:creationId xmlns:a16="http://schemas.microsoft.com/office/drawing/2014/main" id="{6F294F30-7F46-66D0-5077-72A61ECE61C4}"/>
              </a:ext>
            </a:extLst>
          </p:cNvPr>
          <p:cNvPicPr>
            <a:picLocks noChangeAspect="1"/>
          </p:cNvPicPr>
          <p:nvPr/>
        </p:nvPicPr>
        <p:blipFill>
          <a:blip r:embed="rId7"/>
          <a:stretch>
            <a:fillRect/>
          </a:stretch>
        </p:blipFill>
        <p:spPr>
          <a:xfrm>
            <a:off x="8229600" y="3465014"/>
            <a:ext cx="3078790" cy="3841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2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Kesehatan keuangan (non-bank)</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sp>
      <p:sp>
        <p:nvSpPr>
          <p:cNvPr id="9" name="Text 7"/>
          <p:cNvSpPr txBox="1"/>
          <p:nvPr/>
        </p:nvSpPr>
        <p:spPr>
          <a:xfrm>
            <a:off x="548640" y="2084832"/>
            <a:ext cx="1783080" cy="11186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Ekuitas negatif dan tanpa pendapatan</a:t>
            </a:r>
            <a:endParaRPr lang="en-US" sz="1200" dirty="0"/>
          </a:p>
        </p:txBody>
      </p:sp>
      <p:sp>
        <p:nvSpPr>
          <p:cNvPr id="10" name="Text 8"/>
          <p:cNvSpPr txBox="1"/>
          <p:nvPr/>
        </p:nvSpPr>
        <p:spPr>
          <a:xfrm>
            <a:off x="2606040" y="2084832"/>
            <a:ext cx="2606040" cy="11186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/v2/financials/quarterly/{symbol}/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?n_quarters=1</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 per kuartal</a:t>
            </a:r>
            <a:endParaRPr lang="en-US" sz="850" dirty="0"/>
          </a:p>
        </p:txBody>
      </p:sp>
      <p:sp>
        <p:nvSpPr>
          <p:cNvPr id="11" name="Text 9"/>
          <p:cNvSpPr txBox="1"/>
          <p:nvPr/>
        </p:nvSpPr>
        <p:spPr>
          <a:xfrm>
            <a:off x="5486400" y="2084832"/>
            <a:ext cx="2011680" cy="11186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[].total_equity</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[].revenue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[].earnings</a:t>
            </a:r>
            <a:endParaRPr lang="en-US" sz="850" dirty="0"/>
          </a:p>
        </p:txBody>
      </p:sp>
      <p:sp>
        <p:nvSpPr>
          <p:cNvPr id="12" name="Text 10"/>
          <p:cNvSpPr txBox="1"/>
          <p:nvPr/>
        </p:nvSpPr>
        <p:spPr>
          <a:xfrm>
            <a:off x="7772400" y="2084832"/>
            <a:ext cx="3840480" cy="1100328"/>
          </a:xfrm>
          <a:prstGeom prst="roundRect">
            <a:avLst>
              <a:gd name="adj" fmla="val 4986"/>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[{"date": "2026-03-31",</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"revenue": 28434118000000,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"earnings": 14695475000000,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"total_equity": 259358793000000}]</a:t>
            </a:r>
            <a:endParaRPr lang="en-US" sz="750" dirty="0"/>
          </a:p>
        </p:txBody>
      </p:sp>
      <p:sp>
        <p:nvSpPr>
          <p:cNvPr id="13" name="Shape 11"/>
          <p:cNvSpPr/>
          <p:nvPr/>
        </p:nvSpPr>
        <p:spPr>
          <a:xfrm>
            <a:off x="548640" y="3276600"/>
            <a:ext cx="11064240" cy="914"/>
          </a:xfrm>
          <a:prstGeom prst="line">
            <a:avLst/>
          </a:prstGeom>
          <a:noFill/>
          <a:ln w="15875">
            <a:solidFill>
              <a:srgbClr val="D5DAE0"/>
            </a:solidFill>
            <a:prstDash val="solid"/>
          </a:ln>
        </p:spPr>
      </p:sp>
      <p:sp>
        <p:nvSpPr>
          <p:cNvPr id="14" name="Text 12"/>
          <p:cNvSpPr txBox="1"/>
          <p:nvPr/>
        </p:nvSpPr>
        <p:spPr>
          <a:xfrm>
            <a:off x="548640" y="3349752"/>
            <a:ext cx="1783080" cy="11186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Altman Z''-Score</a:t>
            </a:r>
            <a:endParaRPr lang="en-US" sz="1200" dirty="0"/>
          </a:p>
        </p:txBody>
      </p:sp>
      <p:sp>
        <p:nvSpPr>
          <p:cNvPr id="15" name="Text 13"/>
          <p:cNvSpPr txBox="1"/>
          <p:nvPr/>
        </p:nvSpPr>
        <p:spPr>
          <a:xfrm>
            <a:off x="2606040" y="3349752"/>
            <a:ext cx="2606040" cy="11186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/v2/financials/quarterly/{symbol}/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/v2/company/report/?sections=financials</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+ 1 kredit</a:t>
            </a:r>
            <a:endParaRPr lang="en-US" sz="850" dirty="0"/>
          </a:p>
        </p:txBody>
      </p:sp>
      <p:sp>
        <p:nvSpPr>
          <p:cNvPr id="16" name="Text 14"/>
          <p:cNvSpPr txBox="1"/>
          <p:nvPr/>
        </p:nvSpPr>
        <p:spPr>
          <a:xfrm>
            <a:off x="5486400" y="3349752"/>
            <a:ext cx="2011680" cy="1118616"/>
          </a:xfrm>
          <a:prstGeom prst="rect">
            <a:avLst/>
          </a:prstGeom>
          <a:noFill/>
          <a:ln/>
        </p:spPr>
        <p:txBody>
          <a:bodyPr wrap="square" lIns="0" tIns="0" rIns="0" bIns="0" rtlCol="0" anchor="t"/>
          <a:lstStyle/>
          <a:p>
            <a:pPr marL="0" indent="0">
              <a:buNone/>
            </a:pPr>
            <a:r>
              <a:rPr sz="850" b="0">
                <a:solidFill>
                  <a:srgbClr val="0F4A3B"/>
                </a:solidFill>
                <a:latin typeface="Courier New"/>
              </a:rPr>
              <a:t>total_current_asset, current_liabilities,</a:t>
            </a:r>
            <a:endParaRPr lang="en-US" sz="850" dirty="0"/>
          </a:p>
          <a:p>
            <a:r>
              <a:rPr sz="850" b="0">
                <a:solidFill>
                  <a:srgbClr val="0F4A3B"/>
                </a:solidFill>
                <a:latin typeface="Courier New"/>
              </a:rPr>
              <a:t>total_assets, total_liabilities, ebit</a:t>
            </a:r>
          </a:p>
          <a:p>
            <a:r>
              <a:rPr sz="850" b="0">
                <a:solidFill>
                  <a:srgbClr val="0F4A3B"/>
                </a:solidFill>
                <a:latin typeface="Courier New"/>
              </a:rPr>
              <a:t>historical_financials[].retained_earnings</a:t>
            </a:r>
          </a:p>
          <a:p>
            <a:r>
              <a:rPr sz="850" b="0">
                <a:solidFill>
                  <a:srgbClr val="0F4A3B"/>
                </a:solidFill>
                <a:highlight>
                  <a:srgbClr val="FFFF00"/>
                </a:highlight>
                <a:latin typeface="Courier New"/>
              </a:rPr>
              <a:t>// tahunan: current_assets</a:t>
            </a:r>
          </a:p>
        </p:txBody>
      </p:sp>
      <p:sp>
        <p:nvSpPr>
          <p:cNvPr id="17" name="Text 15"/>
          <p:cNvSpPr txBox="1"/>
          <p:nvPr/>
        </p:nvSpPr>
        <p:spPr>
          <a:xfrm>
            <a:off x="7772400" y="3349752"/>
            <a:ext cx="3840480" cy="1100328"/>
          </a:xfrm>
          <a:prstGeom prst="roundRect">
            <a:avLst>
              <a:gd name="adj" fmla="val 4986"/>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{"total_assets": 1640830566000000,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"total_liabilities": 1370360247000000,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"ebit": 18077072000000, ...}</a:t>
            </a:r>
            <a:endParaRPr lang="en-US" sz="750" dirty="0"/>
          </a:p>
        </p:txBody>
      </p:sp>
      <p:sp>
        <p:nvSpPr>
          <p:cNvPr id="18" name="Shape 16"/>
          <p:cNvSpPr/>
          <p:nvPr/>
        </p:nvSpPr>
        <p:spPr>
          <a:xfrm>
            <a:off x="548640" y="4541520"/>
            <a:ext cx="11064240" cy="914"/>
          </a:xfrm>
          <a:prstGeom prst="line">
            <a:avLst/>
          </a:prstGeom>
          <a:noFill/>
          <a:ln w="15875">
            <a:solidFill>
              <a:srgbClr val="D5DAE0"/>
            </a:solidFill>
            <a:prstDash val="solid"/>
          </a:ln>
        </p:spPr>
      </p:sp>
      <p:sp>
        <p:nvSpPr>
          <p:cNvPr id="19" name="Text 17"/>
          <p:cNvSpPr txBox="1"/>
          <p:nvPr/>
        </p:nvSpPr>
        <p:spPr>
          <a:xfrm>
            <a:off x="548640" y="4614672"/>
            <a:ext cx="1783080" cy="11186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Piotroski F-Score</a:t>
            </a:r>
            <a:endParaRPr lang="en-US" sz="1200" dirty="0"/>
          </a:p>
        </p:txBody>
      </p:sp>
      <p:sp>
        <p:nvSpPr>
          <p:cNvPr id="20" name="Text 18"/>
          <p:cNvSpPr txBox="1"/>
          <p:nvPr/>
        </p:nvSpPr>
        <p:spPr>
          <a:xfrm>
            <a:off x="2606040" y="4614672"/>
            <a:ext cx="2606040" cy="1118616"/>
          </a:xfrm>
          <a:prstGeom prst="rect">
            <a:avLst/>
          </a:prstGeom>
          <a:noFill/>
          <a:ln/>
        </p:spPr>
        <p:txBody>
          <a:bodyPr wrap="square" lIns="0" tIns="0" rIns="0" bIns="0" rtlCol="0" anchor="t"/>
          <a:lstStyle/>
          <a:p>
            <a:pPr marL="0" indent="0">
              <a:buNone/>
            </a:pPr>
            <a:r>
              <a:rPr sz="850" b="0">
                <a:solidFill>
                  <a:srgbClr val="1B2430"/>
                </a:solidFill>
                <a:highlight>
                  <a:srgbClr val="FFFF00"/>
                </a:highlight>
                <a:latin typeface="Courier New"/>
              </a:rPr>
              <a:t>GET /v2/company/report/{symbol}/</a:t>
            </a:r>
            <a:endParaRPr lang="en-US" sz="850" dirty="0"/>
          </a:p>
          <a:p>
            <a:r>
              <a:rPr sz="850" b="0">
                <a:solidFill>
                  <a:srgbClr val="1B2430"/>
                </a:solidFill>
                <a:highlight>
                  <a:srgbClr val="FFFF00"/>
                </a:highlight>
                <a:latin typeface="Courier New"/>
              </a:rPr>
              <a:t>    ?sections=financials</a:t>
            </a:r>
          </a:p>
          <a:p>
            <a:r>
              <a:rPr sz="900" b="0">
                <a:solidFill>
                  <a:srgbClr val="5F6B78"/>
                </a:solidFill>
                <a:highlight>
                  <a:srgbClr val="FFFF00"/>
                </a:highlight>
                <a:latin typeface="Calibri"/>
              </a:rPr>
              <a:t>1 kredit. Data TAHUNAN, bukan kuartalan.</a:t>
            </a:r>
          </a:p>
          <a:p>
            <a:r>
              <a:rPr sz="900" b="0">
                <a:solidFill>
                  <a:srgbClr val="5F6B78"/>
                </a:solidFill>
                <a:highlight>
                  <a:srgbClr val="FFFF00"/>
                </a:highlight>
                <a:latin typeface="Calibri"/>
              </a:rPr>
              <a:t>Semua field ada di historical_financials.</a:t>
            </a:r>
          </a:p>
        </p:txBody>
      </p:sp>
      <p:sp>
        <p:nvSpPr>
          <p:cNvPr id="21" name="Text 19"/>
          <p:cNvSpPr txBox="1"/>
          <p:nvPr/>
        </p:nvSpPr>
        <p:spPr>
          <a:xfrm>
            <a:off x="5486400" y="4614672"/>
            <a:ext cx="2011680" cy="1118616"/>
          </a:xfrm>
          <a:prstGeom prst="rect">
            <a:avLst/>
          </a:prstGeom>
          <a:noFill/>
          <a:ln/>
        </p:spPr>
        <p:txBody>
          <a:bodyPr wrap="square" lIns="0" tIns="0" rIns="0" bIns="0" rtlCol="0" anchor="t"/>
          <a:lstStyle/>
          <a:p>
            <a:pPr marL="0" indent="0">
              <a:buNone/>
            </a:pPr>
            <a:r>
              <a:rPr sz="850" b="0">
                <a:solidFill>
                  <a:srgbClr val="0F4A3B"/>
                </a:solidFill>
                <a:highlight>
                  <a:srgbClr val="FFFF00"/>
                </a:highlight>
                <a:latin typeface="Courier New"/>
              </a:rPr>
              <a:t>historical_financials[] (tahunan)</a:t>
            </a:r>
            <a:endParaRPr lang="en-US" sz="850" dirty="0"/>
          </a:p>
          <a:p>
            <a:r>
              <a:rPr sz="850" b="0">
                <a:solidFill>
                  <a:srgbClr val="0F4A3B"/>
                </a:solidFill>
                <a:highlight>
                  <a:srgbClr val="FFFF00"/>
                </a:highlight>
                <a:latin typeface="Courier New"/>
              </a:rPr>
              <a:t>earnings, operating_cash_flow,</a:t>
            </a:r>
          </a:p>
          <a:p>
            <a:r>
              <a:rPr sz="850" b="0">
                <a:solidFill>
                  <a:srgbClr val="0F4A3B"/>
                </a:solidFill>
                <a:highlight>
                  <a:srgbClr val="FFFF00"/>
                </a:highlight>
                <a:latin typeface="Courier New"/>
              </a:rPr>
              <a:t>total_assets, current_assets,</a:t>
            </a:r>
          </a:p>
          <a:p>
            <a:r>
              <a:rPr sz="850" b="0">
                <a:solidFill>
                  <a:srgbClr val="0F4A3B"/>
                </a:solidFill>
                <a:highlight>
                  <a:srgbClr val="FFFF00"/>
                </a:highlight>
                <a:latin typeface="Courier New"/>
              </a:rPr>
              <a:t>total_debt, gross_profit, revenue</a:t>
            </a:r>
          </a:p>
        </p:txBody>
      </p:sp>
      <p:sp>
        <p:nvSpPr>
          <p:cNvPr id="22" name="Text 20"/>
          <p:cNvSpPr txBox="1"/>
          <p:nvPr/>
        </p:nvSpPr>
        <p:spPr>
          <a:xfrm>
            <a:off x="7772400" y="4614672"/>
            <a:ext cx="3840480" cy="1100328"/>
          </a:xfrm>
          <a:prstGeom prst="roundRect">
            <a:avLst>
              <a:gd name="adj" fmla="val 4986"/>
            </a:avLst>
          </a:prstGeom>
          <a:solidFill>
            <a:srgbClr val="EEF1F4"/>
          </a:solidFill>
          <a:ln/>
        </p:spPr>
        <p:txBody>
          <a:bodyPr wrap="square" lIns="1016" tIns="1016" rIns="1016" bIns="1016" rtlCol="0" anchor="t"/>
          <a:lstStyle/>
          <a:p>
            <a:pPr marL="0" indent="0">
              <a:buNone/>
            </a:pPr>
            <a:r>
              <a:rPr sz="850" b="0">
                <a:solidFill>
                  <a:srgbClr val="1B2430"/>
                </a:solidFill>
                <a:highlight>
                  <a:srgbClr val="FFFF00"/>
                </a:highlight>
                <a:latin typeface="Courier New"/>
              </a:rPr>
              <a:t>[{"year": 2024, "earnings": ...,</a:t>
            </a:r>
            <a:endParaRPr lang="en-US" sz="750" dirty="0"/>
          </a:p>
          <a:p>
            <a:r>
              <a:rPr sz="850" b="0">
                <a:solidFill>
                  <a:srgbClr val="1B2430"/>
                </a:solidFill>
                <a:highlight>
                  <a:srgbClr val="FFFF00"/>
                </a:highlight>
                <a:latin typeface="Courier New"/>
              </a:rPr>
              <a:t>  "operating_cash_flow": ...},</a:t>
            </a:r>
          </a:p>
          <a:p>
            <a:r>
              <a:rPr sz="850" b="0">
                <a:solidFill>
                  <a:srgbClr val="1B2430"/>
                </a:solidFill>
                <a:highlight>
                  <a:srgbClr val="FFFF00"/>
                </a:highlight>
                <a:latin typeface="Courier New"/>
              </a:rPr>
              <a:t>  {"year": 2025, ...}]</a:t>
            </a:r>
          </a:p>
          <a:p>
            <a:r>
              <a:rPr sz="850" b="0">
                <a:solidFill>
                  <a:srgbClr val="1B2430"/>
                </a:solidFill>
                <a:highlight>
                  <a:srgbClr val="FFFF00"/>
                </a:highlight>
                <a:latin typeface="Courier New"/>
              </a:rPr>
              <a:t>// tertua dulu</a:t>
            </a:r>
          </a:p>
        </p:txBody>
      </p:sp>
      <p:sp>
        <p:nvSpPr>
          <p:cNvPr id="23" name="Text 21"/>
          <p:cNvSpPr txBox="1"/>
          <p:nvPr/>
        </p:nvSpPr>
        <p:spPr>
          <a:xfrm>
            <a:off x="548640" y="5897880"/>
            <a:ext cx="11064240" cy="548640"/>
          </a:xfrm>
          <a:prstGeom prst="rect">
            <a:avLst/>
          </a:prstGeom>
          <a:noFill/>
          <a:ln/>
        </p:spPr>
        <p:txBody>
          <a:bodyPr wrap="square" lIns="0" tIns="0" rIns="0" bIns="0" rtlCol="0" anchor="ctr"/>
          <a:lstStyle/>
          <a:p>
            <a:pPr marL="0" indent="0">
              <a:buNone/>
            </a:pPr>
            <a:r>
              <a:rPr sz="1050" b="0">
                <a:solidFill>
                  <a:srgbClr val="5F6B78"/>
                </a:solidFill>
                <a:highlight>
                  <a:srgbClr val="FFFF00"/>
                </a:highlight>
                <a:latin typeface="Calibri"/>
              </a:rPr>
              <a:t>Field null berarti pilar dihitung parsial, jangan dianggap nol. Array historical_* diurutkan tertua dulu, sedangkan /financials/quarterly terbaru dulu.</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2 — Kesehatan keuangan (bank)</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Bank punya rasio sendiri, semuanya ditetapkan regulator.</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CAR (rasio kecukupan modal)</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Modal bank dibanding aset tertimbang risiko; bantalan saat kredit macet.</a:t>
            </a:r>
            <a:endParaRPr lang="en-US" sz="1350" dirty="0"/>
          </a:p>
        </p:txBody>
      </p:sp>
      <p:sp>
        <p:nvSpPr>
          <p:cNvPr id="9" name="Text 7"/>
          <p:cNvSpPr txBox="1"/>
          <p:nvPr/>
        </p:nvSpPr>
        <p:spPr>
          <a:xfrm>
            <a:off x="5669280" y="21031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bawah 8% total, atau CET1 di bawah 4,5%</a:t>
            </a:r>
            <a:endParaRPr lang="en-US" sz="1050" dirty="0"/>
          </a:p>
        </p:txBody>
      </p:sp>
      <p:sp>
        <p:nvSpPr>
          <p:cNvPr id="10" name="Text 8"/>
          <p:cNvSpPr txBox="1"/>
          <p:nvPr/>
        </p:nvSpPr>
        <p:spPr>
          <a:xfrm>
            <a:off x="8229600" y="20848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POJK No. 11/POJK.03/2016 tentang KPMM Bank Umum, plus buffer konservasi 2,5% untuk KBMI 3–4.</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ojk.go.id › POJK 11/POJK.03/2016</a:t>
            </a:r>
            <a:endParaRPr lang="en-US" sz="1000" dirty="0"/>
          </a:p>
        </p:txBody>
      </p:sp>
      <p:sp>
        <p:nvSpPr>
          <p:cNvPr id="11" name="Shape 9"/>
          <p:cNvSpPr/>
          <p:nvPr/>
        </p:nvSpPr>
        <p:spPr>
          <a:xfrm>
            <a:off x="548640" y="3040380"/>
            <a:ext cx="11064240" cy="914"/>
          </a:xfrm>
          <a:prstGeom prst="line">
            <a:avLst/>
          </a:prstGeom>
          <a:noFill/>
          <a:ln w="15875">
            <a:solidFill>
              <a:srgbClr val="D5DAE0"/>
            </a:solidFill>
            <a:prstDash val="solid"/>
          </a:ln>
        </p:spPr>
      </p:sp>
      <p:sp>
        <p:nvSpPr>
          <p:cNvPr id="12" name="Text 10"/>
          <p:cNvSpPr txBox="1"/>
          <p:nvPr/>
        </p:nvSpPr>
        <p:spPr>
          <a:xfrm>
            <a:off x="548640" y="31135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NPL gross (kredit macet)</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Porsi kredit yang bermasalah, </a:t>
            </a:r>
            <a:r>
              <a:rPr lang="en-US" sz="1050" dirty="0" err="1">
                <a:solidFill>
                  <a:srgbClr val="5F6B78"/>
                </a:solidFill>
                <a:latin typeface="Calibri" pitchFamily="34" charset="0"/>
                <a:ea typeface="Calibri" pitchFamily="34" charset="-122"/>
                <a:cs typeface="Calibri" pitchFamily="34" charset="-120"/>
              </a:rPr>
              <a:t>tignkat</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kolektibilitas</a:t>
            </a:r>
            <a:r>
              <a:rPr lang="en-US" sz="1050" dirty="0">
                <a:solidFill>
                  <a:srgbClr val="5F6B78"/>
                </a:solidFill>
                <a:latin typeface="Calibri" pitchFamily="34" charset="0"/>
                <a:ea typeface="Calibri" pitchFamily="34" charset="-122"/>
                <a:cs typeface="Calibri" pitchFamily="34" charset="-120"/>
              </a:rPr>
              <a:t> 3 </a:t>
            </a:r>
            <a:r>
              <a:rPr lang="en-US" sz="1050" dirty="0" err="1">
                <a:solidFill>
                  <a:srgbClr val="5F6B78"/>
                </a:solidFill>
                <a:latin typeface="Calibri" pitchFamily="34" charset="0"/>
                <a:ea typeface="Calibri" pitchFamily="34" charset="-122"/>
                <a:cs typeface="Calibri" pitchFamily="34" charset="-120"/>
              </a:rPr>
              <a:t>sampai</a:t>
            </a:r>
            <a:r>
              <a:rPr lang="en-US" sz="1050" dirty="0">
                <a:solidFill>
                  <a:srgbClr val="5F6B78"/>
                </a:solidFill>
                <a:latin typeface="Calibri" pitchFamily="34" charset="0"/>
                <a:ea typeface="Calibri" pitchFamily="34" charset="-122"/>
                <a:cs typeface="Calibri" pitchFamily="34" charset="-120"/>
              </a:rPr>
              <a:t> 5.</a:t>
            </a:r>
            <a:endParaRPr lang="en-US" sz="1350" dirty="0"/>
          </a:p>
        </p:txBody>
      </p:sp>
      <p:sp>
        <p:nvSpPr>
          <p:cNvPr id="13" name="Text 11"/>
          <p:cNvSpPr txBox="1"/>
          <p:nvPr/>
        </p:nvSpPr>
        <p:spPr>
          <a:xfrm>
            <a:off x="5669280" y="31318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atas 5%</a:t>
            </a:r>
            <a:endParaRPr lang="en-US" sz="1050" dirty="0"/>
          </a:p>
        </p:txBody>
      </p:sp>
      <p:sp>
        <p:nvSpPr>
          <p:cNvPr id="14" name="Text 12"/>
          <p:cNvSpPr txBox="1"/>
          <p:nvPr/>
        </p:nvSpPr>
        <p:spPr>
          <a:xfrm>
            <a:off x="8229600" y="31135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POJK No. 40/POJK.03/2019 tentang Penilaian Kualitas Aset Bank Umum.</a:t>
            </a:r>
          </a:p>
          <a:p>
            <a:r>
              <a:rPr lang="en-US" sz="700" dirty="0">
                <a:solidFill>
                  <a:srgbClr val="0F4A3B"/>
                </a:solidFill>
                <a:latin typeface="Courier New" pitchFamily="34" charset="0"/>
                <a:cs typeface="Courier New" pitchFamily="34" charset="-120"/>
                <a:hlinkClick r:id="rId4"/>
              </a:rPr>
              <a:t>https://</a:t>
            </a:r>
            <a:r>
              <a:rPr lang="en-US" sz="700" dirty="0" err="1">
                <a:solidFill>
                  <a:srgbClr val="0F4A3B"/>
                </a:solidFill>
                <a:latin typeface="Courier New" pitchFamily="34" charset="0"/>
                <a:cs typeface="Courier New" pitchFamily="34" charset="-120"/>
                <a:hlinkClick r:id="rId4"/>
              </a:rPr>
              <a:t>www.bi.go.id</a:t>
            </a:r>
            <a:r>
              <a:rPr lang="en-US" sz="700" dirty="0">
                <a:solidFill>
                  <a:srgbClr val="0F4A3B"/>
                </a:solidFill>
                <a:latin typeface="Courier New" pitchFamily="34" charset="0"/>
                <a:cs typeface="Courier New" pitchFamily="34" charset="-120"/>
                <a:hlinkClick r:id="rId4"/>
              </a:rPr>
              <a:t>/id/</a:t>
            </a:r>
            <a:r>
              <a:rPr lang="en-US" sz="700" dirty="0" err="1">
                <a:solidFill>
                  <a:srgbClr val="0F4A3B"/>
                </a:solidFill>
                <a:latin typeface="Courier New" pitchFamily="34" charset="0"/>
                <a:cs typeface="Courier New" pitchFamily="34" charset="-120"/>
                <a:hlinkClick r:id="rId4"/>
              </a:rPr>
              <a:t>publikasi</a:t>
            </a:r>
            <a:r>
              <a:rPr lang="en-US" sz="700" dirty="0">
                <a:solidFill>
                  <a:srgbClr val="0F4A3B"/>
                </a:solidFill>
                <a:latin typeface="Courier New" pitchFamily="34" charset="0"/>
                <a:cs typeface="Courier New" pitchFamily="34" charset="-120"/>
                <a:hlinkClick r:id="rId4"/>
              </a:rPr>
              <a:t>/</a:t>
            </a:r>
            <a:r>
              <a:rPr lang="en-US" sz="700" dirty="0" err="1">
                <a:solidFill>
                  <a:srgbClr val="0F4A3B"/>
                </a:solidFill>
                <a:latin typeface="Courier New" pitchFamily="34" charset="0"/>
                <a:cs typeface="Courier New" pitchFamily="34" charset="-120"/>
                <a:hlinkClick r:id="rId4"/>
              </a:rPr>
              <a:t>peraturan</a:t>
            </a:r>
            <a:r>
              <a:rPr lang="en-US" sz="700" dirty="0">
                <a:solidFill>
                  <a:srgbClr val="0F4A3B"/>
                </a:solidFill>
                <a:latin typeface="Courier New" pitchFamily="34" charset="0"/>
                <a:cs typeface="Courier New" pitchFamily="34" charset="-120"/>
                <a:hlinkClick r:id="rId4"/>
              </a:rPr>
              <a:t>/Pages/PBI_230221.aspx</a:t>
            </a:r>
            <a:endParaRPr lang="en-US" sz="700" dirty="0">
              <a:solidFill>
                <a:srgbClr val="0F4A3B"/>
              </a:solidFill>
              <a:latin typeface="Courier New" pitchFamily="34" charset="0"/>
              <a:cs typeface="Courier New" pitchFamily="34" charset="-120"/>
            </a:endParaRPr>
          </a:p>
        </p:txBody>
      </p:sp>
      <p:sp>
        <p:nvSpPr>
          <p:cNvPr id="15" name="Shape 13"/>
          <p:cNvSpPr/>
          <p:nvPr/>
        </p:nvSpPr>
        <p:spPr>
          <a:xfrm>
            <a:off x="548640" y="4069080"/>
            <a:ext cx="11064240" cy="914"/>
          </a:xfrm>
          <a:prstGeom prst="line">
            <a:avLst/>
          </a:prstGeom>
          <a:noFill/>
          <a:ln w="15875">
            <a:solidFill>
              <a:srgbClr val="D5DAE0"/>
            </a:solidFill>
            <a:prstDash val="solid"/>
          </a:ln>
        </p:spPr>
      </p:sp>
      <p:sp>
        <p:nvSpPr>
          <p:cNvPr id="16" name="Text 14"/>
          <p:cNvSpPr txBox="1"/>
          <p:nvPr/>
        </p:nvSpPr>
        <p:spPr>
          <a:xfrm>
            <a:off x="548640" y="41422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RIM (rasio intermediasi)</a:t>
            </a:r>
            <a:endParaRPr lang="en-US" sz="1350" dirty="0"/>
          </a:p>
          <a:p>
            <a:r>
              <a:rPr lang="en-ID" sz="1050" dirty="0"/>
              <a:t>Bank </a:t>
            </a:r>
            <a:r>
              <a:rPr lang="en-ID" sz="1050" dirty="0" err="1"/>
              <a:t>menghimpun</a:t>
            </a:r>
            <a:r>
              <a:rPr lang="en-ID" sz="1050" dirty="0"/>
              <a:t> dana </a:t>
            </a:r>
            <a:r>
              <a:rPr lang="en-ID" sz="1050" dirty="0" err="1"/>
              <a:t>dari</a:t>
            </a:r>
            <a:r>
              <a:rPr lang="en-ID" sz="1050" dirty="0"/>
              <a:t> </a:t>
            </a:r>
            <a:r>
              <a:rPr lang="en-ID" sz="1050" dirty="0" err="1"/>
              <a:t>nasabah</a:t>
            </a:r>
            <a:r>
              <a:rPr lang="en-ID" sz="1050" dirty="0"/>
              <a:t>, </a:t>
            </a:r>
            <a:r>
              <a:rPr lang="en-ID" sz="1050" dirty="0" err="1"/>
              <a:t>lalu</a:t>
            </a:r>
            <a:r>
              <a:rPr lang="en-ID" sz="1050" dirty="0"/>
              <a:t> </a:t>
            </a:r>
            <a:r>
              <a:rPr lang="en-ID" sz="1050" dirty="0" err="1"/>
              <a:t>menyalurkannya</a:t>
            </a:r>
            <a:r>
              <a:rPr lang="en-ID" sz="1050" dirty="0"/>
              <a:t> </a:t>
            </a:r>
            <a:r>
              <a:rPr lang="en-ID" sz="1050" dirty="0" err="1"/>
              <a:t>jadi</a:t>
            </a:r>
            <a:r>
              <a:rPr lang="en-ID" sz="1050" dirty="0"/>
              <a:t> </a:t>
            </a:r>
            <a:r>
              <a:rPr lang="en-ID" sz="1050" dirty="0" err="1"/>
              <a:t>kredit</a:t>
            </a:r>
            <a:r>
              <a:rPr lang="en-US" sz="1050" dirty="0">
                <a:solidFill>
                  <a:srgbClr val="5F6B78"/>
                </a:solidFill>
                <a:latin typeface="Calibri" pitchFamily="34" charset="0"/>
                <a:ea typeface="Calibri" pitchFamily="34" charset="-122"/>
                <a:cs typeface="Calibri" pitchFamily="34" charset="-120"/>
              </a:rPr>
              <a:t>. Terlalu tinggi berarti likuiditas ketat.</a:t>
            </a:r>
            <a:endParaRPr lang="en-US" sz="1350" dirty="0"/>
          </a:p>
        </p:txBody>
      </p:sp>
      <p:sp>
        <p:nvSpPr>
          <p:cNvPr id="17" name="Text 15"/>
          <p:cNvSpPr txBox="1"/>
          <p:nvPr/>
        </p:nvSpPr>
        <p:spPr>
          <a:xfrm>
            <a:off x="5669280" y="41605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luar rentang 84–94%</a:t>
            </a:r>
            <a:endParaRPr lang="en-US" sz="1050" dirty="0"/>
          </a:p>
        </p:txBody>
      </p:sp>
      <p:sp>
        <p:nvSpPr>
          <p:cNvPr id="18" name="Text 16"/>
          <p:cNvSpPr txBox="1"/>
          <p:nvPr/>
        </p:nvSpPr>
        <p:spPr>
          <a:xfrm>
            <a:off x="8229600" y="41422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PADG No. 21/5/PADG/2019, Bank Indonesia.</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5"/>
              </a:rPr>
              <a:t>bi.go.id › PADG 21/5/PADG/2019 (PDF)</a:t>
            </a:r>
            <a:endParaRPr lang="en-US" sz="1000" dirty="0"/>
          </a:p>
        </p:txBody>
      </p:sp>
      <p:sp>
        <p:nvSpPr>
          <p:cNvPr id="19" name="Shape 17"/>
          <p:cNvSpPr/>
          <p:nvPr/>
        </p:nvSpPr>
        <p:spPr>
          <a:xfrm>
            <a:off x="548640" y="5097780"/>
            <a:ext cx="11064240" cy="914"/>
          </a:xfrm>
          <a:prstGeom prst="line">
            <a:avLst/>
          </a:prstGeom>
          <a:noFill/>
          <a:ln w="15875">
            <a:solidFill>
              <a:srgbClr val="D5DAE0"/>
            </a:solidFill>
            <a:prstDash val="solid"/>
          </a:ln>
        </p:spPr>
      </p:sp>
      <p:sp>
        <p:nvSpPr>
          <p:cNvPr id="20" name="Text 18"/>
          <p:cNvSpPr txBox="1"/>
          <p:nvPr/>
        </p:nvSpPr>
        <p:spPr>
          <a:xfrm>
            <a:off x="548640" y="51709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BOPO (efisiensi)</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Biaya operasional dibanding pendapatan operasional. Di atas 100% berarti bank rugi secara operasional.</a:t>
            </a:r>
            <a:endParaRPr lang="en-US" sz="1350" dirty="0"/>
          </a:p>
        </p:txBody>
      </p:sp>
      <p:sp>
        <p:nvSpPr>
          <p:cNvPr id="21" name="Text 19"/>
          <p:cNvSpPr txBox="1"/>
          <p:nvPr/>
        </p:nvSpPr>
        <p:spPr>
          <a:xfrm>
            <a:off x="5669280" y="51892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atas 100% = tidak sehat</a:t>
            </a:r>
            <a:endParaRPr lang="en-US" sz="1050" dirty="0"/>
          </a:p>
        </p:txBody>
      </p:sp>
      <p:sp>
        <p:nvSpPr>
          <p:cNvPr id="22" name="Text 20"/>
          <p:cNvSpPr txBox="1"/>
          <p:nvPr/>
        </p:nvSpPr>
        <p:spPr>
          <a:xfrm>
            <a:off x="8229600" y="51709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SE BI No. 13/24/DPNP/2011, matriks peringkat kesehatan bank (RGEC).</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6"/>
              </a:rPr>
              <a:t>Matriks RGEC (jurnal, mengutip SE BI 13/24/DPNP/2011)</a:t>
            </a:r>
            <a:endParaRPr lang="en-US" sz="1000" dirty="0"/>
          </a:p>
        </p:txBody>
      </p:sp>
      <p:sp>
        <p:nvSpPr>
          <p:cNvPr id="23" name="Shape 21"/>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4" name="Text 22"/>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5" name="Shape 23"/>
          <p:cNvSpPr/>
          <p:nvPr/>
        </p:nvSpPr>
        <p:spPr>
          <a:xfrm>
            <a:off x="3840480" y="6373368"/>
            <a:ext cx="274320" cy="164592"/>
          </a:xfrm>
          <a:prstGeom prst="roundRect">
            <a:avLst>
              <a:gd name="adj" fmla="val 27778"/>
            </a:avLst>
          </a:prstGeom>
          <a:solidFill>
            <a:srgbClr val="E3F2EC"/>
          </a:solidFill>
          <a:ln w="12700">
            <a:solidFill>
              <a:srgbClr val="E3F2EC"/>
            </a:solidFill>
            <a:prstDash val="solid"/>
          </a:ln>
        </p:spPr>
      </p:sp>
      <p:sp>
        <p:nvSpPr>
          <p:cNvPr id="26" name="Text 24"/>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pic>
        <p:nvPicPr>
          <p:cNvPr id="27" name="Picture 26">
            <a:extLst>
              <a:ext uri="{FF2B5EF4-FFF2-40B4-BE49-F238E27FC236}">
                <a16:creationId xmlns:a16="http://schemas.microsoft.com/office/drawing/2014/main" id="{691456DB-2E95-B055-E031-5E41B8B53301}"/>
              </a:ext>
            </a:extLst>
          </p:cNvPr>
          <p:cNvPicPr>
            <a:picLocks noChangeAspect="1"/>
          </p:cNvPicPr>
          <p:nvPr/>
        </p:nvPicPr>
        <p:blipFill>
          <a:blip r:embed="rId7"/>
          <a:stretch>
            <a:fillRect/>
          </a:stretch>
        </p:blipFill>
        <p:spPr>
          <a:xfrm>
            <a:off x="8229600" y="2564611"/>
            <a:ext cx="1500809" cy="436107"/>
          </a:xfrm>
          <a:prstGeom prst="rect">
            <a:avLst/>
          </a:prstGeom>
        </p:spPr>
      </p:pic>
      <p:pic>
        <p:nvPicPr>
          <p:cNvPr id="28" name="Picture 27">
            <a:extLst>
              <a:ext uri="{FF2B5EF4-FFF2-40B4-BE49-F238E27FC236}">
                <a16:creationId xmlns:a16="http://schemas.microsoft.com/office/drawing/2014/main" id="{A69B4CD9-073B-364C-8C48-B6619B20CE30}"/>
              </a:ext>
            </a:extLst>
          </p:cNvPr>
          <p:cNvPicPr>
            <a:picLocks noChangeAspect="1"/>
          </p:cNvPicPr>
          <p:nvPr/>
        </p:nvPicPr>
        <p:blipFill>
          <a:blip r:embed="rId8"/>
          <a:stretch>
            <a:fillRect/>
          </a:stretch>
        </p:blipFill>
        <p:spPr>
          <a:xfrm>
            <a:off x="8225624" y="3642611"/>
            <a:ext cx="2845904" cy="336660"/>
          </a:xfrm>
          <a:prstGeom prst="rect">
            <a:avLst/>
          </a:prstGeom>
        </p:spPr>
      </p:pic>
      <p:pic>
        <p:nvPicPr>
          <p:cNvPr id="29" name="Picture 28">
            <a:extLst>
              <a:ext uri="{FF2B5EF4-FFF2-40B4-BE49-F238E27FC236}">
                <a16:creationId xmlns:a16="http://schemas.microsoft.com/office/drawing/2014/main" id="{A69C989F-B84F-92D1-EE4D-F87EC6B75605}"/>
              </a:ext>
            </a:extLst>
          </p:cNvPr>
          <p:cNvPicPr>
            <a:picLocks noChangeAspect="1"/>
          </p:cNvPicPr>
          <p:nvPr/>
        </p:nvPicPr>
        <p:blipFill>
          <a:blip r:embed="rId9"/>
          <a:stretch>
            <a:fillRect/>
          </a:stretch>
        </p:blipFill>
        <p:spPr>
          <a:xfrm>
            <a:off x="8227610" y="4440326"/>
            <a:ext cx="1482919" cy="597903"/>
          </a:xfrm>
          <a:prstGeom prst="rect">
            <a:avLst/>
          </a:prstGeom>
        </p:spPr>
      </p:pic>
      <p:pic>
        <p:nvPicPr>
          <p:cNvPr id="30" name="Picture 29">
            <a:extLst>
              <a:ext uri="{FF2B5EF4-FFF2-40B4-BE49-F238E27FC236}">
                <a16:creationId xmlns:a16="http://schemas.microsoft.com/office/drawing/2014/main" id="{2158F103-47AD-08F5-80CF-9E1458E0FBDB}"/>
              </a:ext>
            </a:extLst>
          </p:cNvPr>
          <p:cNvPicPr>
            <a:picLocks noChangeAspect="1"/>
          </p:cNvPicPr>
          <p:nvPr/>
        </p:nvPicPr>
        <p:blipFill>
          <a:blip r:embed="rId10"/>
          <a:stretch>
            <a:fillRect/>
          </a:stretch>
        </p:blipFill>
        <p:spPr>
          <a:xfrm>
            <a:off x="8225624" y="5639813"/>
            <a:ext cx="2194561" cy="8041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2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Kesehatan keuangan (bank)</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sp>
      <p:sp>
        <p:nvSpPr>
          <p:cNvPr id="9" name="Text 7"/>
          <p:cNvSpPr txBox="1"/>
          <p:nvPr/>
        </p:nvSpPr>
        <p:spPr>
          <a:xfrm>
            <a:off x="548640" y="2084832"/>
            <a:ext cx="1783080" cy="80238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CAR</a:t>
            </a:r>
            <a:endParaRPr lang="en-US" sz="1200" dirty="0"/>
          </a:p>
        </p:txBody>
      </p:sp>
      <p:sp>
        <p:nvSpPr>
          <p:cNvPr id="10" name="Text 8"/>
          <p:cNvSpPr txBox="1"/>
          <p:nvPr/>
        </p:nvSpPr>
        <p:spPr>
          <a:xfrm>
            <a:off x="2606040" y="2084832"/>
            <a:ext cx="2606040" cy="80238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?sections=financials</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a:t>
            </a:r>
            <a:endParaRPr lang="en-US" sz="850" dirty="0"/>
          </a:p>
        </p:txBody>
      </p:sp>
      <p:sp>
        <p:nvSpPr>
          <p:cNvPr id="11" name="Text 9"/>
          <p:cNvSpPr txBox="1"/>
          <p:nvPr/>
        </p:nvSpPr>
        <p:spPr>
          <a:xfrm>
            <a:off x="5486400" y="2084832"/>
            <a:ext cx="2011680" cy="80238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historical_financial_ratio[]</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  .capital.capital_adequacy_ratio</a:t>
            </a:r>
            <a:endParaRPr lang="en-US" sz="850" dirty="0"/>
          </a:p>
        </p:txBody>
      </p:sp>
      <p:sp>
        <p:nvSpPr>
          <p:cNvPr id="12" name="Text 10"/>
          <p:cNvSpPr txBox="1"/>
          <p:nvPr/>
        </p:nvSpPr>
        <p:spPr>
          <a:xfrm>
            <a:off x="7772400" y="2084832"/>
            <a:ext cx="3840480" cy="784098"/>
          </a:xfrm>
          <a:prstGeom prst="roundRect">
            <a:avLst>
              <a:gd name="adj" fmla="val 699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"historical_financial_ratio": [</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{"year": "2025",</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"capital": {"capital_adequacy_ratio": 0.27}}]</a:t>
            </a:r>
            <a:endParaRPr lang="en-US" sz="750" dirty="0"/>
          </a:p>
        </p:txBody>
      </p:sp>
      <p:sp>
        <p:nvSpPr>
          <p:cNvPr id="13" name="Shape 11"/>
          <p:cNvSpPr/>
          <p:nvPr/>
        </p:nvSpPr>
        <p:spPr>
          <a:xfrm>
            <a:off x="548640" y="2960370"/>
            <a:ext cx="11064240" cy="914"/>
          </a:xfrm>
          <a:prstGeom prst="line">
            <a:avLst/>
          </a:prstGeom>
          <a:noFill/>
          <a:ln w="15875">
            <a:solidFill>
              <a:srgbClr val="D5DAE0"/>
            </a:solidFill>
            <a:prstDash val="solid"/>
          </a:ln>
        </p:spPr>
      </p:sp>
      <p:sp>
        <p:nvSpPr>
          <p:cNvPr id="14" name="Text 12"/>
          <p:cNvSpPr txBox="1"/>
          <p:nvPr/>
        </p:nvSpPr>
        <p:spPr>
          <a:xfrm>
            <a:off x="548640" y="3033522"/>
            <a:ext cx="1783080" cy="80238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NPL gross</a:t>
            </a:r>
            <a:endParaRPr lang="en-US" sz="1200" dirty="0"/>
          </a:p>
        </p:txBody>
      </p:sp>
      <p:sp>
        <p:nvSpPr>
          <p:cNvPr id="15" name="Text 13"/>
          <p:cNvSpPr txBox="1"/>
          <p:nvPr/>
        </p:nvSpPr>
        <p:spPr>
          <a:xfrm>
            <a:off x="2606040" y="3033522"/>
            <a:ext cx="2606040" cy="80238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/v2/financials/quarterly/{symbol}/</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a:t>
            </a:r>
            <a:endParaRPr lang="en-US" sz="850" dirty="0"/>
          </a:p>
        </p:txBody>
      </p:sp>
      <p:sp>
        <p:nvSpPr>
          <p:cNvPr id="16" name="Text 14"/>
          <p:cNvSpPr txBox="1"/>
          <p:nvPr/>
        </p:nvSpPr>
        <p:spPr>
          <a:xfrm>
            <a:off x="5486400" y="3033522"/>
            <a:ext cx="2011680" cy="802386"/>
          </a:xfrm>
          <a:prstGeom prst="rect">
            <a:avLst/>
          </a:prstGeom>
          <a:noFill/>
          <a:ln/>
        </p:spPr>
        <p:txBody>
          <a:bodyPr wrap="square" lIns="0" tIns="0" rIns="0" bIns="0" rtlCol="0" anchor="t"/>
          <a:lstStyle/>
          <a:p>
            <a:pPr marL="0" indent="0">
              <a:buNone/>
            </a:pPr>
            <a:r>
              <a:rPr sz="850" b="0">
                <a:solidFill>
                  <a:srgbClr val="8E2F14"/>
                </a:solidFill>
                <a:latin typeface="Courier New"/>
              </a:rPr>
              <a:t>TIDAK ADA field NPL.</a:t>
            </a:r>
            <a:endParaRPr lang="en-US" sz="850" dirty="0"/>
          </a:p>
          <a:p>
            <a:r>
              <a:rPr sz="850" b="0">
                <a:solidFill>
                  <a:srgbClr val="8E2F14"/>
                </a:solidFill>
                <a:highlight>
                  <a:srgbClr val="FFFF00"/>
                </a:highlight>
                <a:latin typeface="Courier New"/>
              </a:rPr>
              <a:t>Proksi: abs(allowance_for_loans)</a:t>
            </a:r>
          </a:p>
          <a:p>
            <a:r>
              <a:rPr sz="850" b="0">
                <a:solidFill>
                  <a:srgbClr val="8E2F14"/>
                </a:solidFill>
                <a:latin typeface="Courier New"/>
              </a:rPr>
              <a:t>        / gross_loan</a:t>
            </a:r>
          </a:p>
          <a:p>
            <a:r>
              <a:rPr sz="850" b="0">
                <a:solidFill>
                  <a:srgbClr val="8E2F14"/>
                </a:solidFill>
                <a:highlight>
                  <a:srgbClr val="FFFF00"/>
                </a:highlight>
                <a:latin typeface="Courier New"/>
              </a:rPr>
              <a:t>// allowance bernilai NEGATIF</a:t>
            </a:r>
          </a:p>
        </p:txBody>
      </p:sp>
      <p:sp>
        <p:nvSpPr>
          <p:cNvPr id="17" name="Text 15"/>
          <p:cNvSpPr txBox="1"/>
          <p:nvPr/>
        </p:nvSpPr>
        <p:spPr>
          <a:xfrm>
            <a:off x="7772400" y="3033522"/>
            <a:ext cx="3840480" cy="784098"/>
          </a:xfrm>
          <a:prstGeom prst="roundRect">
            <a:avLst>
              <a:gd name="adj" fmla="val 6997"/>
            </a:avLst>
          </a:prstGeom>
          <a:solidFill>
            <a:srgbClr val="EEF1F4"/>
          </a:solidFill>
          <a:ln/>
        </p:spPr>
        <p:txBody>
          <a:bodyPr wrap="square" lIns="1016" tIns="1016" rIns="1016" bIns="1016" rtlCol="0" anchor="t"/>
          <a:lstStyle/>
          <a:p>
            <a:pPr marL="0" indent="0">
              <a:buNone/>
            </a:pPr>
            <a:r>
              <a:rPr sz="850" b="0">
                <a:solidFill>
                  <a:srgbClr val="1B2430"/>
                </a:solidFill>
                <a:latin typeface="Courier New"/>
              </a:rPr>
              <a:t>"financials_sector_metrics": {</a:t>
            </a:r>
            <a:endParaRPr lang="en-US" sz="750" dirty="0"/>
          </a:p>
          <a:p>
            <a:r>
              <a:rPr sz="850" b="0">
                <a:solidFill>
                  <a:srgbClr val="1B2430"/>
                </a:solidFill>
                <a:latin typeface="Courier New"/>
              </a:rPr>
              <a:t>  "gross_loan": 1012705846000000,</a:t>
            </a:r>
          </a:p>
          <a:p>
            <a:r>
              <a:rPr sz="850" b="0">
                <a:solidFill>
                  <a:srgbClr val="1B2430"/>
                </a:solidFill>
                <a:highlight>
                  <a:srgbClr val="FFFF00"/>
                </a:highlight>
                <a:latin typeface="Courier New"/>
              </a:rPr>
              <a:t>  "allowance_for_loans": -30705949000000}</a:t>
            </a:r>
          </a:p>
          <a:p>
            <a:r>
              <a:rPr sz="850" b="0">
                <a:solidFill>
                  <a:srgbClr val="1B2430"/>
                </a:solidFill>
                <a:highlight>
                  <a:srgbClr val="FFFF00"/>
                </a:highlight>
                <a:latin typeface="Courier New"/>
              </a:rPr>
              <a:t>// BBCA: proksi 0,030 setelah abs()</a:t>
            </a:r>
          </a:p>
        </p:txBody>
      </p:sp>
      <p:sp>
        <p:nvSpPr>
          <p:cNvPr id="18" name="Shape 16"/>
          <p:cNvSpPr/>
          <p:nvPr/>
        </p:nvSpPr>
        <p:spPr>
          <a:xfrm>
            <a:off x="548640" y="3909060"/>
            <a:ext cx="11064240" cy="914"/>
          </a:xfrm>
          <a:prstGeom prst="line">
            <a:avLst/>
          </a:prstGeom>
          <a:noFill/>
          <a:ln w="15875">
            <a:solidFill>
              <a:srgbClr val="D5DAE0"/>
            </a:solidFill>
            <a:prstDash val="solid"/>
          </a:ln>
        </p:spPr>
      </p:sp>
      <p:sp>
        <p:nvSpPr>
          <p:cNvPr id="19" name="Text 17"/>
          <p:cNvSpPr txBox="1"/>
          <p:nvPr/>
        </p:nvSpPr>
        <p:spPr>
          <a:xfrm>
            <a:off x="548640" y="3982212"/>
            <a:ext cx="1783080" cy="80238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RIM / LDR</a:t>
            </a:r>
            <a:endParaRPr lang="en-US" sz="1200" dirty="0"/>
          </a:p>
        </p:txBody>
      </p:sp>
      <p:sp>
        <p:nvSpPr>
          <p:cNvPr id="20" name="Text 18"/>
          <p:cNvSpPr txBox="1"/>
          <p:nvPr/>
        </p:nvSpPr>
        <p:spPr>
          <a:xfrm>
            <a:off x="2606040" y="3982212"/>
            <a:ext cx="2606040" cy="80238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?sections=financials</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reuse dari CAR</a:t>
            </a:r>
            <a:endParaRPr lang="en-US" sz="850" dirty="0"/>
          </a:p>
        </p:txBody>
      </p:sp>
      <p:sp>
        <p:nvSpPr>
          <p:cNvPr id="21" name="Text 19"/>
          <p:cNvSpPr txBox="1"/>
          <p:nvPr/>
        </p:nvSpPr>
        <p:spPr>
          <a:xfrm>
            <a:off x="5486400" y="3982212"/>
            <a:ext cx="2011680" cy="80238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historical_financial_ratio[]</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  .liquidity.loan_to_deposit_ratio</a:t>
            </a:r>
            <a:endParaRPr lang="en-US" sz="850" dirty="0"/>
          </a:p>
        </p:txBody>
      </p:sp>
      <p:sp>
        <p:nvSpPr>
          <p:cNvPr id="22" name="Text 20"/>
          <p:cNvSpPr txBox="1"/>
          <p:nvPr/>
        </p:nvSpPr>
        <p:spPr>
          <a:xfrm>
            <a:off x="7772400" y="3982212"/>
            <a:ext cx="3840480" cy="784098"/>
          </a:xfrm>
          <a:prstGeom prst="roundRect">
            <a:avLst>
              <a:gd name="adj" fmla="val 699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"liquidity": {</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"loan_to_deposit_ratio": 0.76,</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"casa_ratio": 0.85}</a:t>
            </a:r>
            <a:endParaRPr lang="en-US" sz="750" dirty="0"/>
          </a:p>
        </p:txBody>
      </p:sp>
      <p:sp>
        <p:nvSpPr>
          <p:cNvPr id="23" name="Shape 21"/>
          <p:cNvSpPr/>
          <p:nvPr/>
        </p:nvSpPr>
        <p:spPr>
          <a:xfrm>
            <a:off x="548640" y="4857750"/>
            <a:ext cx="11064240" cy="914"/>
          </a:xfrm>
          <a:prstGeom prst="line">
            <a:avLst/>
          </a:prstGeom>
          <a:noFill/>
          <a:ln w="15875">
            <a:solidFill>
              <a:srgbClr val="D5DAE0"/>
            </a:solidFill>
            <a:prstDash val="solid"/>
          </a:ln>
        </p:spPr>
      </p:sp>
      <p:sp>
        <p:nvSpPr>
          <p:cNvPr id="24" name="Text 22"/>
          <p:cNvSpPr txBox="1"/>
          <p:nvPr/>
        </p:nvSpPr>
        <p:spPr>
          <a:xfrm>
            <a:off x="548640" y="4930902"/>
            <a:ext cx="1783080" cy="80238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BOPO</a:t>
            </a:r>
            <a:endParaRPr lang="en-US" sz="1200" dirty="0"/>
          </a:p>
        </p:txBody>
      </p:sp>
      <p:sp>
        <p:nvSpPr>
          <p:cNvPr id="25" name="Text 23"/>
          <p:cNvSpPr txBox="1"/>
          <p:nvPr/>
        </p:nvSpPr>
        <p:spPr>
          <a:xfrm>
            <a:off x="2606040" y="4930902"/>
            <a:ext cx="2606040" cy="80238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?sections=financials</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reuse dari CAR</a:t>
            </a:r>
            <a:endParaRPr lang="en-US" sz="850" dirty="0"/>
          </a:p>
        </p:txBody>
      </p:sp>
      <p:sp>
        <p:nvSpPr>
          <p:cNvPr id="26" name="Text 24"/>
          <p:cNvSpPr txBox="1"/>
          <p:nvPr/>
        </p:nvSpPr>
        <p:spPr>
          <a:xfrm>
            <a:off x="5486400" y="4930902"/>
            <a:ext cx="2011680" cy="802386"/>
          </a:xfrm>
          <a:prstGeom prst="rect">
            <a:avLst/>
          </a:prstGeom>
          <a:noFill/>
          <a:ln/>
        </p:spPr>
        <p:txBody>
          <a:bodyPr wrap="square" lIns="0" tIns="0" rIns="0" bIns="0" rtlCol="0" anchor="t"/>
          <a:lstStyle/>
          <a:p>
            <a:pPr marL="0" indent="0">
              <a:buNone/>
            </a:pPr>
            <a:r>
              <a:rPr sz="850" b="0">
                <a:solidFill>
                  <a:srgbClr val="0F4A3B"/>
                </a:solidFill>
                <a:latin typeface="Courier New"/>
              </a:rPr>
              <a:t>historical_financial_ratio[]</a:t>
            </a:r>
            <a:endParaRPr lang="en-US" sz="850" dirty="0"/>
          </a:p>
          <a:p>
            <a:r>
              <a:rPr sz="850" b="0">
                <a:solidFill>
                  <a:srgbClr val="0F4A3B"/>
                </a:solidFill>
                <a:latin typeface="Courier New"/>
              </a:rPr>
              <a:t>  .profitability.cost_to_income_ratio</a:t>
            </a:r>
          </a:p>
          <a:p>
            <a:r>
              <a:rPr sz="850" b="0">
                <a:solidFill>
                  <a:srgbClr val="0F4A3B"/>
                </a:solidFill>
                <a:latin typeface="Courier New"/>
              </a:rPr>
              <a:t>(proksi terdekat untuk BOPO)</a:t>
            </a:r>
          </a:p>
          <a:p>
            <a:r>
              <a:rPr sz="850" b="0">
                <a:solidFill>
                  <a:srgbClr val="8E2F14"/>
                </a:solidFill>
                <a:highlight>
                  <a:srgbClr val="FFFF00"/>
                </a:highlight>
                <a:latin typeface="Courier New"/>
              </a:rPr>
              <a:t>// efficiency_ratio = roa → BUG</a:t>
            </a:r>
          </a:p>
        </p:txBody>
      </p:sp>
      <p:sp>
        <p:nvSpPr>
          <p:cNvPr id="27" name="Text 25"/>
          <p:cNvSpPr txBox="1"/>
          <p:nvPr/>
        </p:nvSpPr>
        <p:spPr>
          <a:xfrm>
            <a:off x="7772400" y="4930902"/>
            <a:ext cx="3840480" cy="784098"/>
          </a:xfrm>
          <a:prstGeom prst="roundRect">
            <a:avLst>
              <a:gd name="adj" fmla="val 699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"profitability": {</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"cost_to_income_ratio": 0.41,</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"net_interest_margin": 0.055}</a:t>
            </a:r>
            <a:endParaRPr lang="en-US" sz="750" dirty="0"/>
          </a:p>
        </p:txBody>
      </p:sp>
      <p:sp>
        <p:nvSpPr>
          <p:cNvPr id="28" name="Text 26"/>
          <p:cNvSpPr txBox="1"/>
          <p:nvPr/>
        </p:nvSpPr>
        <p:spPr>
          <a:xfrm>
            <a:off x="548640" y="5897880"/>
            <a:ext cx="11064240" cy="548640"/>
          </a:xfrm>
          <a:prstGeom prst="rect">
            <a:avLst/>
          </a:prstGeom>
          <a:noFill/>
          <a:ln/>
        </p:spPr>
        <p:txBody>
          <a:bodyPr wrap="square" lIns="0" tIns="0" rIns="0" bIns="0" rtlCol="0" anchor="ctr"/>
          <a:lstStyle/>
          <a:p>
            <a:pPr marL="0" indent="0">
              <a:buNone/>
            </a:pPr>
            <a:r>
              <a:rPr sz="1050" b="0">
                <a:solidFill>
                  <a:srgbClr val="5F6B78"/>
                </a:solidFill>
                <a:highlight>
                  <a:srgbClr val="FFFF00"/>
                </a:highlight>
                <a:latin typeface="Calibri"/>
              </a:rPr>
              <a:t>Semua rasio bank untuk satu subsektor bisa diambil sekali lewat screener dengan aritmetika di where: 46 dari 48 bank, 1 kredit. Emiten yang hilang karena null berstatus tidak_tersedia, bukan error.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3 — Valuasi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Harganya sudah kemahalan dibanding perusahaan sejenis?</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PER (price to earnings)</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Harga saham dibagi laba per saham. Kira-kira berapa tahun laba yang dibayar </a:t>
            </a:r>
            <a:r>
              <a:rPr lang="en-US" sz="1050" dirty="0" err="1">
                <a:solidFill>
                  <a:srgbClr val="5F6B78"/>
                </a:solidFill>
                <a:latin typeface="Calibri" pitchFamily="34" charset="0"/>
                <a:ea typeface="Calibri" pitchFamily="34" charset="-122"/>
                <a:cs typeface="Calibri" pitchFamily="34" charset="-120"/>
              </a:rPr>
              <a:t>untuk</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membeli</a:t>
            </a:r>
            <a:r>
              <a:rPr lang="en-US" sz="1050" dirty="0">
                <a:solidFill>
                  <a:srgbClr val="5F6B78"/>
                </a:solidFill>
                <a:latin typeface="Calibri" pitchFamily="34" charset="0"/>
                <a:ea typeface="Calibri" pitchFamily="34" charset="-122"/>
                <a:cs typeface="Calibri" pitchFamily="34" charset="-120"/>
              </a:rPr>
              <a:t>.</a:t>
            </a:r>
            <a:endParaRPr lang="en-US" sz="1350" dirty="0"/>
          </a:p>
        </p:txBody>
      </p:sp>
      <p:sp>
        <p:nvSpPr>
          <p:cNvPr id="9" name="Text 7"/>
          <p:cNvSpPr txBox="1"/>
          <p:nvPr/>
        </p:nvSpPr>
        <p:spPr>
          <a:xfrm>
            <a:off x="5669280" y="21031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atas 15 (Graham) atau di atas peer_avg subsektor</a:t>
            </a:r>
            <a:endParaRPr lang="en-US" sz="1050" dirty="0"/>
          </a:p>
        </p:txBody>
      </p:sp>
      <p:sp>
        <p:nvSpPr>
          <p:cNvPr id="10" name="Text 8"/>
          <p:cNvSpPr txBox="1"/>
          <p:nvPr/>
        </p:nvSpPr>
        <p:spPr>
          <a:xfrm>
            <a:off x="8229600" y="20848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Benjamin Graham, The Intelligent Investor. Rata-rata peer dari field pe_peer_avg di Sectors.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stablebread.com › Graham Number</a:t>
            </a:r>
            <a:endParaRPr lang="en-US" sz="1000" dirty="0"/>
          </a:p>
        </p:txBody>
      </p:sp>
      <p:sp>
        <p:nvSpPr>
          <p:cNvPr id="11" name="Shape 9"/>
          <p:cNvSpPr/>
          <p:nvPr/>
        </p:nvSpPr>
        <p:spPr>
          <a:xfrm>
            <a:off x="548640" y="3040380"/>
            <a:ext cx="11064240" cy="914"/>
          </a:xfrm>
          <a:prstGeom prst="line">
            <a:avLst/>
          </a:prstGeom>
          <a:noFill/>
          <a:ln w="15875">
            <a:solidFill>
              <a:srgbClr val="D5DAE0"/>
            </a:solidFill>
            <a:prstDash val="solid"/>
          </a:ln>
        </p:spPr>
      </p:sp>
      <p:sp>
        <p:nvSpPr>
          <p:cNvPr id="12" name="Text 10"/>
          <p:cNvSpPr txBox="1"/>
          <p:nvPr/>
        </p:nvSpPr>
        <p:spPr>
          <a:xfrm>
            <a:off x="548640" y="31135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PBV (price to book)</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Harga saham dibagi nilai buku per saham, yaitu kekayaan bersih di atas kertas.</a:t>
            </a:r>
            <a:endParaRPr lang="en-US" sz="1350" dirty="0"/>
          </a:p>
        </p:txBody>
      </p:sp>
      <p:sp>
        <p:nvSpPr>
          <p:cNvPr id="13" name="Text 11"/>
          <p:cNvSpPr txBox="1"/>
          <p:nvPr/>
        </p:nvSpPr>
        <p:spPr>
          <a:xfrm>
            <a:off x="5669280" y="31318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di atas 1,5 (Graham) atau di atas peer_avg subsektor</a:t>
            </a:r>
            <a:endParaRPr lang="en-US" sz="1050" dirty="0"/>
          </a:p>
        </p:txBody>
      </p:sp>
      <p:sp>
        <p:nvSpPr>
          <p:cNvPr id="14" name="Text 12"/>
          <p:cNvSpPr txBox="1"/>
          <p:nvPr/>
        </p:nvSpPr>
        <p:spPr>
          <a:xfrm>
            <a:off x="8229600" y="31135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Benjamin Graham, The Intelligent Investor. Rata-rata peer dari field pb_peer_avg di Sectors.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stablebread.com › Graham Number</a:t>
            </a:r>
            <a:endParaRPr lang="en-US" sz="1000" dirty="0"/>
          </a:p>
        </p:txBody>
      </p:sp>
      <p:sp>
        <p:nvSpPr>
          <p:cNvPr id="15" name="Shape 13"/>
          <p:cNvSpPr/>
          <p:nvPr/>
        </p:nvSpPr>
        <p:spPr>
          <a:xfrm>
            <a:off x="548640" y="4069080"/>
            <a:ext cx="11064240" cy="914"/>
          </a:xfrm>
          <a:prstGeom prst="line">
            <a:avLst/>
          </a:prstGeom>
          <a:noFill/>
          <a:ln w="15875">
            <a:solidFill>
              <a:srgbClr val="D5DAE0"/>
            </a:solidFill>
            <a:prstDash val="solid"/>
          </a:ln>
        </p:spPr>
      </p:sp>
      <p:sp>
        <p:nvSpPr>
          <p:cNvPr id="16" name="Text 14"/>
          <p:cNvSpPr txBox="1"/>
          <p:nvPr/>
        </p:nvSpPr>
        <p:spPr>
          <a:xfrm>
            <a:off x="548640" y="41422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Graham Number (Harga </a:t>
            </a:r>
            <a:r>
              <a:rPr lang="en-US" sz="1350" b="1" dirty="0" err="1">
                <a:solidFill>
                  <a:srgbClr val="1B2430"/>
                </a:solidFill>
                <a:latin typeface="Calibri" pitchFamily="34" charset="0"/>
                <a:ea typeface="Calibri" pitchFamily="34" charset="-122"/>
                <a:cs typeface="Calibri" pitchFamily="34" charset="-120"/>
              </a:rPr>
              <a:t>beli</a:t>
            </a:r>
            <a:r>
              <a:rPr lang="en-US" sz="1350" b="1" dirty="0">
                <a:solidFill>
                  <a:srgbClr val="1B2430"/>
                </a:solidFill>
                <a:latin typeface="Calibri" pitchFamily="34" charset="0"/>
                <a:ea typeface="Calibri" pitchFamily="34" charset="-122"/>
                <a:cs typeface="Calibri" pitchFamily="34" charset="-120"/>
              </a:rPr>
              <a:t> </a:t>
            </a:r>
            <a:r>
              <a:rPr lang="en-US" sz="1350" b="1" dirty="0" err="1">
                <a:solidFill>
                  <a:srgbClr val="1B2430"/>
                </a:solidFill>
                <a:latin typeface="Calibri" pitchFamily="34" charset="0"/>
                <a:ea typeface="Calibri" pitchFamily="34" charset="-122"/>
                <a:cs typeface="Calibri" pitchFamily="34" charset="-120"/>
              </a:rPr>
              <a:t>wajar</a:t>
            </a:r>
            <a:r>
              <a:rPr lang="en-US" sz="1350" b="1" dirty="0">
                <a:solidFill>
                  <a:srgbClr val="1B2430"/>
                </a:solidFill>
                <a:latin typeface="Calibri" pitchFamily="34" charset="0"/>
                <a:ea typeface="Calibri" pitchFamily="34" charset="-122"/>
                <a:cs typeface="Calibri" pitchFamily="34" charset="-120"/>
              </a:rPr>
              <a:t>)</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Akar dari 22,5 × EPS × nilai buku per saham. Batas harga wajar versi Graham untuk perusahaan stabil.</a:t>
            </a:r>
            <a:endParaRPr lang="en-US" sz="1350" dirty="0"/>
          </a:p>
        </p:txBody>
      </p:sp>
      <p:sp>
        <p:nvSpPr>
          <p:cNvPr id="17" name="Text 15"/>
          <p:cNvSpPr txBox="1"/>
          <p:nvPr/>
        </p:nvSpPr>
        <p:spPr>
          <a:xfrm>
            <a:off x="5669280" y="41605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harga di atas Graham Number</a:t>
            </a:r>
            <a:endParaRPr lang="en-US" sz="1050" dirty="0"/>
          </a:p>
        </p:txBody>
      </p:sp>
      <p:sp>
        <p:nvSpPr>
          <p:cNvPr id="18" name="Text 16"/>
          <p:cNvSpPr txBox="1"/>
          <p:nvPr/>
        </p:nvSpPr>
        <p:spPr>
          <a:xfrm>
            <a:off x="8229600" y="41422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Benjamin Graham (1949). Kurang cocok untuk perusahaan growth atau asset-light.</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stablebread.com › Graham Number</a:t>
            </a:r>
            <a:endParaRPr lang="en-US" sz="1000" dirty="0"/>
          </a:p>
        </p:txBody>
      </p:sp>
      <p:sp>
        <p:nvSpPr>
          <p:cNvPr id="19" name="Shape 17"/>
          <p:cNvSpPr/>
          <p:nvPr/>
        </p:nvSpPr>
        <p:spPr>
          <a:xfrm>
            <a:off x="548640" y="5097780"/>
            <a:ext cx="11064240" cy="914"/>
          </a:xfrm>
          <a:prstGeom prst="line">
            <a:avLst/>
          </a:prstGeom>
          <a:noFill/>
          <a:ln w="15875">
            <a:solidFill>
              <a:srgbClr val="D5DAE0"/>
            </a:solidFill>
            <a:prstDash val="solid"/>
          </a:ln>
        </p:spPr>
      </p:sp>
      <p:sp>
        <p:nvSpPr>
          <p:cNvPr id="20" name="Text 18"/>
          <p:cNvSpPr txBox="1"/>
          <p:nvPr/>
        </p:nvSpPr>
        <p:spPr>
          <a:xfrm>
            <a:off x="548640" y="51709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Relatif terhadap subsektor</a:t>
            </a:r>
            <a:endParaRPr lang="en-US" sz="1350" dirty="0"/>
          </a:p>
          <a:p>
            <a:pPr marL="0" indent="0">
              <a:buNone/>
            </a:pPr>
            <a:r>
              <a:rPr lang="en-US" sz="1050" dirty="0" err="1">
                <a:solidFill>
                  <a:srgbClr val="5F6B78"/>
                </a:solidFill>
                <a:latin typeface="Calibri" pitchFamily="34" charset="0"/>
                <a:ea typeface="Calibri" pitchFamily="34" charset="-122"/>
                <a:cs typeface="Calibri" pitchFamily="34" charset="-120"/>
              </a:rPr>
              <a:t>Posisi</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rasio</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dibanding</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seluruh</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perusahaan</a:t>
            </a:r>
            <a:r>
              <a:rPr lang="en-US" sz="1050" dirty="0">
                <a:solidFill>
                  <a:srgbClr val="5F6B78"/>
                </a:solidFill>
                <a:latin typeface="Calibri" pitchFamily="34" charset="0"/>
                <a:ea typeface="Calibri" pitchFamily="34" charset="-122"/>
                <a:cs typeface="Calibri" pitchFamily="34" charset="-120"/>
              </a:rPr>
              <a:t> di </a:t>
            </a:r>
            <a:r>
              <a:rPr lang="en-US" sz="1050" dirty="0" err="1">
                <a:solidFill>
                  <a:srgbClr val="5F6B78"/>
                </a:solidFill>
                <a:latin typeface="Calibri" pitchFamily="34" charset="0"/>
                <a:ea typeface="Calibri" pitchFamily="34" charset="-122"/>
                <a:cs typeface="Calibri" pitchFamily="34" charset="-120"/>
              </a:rPr>
              <a:t>subsektor</a:t>
            </a:r>
            <a:r>
              <a:rPr lang="en-US" sz="1050" dirty="0">
                <a:solidFill>
                  <a:srgbClr val="5F6B78"/>
                </a:solidFill>
                <a:latin typeface="Calibri" pitchFamily="34" charset="0"/>
                <a:ea typeface="Calibri" pitchFamily="34" charset="-122"/>
                <a:cs typeface="Calibri" pitchFamily="34" charset="-120"/>
              </a:rPr>
              <a:t> yang </a:t>
            </a:r>
            <a:r>
              <a:rPr lang="en-US" sz="1050" dirty="0" err="1">
                <a:solidFill>
                  <a:srgbClr val="5F6B78"/>
                </a:solidFill>
                <a:latin typeface="Calibri" pitchFamily="34" charset="0"/>
                <a:ea typeface="Calibri" pitchFamily="34" charset="-122"/>
                <a:cs typeface="Calibri" pitchFamily="34" charset="-120"/>
              </a:rPr>
              <a:t>sama</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Lebih</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adil</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daripada</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angka</a:t>
            </a:r>
            <a:r>
              <a:rPr lang="en-US" sz="1050" dirty="0">
                <a:solidFill>
                  <a:srgbClr val="5F6B78"/>
                </a:solidFill>
                <a:latin typeface="Calibri" pitchFamily="34" charset="0"/>
                <a:ea typeface="Calibri" pitchFamily="34" charset="-122"/>
                <a:cs typeface="Calibri" pitchFamily="34" charset="-120"/>
              </a:rPr>
              <a:t> </a:t>
            </a:r>
            <a:r>
              <a:rPr lang="en-US" sz="1050" dirty="0" err="1">
                <a:solidFill>
                  <a:srgbClr val="5F6B78"/>
                </a:solidFill>
                <a:latin typeface="Calibri" pitchFamily="34" charset="0"/>
                <a:ea typeface="Calibri" pitchFamily="34" charset="-122"/>
                <a:cs typeface="Calibri" pitchFamily="34" charset="-120"/>
              </a:rPr>
              <a:t>mutlak</a:t>
            </a:r>
            <a:r>
              <a:rPr lang="en-US" sz="1050" dirty="0">
                <a:solidFill>
                  <a:srgbClr val="5F6B78"/>
                </a:solidFill>
                <a:latin typeface="Calibri" pitchFamily="34" charset="0"/>
                <a:ea typeface="Calibri" pitchFamily="34" charset="-122"/>
                <a:cs typeface="Calibri" pitchFamily="34" charset="-120"/>
              </a:rPr>
              <a:t>.</a:t>
            </a:r>
            <a:endParaRPr lang="en-US" sz="1350" dirty="0"/>
          </a:p>
        </p:txBody>
      </p:sp>
      <p:sp>
        <p:nvSpPr>
          <p:cNvPr id="21" name="Text 19"/>
          <p:cNvSpPr txBox="1"/>
          <p:nvPr/>
        </p:nvSpPr>
        <p:spPr>
          <a:xfrm>
            <a:off x="5669280" y="5189220"/>
            <a:ext cx="2194560" cy="566928"/>
          </a:xfrm>
          <a:prstGeom prst="roundRect">
            <a:avLst>
              <a:gd name="adj" fmla="val 16129"/>
            </a:avLst>
          </a:prstGeom>
          <a:solidFill>
            <a:srgbClr val="E3F2EC"/>
          </a:solidFill>
          <a:ln/>
        </p:spPr>
        <p:txBody>
          <a:bodyPr wrap="square" lIns="1016" tIns="1016" rIns="1016" bIns="1016" rtlCol="0" anchor="ctr"/>
          <a:lstStyle/>
          <a:p>
            <a:pPr marL="0" indent="0" algn="l">
              <a:buNone/>
            </a:pPr>
            <a:r>
              <a:rPr lang="en-US" sz="1050" b="1" dirty="0">
                <a:solidFill>
                  <a:srgbClr val="0F4A3B"/>
                </a:solidFill>
                <a:latin typeface="Calibri" pitchFamily="34" charset="0"/>
                <a:ea typeface="Calibri" pitchFamily="34" charset="-122"/>
                <a:cs typeface="Calibri" pitchFamily="34" charset="-120"/>
              </a:rPr>
              <a:t>di atas persentil 75 subsektor</a:t>
            </a:r>
            <a:endParaRPr lang="en-US" sz="1050" dirty="0"/>
          </a:p>
        </p:txBody>
      </p:sp>
      <p:sp>
        <p:nvSpPr>
          <p:cNvPr id="22" name="Text 20"/>
          <p:cNvSpPr txBox="1"/>
          <p:nvPr/>
        </p:nvSpPr>
        <p:spPr>
          <a:xfrm>
            <a:off x="8229600" y="51709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Tidak ada ambang resmi. Persentil dihitung dari data screener Sectors per subsektor.</a:t>
            </a:r>
            <a:endParaRPr lang="en-US" sz="1000" dirty="0"/>
          </a:p>
        </p:txBody>
      </p:sp>
      <p:sp>
        <p:nvSpPr>
          <p:cNvPr id="23" name="Shape 21"/>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4" name="Text 22"/>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5" name="Shape 23"/>
          <p:cNvSpPr/>
          <p:nvPr/>
        </p:nvSpPr>
        <p:spPr>
          <a:xfrm>
            <a:off x="3840480" y="6373368"/>
            <a:ext cx="274320" cy="164592"/>
          </a:xfrm>
          <a:prstGeom prst="roundRect">
            <a:avLst>
              <a:gd name="adj" fmla="val 27778"/>
            </a:avLst>
          </a:prstGeom>
          <a:solidFill>
            <a:srgbClr val="E3F2EC"/>
          </a:solidFill>
          <a:ln w="12700">
            <a:solidFill>
              <a:srgbClr val="E3F2EC"/>
            </a:solidFill>
            <a:prstDash val="solid"/>
          </a:ln>
        </p:spPr>
      </p:sp>
      <p:sp>
        <p:nvSpPr>
          <p:cNvPr id="26" name="Text 24"/>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pic>
        <p:nvPicPr>
          <p:cNvPr id="27" name="Picture 26">
            <a:extLst>
              <a:ext uri="{FF2B5EF4-FFF2-40B4-BE49-F238E27FC236}">
                <a16:creationId xmlns:a16="http://schemas.microsoft.com/office/drawing/2014/main" id="{38C41605-4703-74C2-01BB-C03E7F813943}"/>
              </a:ext>
            </a:extLst>
          </p:cNvPr>
          <p:cNvPicPr>
            <a:picLocks noChangeAspect="1"/>
          </p:cNvPicPr>
          <p:nvPr/>
        </p:nvPicPr>
        <p:blipFill>
          <a:blip r:embed="rId4"/>
          <a:stretch>
            <a:fillRect/>
          </a:stretch>
        </p:blipFill>
        <p:spPr>
          <a:xfrm>
            <a:off x="8156050" y="2618842"/>
            <a:ext cx="3751028" cy="327759"/>
          </a:xfrm>
          <a:prstGeom prst="rect">
            <a:avLst/>
          </a:prstGeom>
        </p:spPr>
      </p:pic>
      <p:pic>
        <p:nvPicPr>
          <p:cNvPr id="28" name="Picture 27">
            <a:extLst>
              <a:ext uri="{FF2B5EF4-FFF2-40B4-BE49-F238E27FC236}">
                <a16:creationId xmlns:a16="http://schemas.microsoft.com/office/drawing/2014/main" id="{766BD4BC-C7A4-2CCD-5BB3-D44FC43C2636}"/>
              </a:ext>
            </a:extLst>
          </p:cNvPr>
          <p:cNvPicPr>
            <a:picLocks noChangeAspect="1"/>
          </p:cNvPicPr>
          <p:nvPr/>
        </p:nvPicPr>
        <p:blipFill>
          <a:blip r:embed="rId5"/>
          <a:stretch>
            <a:fillRect/>
          </a:stretch>
        </p:blipFill>
        <p:spPr>
          <a:xfrm>
            <a:off x="8229600" y="3596584"/>
            <a:ext cx="2503380" cy="4089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3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Valuasi</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sp>
      <p:sp>
        <p:nvSpPr>
          <p:cNvPr id="9" name="Text 7"/>
          <p:cNvSpPr txBox="1"/>
          <p:nvPr/>
        </p:nvSpPr>
        <p:spPr>
          <a:xfrm>
            <a:off x="548640" y="2084832"/>
            <a:ext cx="1783080" cy="128625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PER dan PBV vs peer</a:t>
            </a:r>
            <a:endParaRPr lang="en-US" sz="1200" dirty="0"/>
          </a:p>
        </p:txBody>
      </p:sp>
      <p:sp>
        <p:nvSpPr>
          <p:cNvPr id="10" name="Text 8"/>
          <p:cNvSpPr txBox="1"/>
          <p:nvPr/>
        </p:nvSpPr>
        <p:spPr>
          <a:xfrm>
            <a:off x="2606040" y="2084832"/>
            <a:ext cx="2606040" cy="128625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?sections=valuation</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a:t>
            </a:r>
            <a:endParaRPr lang="en-US" sz="850" dirty="0"/>
          </a:p>
        </p:txBody>
      </p:sp>
      <p:sp>
        <p:nvSpPr>
          <p:cNvPr id="11" name="Text 9"/>
          <p:cNvSpPr txBox="1"/>
          <p:nvPr/>
        </p:nvSpPr>
        <p:spPr>
          <a:xfrm>
            <a:off x="5486400" y="2084832"/>
            <a:ext cx="2011680" cy="128625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historical_valuation[].pe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historical_valuation[].pb</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  .pe_peer_avg, .pb_peer_avg</a:t>
            </a:r>
            <a:endParaRPr lang="en-US" sz="850" dirty="0"/>
          </a:p>
        </p:txBody>
      </p:sp>
      <p:sp>
        <p:nvSpPr>
          <p:cNvPr id="12" name="Text 10"/>
          <p:cNvSpPr txBox="1"/>
          <p:nvPr/>
        </p:nvSpPr>
        <p:spPr>
          <a:xfrm>
            <a:off x="7772400" y="2084832"/>
            <a:ext cx="3840480" cy="1267968"/>
          </a:xfrm>
          <a:prstGeom prst="roundRect">
            <a:avLst>
              <a:gd name="adj" fmla="val 432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"historical_valuation": [</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{"year": 2025, "pe": 13.2, "pb": 2.9,</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"pe_peer_avg": 15.1,</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"pb_peer_avg": 0.98}]</a:t>
            </a:r>
            <a:endParaRPr lang="en-US" sz="750" dirty="0"/>
          </a:p>
        </p:txBody>
      </p:sp>
      <p:sp>
        <p:nvSpPr>
          <p:cNvPr id="13" name="Shape 11"/>
          <p:cNvSpPr/>
          <p:nvPr/>
        </p:nvSpPr>
        <p:spPr>
          <a:xfrm>
            <a:off x="548640" y="3444240"/>
            <a:ext cx="11064240" cy="914"/>
          </a:xfrm>
          <a:prstGeom prst="line">
            <a:avLst/>
          </a:prstGeom>
          <a:noFill/>
          <a:ln w="15875">
            <a:solidFill>
              <a:srgbClr val="D5DAE0"/>
            </a:solidFill>
            <a:prstDash val="solid"/>
          </a:ln>
        </p:spPr>
      </p:sp>
      <p:sp>
        <p:nvSpPr>
          <p:cNvPr id="14" name="Text 12"/>
          <p:cNvSpPr txBox="1"/>
          <p:nvPr/>
        </p:nvSpPr>
        <p:spPr>
          <a:xfrm>
            <a:off x="548640" y="3517392"/>
            <a:ext cx="1783080" cy="128625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Graham Number</a:t>
            </a:r>
            <a:endParaRPr lang="en-US" sz="1200" dirty="0"/>
          </a:p>
        </p:txBody>
      </p:sp>
      <p:sp>
        <p:nvSpPr>
          <p:cNvPr id="15" name="Text 13"/>
          <p:cNvSpPr txBox="1"/>
          <p:nvPr/>
        </p:nvSpPr>
        <p:spPr>
          <a:xfrm>
            <a:off x="2606040" y="3517392"/>
            <a:ext cx="2606040" cy="128625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?sections=financials</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a:t>
            </a:r>
            <a:endParaRPr lang="en-US" sz="850" dirty="0"/>
          </a:p>
        </p:txBody>
      </p:sp>
      <p:sp>
        <p:nvSpPr>
          <p:cNvPr id="16" name="Text 14"/>
          <p:cNvSpPr txBox="1"/>
          <p:nvPr/>
        </p:nvSpPr>
        <p:spPr>
          <a:xfrm>
            <a:off x="5486400" y="3517392"/>
            <a:ext cx="2011680" cy="128625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financials.eps</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historical_financials[].total_equity</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historical_financials[].outstanding_shares</a:t>
            </a:r>
            <a:endParaRPr lang="en-US" sz="850" dirty="0"/>
          </a:p>
        </p:txBody>
      </p:sp>
      <p:sp>
        <p:nvSpPr>
          <p:cNvPr id="17" name="Text 15"/>
          <p:cNvSpPr txBox="1"/>
          <p:nvPr/>
        </p:nvSpPr>
        <p:spPr>
          <a:xfrm>
            <a:off x="7772400" y="3517392"/>
            <a:ext cx="3840480" cy="1267968"/>
          </a:xfrm>
          <a:prstGeom prst="roundRect">
            <a:avLst>
              <a:gd name="adj" fmla="val 432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"eps": 471.45,</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"total_equity": 281687555000000,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"outstanding_shares": 123275000000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BVPS = equity / shares</a:t>
            </a:r>
            <a:endParaRPr lang="en-US" sz="750" dirty="0"/>
          </a:p>
        </p:txBody>
      </p:sp>
      <p:sp>
        <p:nvSpPr>
          <p:cNvPr id="18" name="Shape 16"/>
          <p:cNvSpPr/>
          <p:nvPr/>
        </p:nvSpPr>
        <p:spPr>
          <a:xfrm>
            <a:off x="548640" y="4876800"/>
            <a:ext cx="11064240" cy="914"/>
          </a:xfrm>
          <a:prstGeom prst="line">
            <a:avLst/>
          </a:prstGeom>
          <a:noFill/>
          <a:ln w="15875">
            <a:solidFill>
              <a:srgbClr val="D5DAE0"/>
            </a:solidFill>
            <a:prstDash val="solid"/>
          </a:ln>
        </p:spPr>
      </p:sp>
      <p:sp>
        <p:nvSpPr>
          <p:cNvPr id="19" name="Text 17"/>
          <p:cNvSpPr txBox="1"/>
          <p:nvPr/>
        </p:nvSpPr>
        <p:spPr>
          <a:xfrm>
            <a:off x="548640" y="4949952"/>
            <a:ext cx="1783080" cy="128625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Relatif terhadap subsektor</a:t>
            </a:r>
            <a:endParaRPr lang="en-US" sz="1200" dirty="0"/>
          </a:p>
        </p:txBody>
      </p:sp>
      <p:sp>
        <p:nvSpPr>
          <p:cNvPr id="20" name="Text 18"/>
          <p:cNvSpPr txBox="1"/>
          <p:nvPr/>
        </p:nvSpPr>
        <p:spPr>
          <a:xfrm>
            <a:off x="2606040" y="4949952"/>
            <a:ext cx="2606040" cy="1286256"/>
          </a:xfrm>
          <a:prstGeom prst="rect">
            <a:avLst/>
          </a:prstGeom>
          <a:noFill/>
          <a:ln/>
        </p:spPr>
        <p:txBody>
          <a:bodyPr wrap="square" lIns="0" tIns="0" rIns="0" bIns="0" rtlCol="0" anchor="t"/>
          <a:lstStyle/>
          <a:p>
            <a:pPr marL="0" indent="0">
              <a:buNone/>
            </a:pPr>
            <a:r>
              <a:rPr sz="850" b="0">
                <a:solidFill>
                  <a:srgbClr val="1B2430"/>
                </a:solidFill>
                <a:latin typeface="Courier New"/>
              </a:rPr>
              <a:t>GET /v2/companies/</a:t>
            </a:r>
            <a:endParaRPr lang="en-US" sz="850" dirty="0"/>
          </a:p>
          <a:p>
            <a:r>
              <a:rPr sz="850" b="0">
                <a:solidFill>
                  <a:srgbClr val="1B2430"/>
                </a:solidFill>
                <a:latin typeface="Courier New"/>
              </a:rPr>
              <a:t>    ?where=sub_sector='Banks'</a:t>
            </a:r>
          </a:p>
          <a:p>
            <a:r>
              <a:rPr sz="850" b="0">
                <a:solidFill>
                  <a:srgbClr val="1B2430"/>
                </a:solidFill>
                <a:highlight>
                  <a:srgbClr val="FFFF00"/>
                </a:highlight>
                <a:latin typeface="Courier New"/>
              </a:rPr>
              <a:t>    &amp;order_by=-pe[2025]</a:t>
            </a:r>
          </a:p>
          <a:p>
            <a:r>
              <a:rPr sz="850" b="0">
                <a:solidFill>
                  <a:srgbClr val="1B2430"/>
                </a:solidFill>
                <a:highlight>
                  <a:srgbClr val="FFFF00"/>
                </a:highlight>
                <a:latin typeface="Courier New"/>
              </a:rPr>
              <a:t>    &amp;include_query_values=true</a:t>
            </a:r>
          </a:p>
          <a:p>
            <a:r>
              <a:rPr sz="900" b="0">
                <a:solidFill>
                  <a:srgbClr val="5F6B78"/>
                </a:solidFill>
                <a:highlight>
                  <a:srgbClr val="FFFF00"/>
                </a:highlight>
                <a:latin typeface="Calibri"/>
              </a:rPr>
              <a:t>1 kredit. order_by=-pe ditolak 400.</a:t>
            </a:r>
          </a:p>
        </p:txBody>
      </p:sp>
      <p:sp>
        <p:nvSpPr>
          <p:cNvPr id="21" name="Text 19"/>
          <p:cNvSpPr txBox="1"/>
          <p:nvPr/>
        </p:nvSpPr>
        <p:spPr>
          <a:xfrm>
            <a:off x="5486400" y="4949952"/>
            <a:ext cx="2011680" cy="1286256"/>
          </a:xfrm>
          <a:prstGeom prst="rect">
            <a:avLst/>
          </a:prstGeom>
          <a:noFill/>
          <a:ln/>
        </p:spPr>
        <p:txBody>
          <a:bodyPr wrap="square" lIns="0" tIns="0" rIns="0" bIns="0" rtlCol="0" anchor="t"/>
          <a:lstStyle/>
          <a:p>
            <a:pPr marL="0" indent="0">
              <a:buNone/>
            </a:pPr>
            <a:r>
              <a:rPr sz="850" b="0">
                <a:solidFill>
                  <a:srgbClr val="0F4A3B"/>
                </a:solidFill>
                <a:highlight>
                  <a:srgbClr val="FFFF00"/>
                </a:highlight>
                <a:latin typeface="Courier New"/>
              </a:rPr>
              <a:t>query_values["pe[2025]"]</a:t>
            </a:r>
            <a:endParaRPr lang="en-US" sz="850" dirty="0"/>
          </a:p>
          <a:p>
            <a:r>
              <a:rPr sz="850" b="0">
                <a:solidFill>
                  <a:srgbClr val="0F4A3B"/>
                </a:solidFill>
                <a:latin typeface="Courier New"/>
              </a:rPr>
              <a:t>→ persentil dihitung di kode</a:t>
            </a:r>
          </a:p>
          <a:p>
            <a:r>
              <a:rPr sz="850" b="0">
                <a:solidFill>
                  <a:srgbClr val="0F4A3B"/>
                </a:solidFill>
                <a:highlight>
                  <a:srgbClr val="FFFF00"/>
                </a:highlight>
                <a:latin typeface="Courier New"/>
              </a:rPr>
              <a:t>// null ikut kembali, di akhir</a:t>
            </a:r>
          </a:p>
        </p:txBody>
      </p:sp>
      <p:sp>
        <p:nvSpPr>
          <p:cNvPr id="22" name="Text 20"/>
          <p:cNvSpPr txBox="1"/>
          <p:nvPr/>
        </p:nvSpPr>
        <p:spPr>
          <a:xfrm>
            <a:off x="7772400" y="4949952"/>
            <a:ext cx="3840480" cy="1267968"/>
          </a:xfrm>
          <a:prstGeom prst="roundRect">
            <a:avLst>
              <a:gd name="adj" fmla="val 4327"/>
            </a:avLst>
          </a:prstGeom>
          <a:solidFill>
            <a:srgbClr val="EEF1F4"/>
          </a:solidFill>
          <a:ln/>
        </p:spPr>
        <p:txBody>
          <a:bodyPr wrap="square" lIns="1016" tIns="1016" rIns="1016" bIns="1016" rtlCol="0" anchor="t"/>
          <a:lstStyle/>
          <a:p>
            <a:pPr marL="0" indent="0">
              <a:buNone/>
            </a:pPr>
            <a:r>
              <a:rPr sz="850" b="0">
                <a:solidFill>
                  <a:srgbClr val="1B2430"/>
                </a:solidFill>
                <a:latin typeface="Courier New"/>
              </a:rPr>
              <a:t>"query_values": {</a:t>
            </a:r>
            <a:endParaRPr lang="en-US" sz="750" dirty="0"/>
          </a:p>
          <a:p>
            <a:r>
              <a:rPr sz="850" b="0">
                <a:solidFill>
                  <a:srgbClr val="1B2430"/>
                </a:solidFill>
                <a:latin typeface="Courier New"/>
              </a:rPr>
              <a:t>  "sub_sector": "Banks",</a:t>
            </a:r>
          </a:p>
          <a:p>
            <a:r>
              <a:rPr sz="850" b="0">
                <a:solidFill>
                  <a:srgbClr val="1B2430"/>
                </a:solidFill>
                <a:highlight>
                  <a:srgbClr val="FFFF00"/>
                </a:highlight>
                <a:latin typeface="Courier New"/>
              </a:rPr>
              <a:t>  "pe[2025]": 17.13}</a:t>
            </a:r>
          </a:p>
          <a:p>
            <a:r>
              <a:rPr sz="850" b="0">
                <a:solidFill>
                  <a:srgbClr val="1B2430"/>
                </a:solidFill>
                <a:highlight>
                  <a:srgbClr val="FFFF00"/>
                </a:highlight>
                <a:latin typeface="Courier New"/>
              </a:rPr>
              <a:t>// kunci = teks ekspresinya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4 — Kepemilikan dan orang dalam</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Orang yang tahu lebih dulu sedang beli atau jual?</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Insider menjual</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Direksi, komisaris, atau pemegang 5% ke atas melepas saham. Wajib dilaporkan dalam 5 hari kerja.</a:t>
            </a:r>
            <a:endParaRPr lang="en-US" sz="1350" dirty="0"/>
          </a:p>
        </p:txBody>
      </p:sp>
      <p:sp>
        <p:nvSpPr>
          <p:cNvPr id="9" name="Text 7"/>
          <p:cNvSpPr txBox="1"/>
          <p:nvPr/>
        </p:nvSpPr>
        <p:spPr>
          <a:xfrm>
            <a:off x="5669280" y="21031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penjualan dalam 30 hari terakhir (sinyal lemah)</a:t>
            </a:r>
            <a:endParaRPr lang="en-US" sz="1050" dirty="0"/>
          </a:p>
        </p:txBody>
      </p:sp>
      <p:sp>
        <p:nvSpPr>
          <p:cNvPr id="10" name="Text 8"/>
          <p:cNvSpPr txBox="1"/>
          <p:nvPr/>
        </p:nvSpPr>
        <p:spPr>
          <a:xfrm>
            <a:off x="8229600" y="2084832"/>
            <a:ext cx="3383280" cy="882396"/>
          </a:xfrm>
          <a:prstGeom prst="rect">
            <a:avLst/>
          </a:prstGeom>
          <a:noFill/>
          <a:ln/>
        </p:spPr>
        <p:txBody>
          <a:bodyPr wrap="square" lIns="0" tIns="0" rIns="0" bIns="0" rtlCol="0" anchor="t"/>
          <a:lstStyle/>
          <a:p>
            <a:pPr marL="0" indent="0">
              <a:buNone/>
            </a:pPr>
            <a:r>
              <a:rPr lang="en-US" sz="1000" dirty="0" err="1">
                <a:solidFill>
                  <a:srgbClr val="1B2430"/>
                </a:solidFill>
                <a:latin typeface="Calibri" pitchFamily="34" charset="0"/>
                <a:ea typeface="Calibri" pitchFamily="34" charset="-122"/>
                <a:cs typeface="Calibri" pitchFamily="34" charset="-120"/>
              </a:rPr>
              <a:t>Penjualan</a:t>
            </a:r>
            <a:r>
              <a:rPr lang="en-US" sz="1000" dirty="0">
                <a:solidFill>
                  <a:srgbClr val="1B2430"/>
                </a:solidFill>
                <a:latin typeface="Calibri" pitchFamily="34" charset="0"/>
                <a:ea typeface="Calibri" pitchFamily="34" charset="-122"/>
                <a:cs typeface="Calibri" pitchFamily="34" charset="-120"/>
              </a:rPr>
              <a:t> insider terbukti lemah sebagai prediktor (Lakonishok &amp; Lee, 2001).</a:t>
            </a:r>
          </a:p>
          <a:p>
            <a:r>
              <a:rPr lang="en-US" sz="1000" u="sng" dirty="0">
                <a:solidFill>
                  <a:srgbClr val="1E7A63"/>
                </a:solidFill>
                <a:latin typeface="Calibri" pitchFamily="34" charset="0"/>
                <a:ea typeface="Calibri" pitchFamily="34" charset="-122"/>
                <a:cs typeface="Calibri" pitchFamily="34" charset="-120"/>
                <a:hlinkClick r:id="rId3"/>
              </a:rPr>
              <a:t>ssrn.com › Are Insider Trades Informative?</a:t>
            </a:r>
            <a:endParaRPr lang="en-US" sz="1050" dirty="0"/>
          </a:p>
          <a:p>
            <a:pPr marL="0" indent="0">
              <a:buNone/>
            </a:pPr>
            <a:endParaRPr lang="en-US" sz="1000" dirty="0"/>
          </a:p>
        </p:txBody>
      </p:sp>
      <p:sp>
        <p:nvSpPr>
          <p:cNvPr id="11" name="Shape 9"/>
          <p:cNvSpPr/>
          <p:nvPr/>
        </p:nvSpPr>
        <p:spPr>
          <a:xfrm>
            <a:off x="548640" y="3040380"/>
            <a:ext cx="11064240" cy="914"/>
          </a:xfrm>
          <a:prstGeom prst="line">
            <a:avLst/>
          </a:prstGeom>
          <a:noFill/>
          <a:ln w="15875">
            <a:solidFill>
              <a:srgbClr val="D5DAE0"/>
            </a:solidFill>
            <a:prstDash val="solid"/>
          </a:ln>
        </p:spPr>
      </p:sp>
      <p:sp>
        <p:nvSpPr>
          <p:cNvPr id="12" name="Text 10"/>
          <p:cNvSpPr txBox="1"/>
          <p:nvPr/>
        </p:nvSpPr>
        <p:spPr>
          <a:xfrm>
            <a:off x="548640" y="31135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Insider membeli</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Kebalikannya. Pembelian orang dalam jauh lebih informatif daripada penjualannya.</a:t>
            </a:r>
            <a:endParaRPr lang="en-US" sz="1350" dirty="0"/>
          </a:p>
        </p:txBody>
      </p:sp>
      <p:sp>
        <p:nvSpPr>
          <p:cNvPr id="13" name="Text 11"/>
          <p:cNvSpPr txBox="1"/>
          <p:nvPr/>
        </p:nvSpPr>
        <p:spPr>
          <a:xfrm>
            <a:off x="5669280" y="3131820"/>
            <a:ext cx="2194560" cy="566928"/>
          </a:xfrm>
          <a:prstGeom prst="roundRect">
            <a:avLst>
              <a:gd name="adj" fmla="val 16129"/>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pembelian dalam 30 hari = bendera positif</a:t>
            </a:r>
            <a:endParaRPr lang="en-US" sz="1050" dirty="0"/>
          </a:p>
        </p:txBody>
      </p:sp>
      <p:sp>
        <p:nvSpPr>
          <p:cNvPr id="14" name="Text 12"/>
          <p:cNvSpPr txBox="1"/>
          <p:nvPr/>
        </p:nvSpPr>
        <p:spPr>
          <a:xfrm>
            <a:off x="8229600" y="31135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Lakonishok &amp; Lee (2001), Review of Financial Studies. Bukti dari pasar AS.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3"/>
              </a:rPr>
              <a:t>ssrn.com › Are Insider Trades Informative?</a:t>
            </a:r>
            <a:endParaRPr lang="en-US" sz="1000" dirty="0"/>
          </a:p>
        </p:txBody>
      </p:sp>
      <p:sp>
        <p:nvSpPr>
          <p:cNvPr id="15" name="Shape 13"/>
          <p:cNvSpPr/>
          <p:nvPr/>
        </p:nvSpPr>
        <p:spPr>
          <a:xfrm>
            <a:off x="548640" y="4069080"/>
            <a:ext cx="11064240" cy="914"/>
          </a:xfrm>
          <a:prstGeom prst="line">
            <a:avLst/>
          </a:prstGeom>
          <a:noFill/>
          <a:ln w="15875">
            <a:solidFill>
              <a:srgbClr val="D5DAE0"/>
            </a:solidFill>
            <a:prstDash val="solid"/>
          </a:ln>
        </p:spPr>
      </p:sp>
      <p:sp>
        <p:nvSpPr>
          <p:cNvPr id="16" name="Text 14"/>
          <p:cNvSpPr txBox="1"/>
          <p:nvPr/>
        </p:nvSpPr>
        <p:spPr>
          <a:xfrm>
            <a:off x="548640" y="41422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Konsentrasi pemegang saham</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Saham menumpuk di sedikit pihak. BEI mengeluarkan saham berkonsentrasi tinggi (HSC) dari indeks utama.</a:t>
            </a:r>
            <a:endParaRPr lang="en-US" sz="1350" dirty="0"/>
          </a:p>
        </p:txBody>
      </p:sp>
      <p:sp>
        <p:nvSpPr>
          <p:cNvPr id="17" name="Text 15"/>
          <p:cNvSpPr txBox="1"/>
          <p:nvPr/>
        </p:nvSpPr>
        <p:spPr>
          <a:xfrm>
            <a:off x="5669280" y="4160520"/>
            <a:ext cx="2194560" cy="566928"/>
          </a:xfrm>
          <a:prstGeom prst="roundRect">
            <a:avLst>
              <a:gd name="adj" fmla="val 16129"/>
            </a:avLst>
          </a:prstGeom>
          <a:solidFill>
            <a:srgbClr val="FBE7E0"/>
          </a:solidFill>
          <a:ln/>
        </p:spPr>
        <p:txBody>
          <a:bodyPr wrap="square" lIns="1016" tIns="1016" rIns="1016" bIns="1016" rtlCol="0" anchor="ctr"/>
          <a:lstStyle/>
          <a:p>
            <a:r>
              <a:rPr lang="en-US" sz="1050" b="1" dirty="0" err="1">
                <a:solidFill>
                  <a:srgbClr val="8E2F14"/>
                </a:solidFill>
                <a:latin typeface="Calibri" pitchFamily="34" charset="0"/>
                <a:ea typeface="Calibri" pitchFamily="34" charset="-122"/>
                <a:cs typeface="Calibri" pitchFamily="34" charset="-120"/>
              </a:rPr>
              <a:t>berstatus</a:t>
            </a:r>
            <a:r>
              <a:rPr lang="en-US" sz="1050" b="1" dirty="0">
                <a:solidFill>
                  <a:srgbClr val="8E2F14"/>
                </a:solidFill>
                <a:latin typeface="Calibri" pitchFamily="34" charset="0"/>
                <a:ea typeface="Calibri" pitchFamily="34" charset="-122"/>
                <a:cs typeface="Calibri" pitchFamily="34" charset="-120"/>
              </a:rPr>
              <a:t> HSC </a:t>
            </a:r>
            <a:r>
              <a:rPr lang="en-US" sz="1050" b="1" dirty="0">
                <a:solidFill>
                  <a:srgbClr val="8E2F14"/>
                </a:solidFill>
                <a:latin typeface="Calibri" pitchFamily="34" charset="0"/>
                <a:cs typeface="Calibri" pitchFamily="34" charset="-120"/>
              </a:rPr>
              <a:t>(</a:t>
            </a:r>
            <a:r>
              <a:rPr lang="en-ID" sz="1050" b="1" dirty="0" err="1">
                <a:solidFill>
                  <a:srgbClr val="8E2F14"/>
                </a:solidFill>
                <a:latin typeface="Calibri" pitchFamily="34" charset="0"/>
                <a:cs typeface="Calibri" pitchFamily="34" charset="-120"/>
              </a:rPr>
              <a:t>saham</a:t>
            </a:r>
            <a:r>
              <a:rPr lang="en-ID" sz="1050" b="1" dirty="0">
                <a:solidFill>
                  <a:srgbClr val="8E2F14"/>
                </a:solidFill>
                <a:latin typeface="Calibri" pitchFamily="34" charset="0"/>
                <a:cs typeface="Calibri" pitchFamily="34" charset="-120"/>
              </a:rPr>
              <a:t> yang </a:t>
            </a:r>
            <a:r>
              <a:rPr lang="en-ID" sz="1050" b="1" dirty="0" err="1">
                <a:solidFill>
                  <a:srgbClr val="8E2F14"/>
                </a:solidFill>
                <a:latin typeface="Calibri" pitchFamily="34" charset="0"/>
                <a:cs typeface="Calibri" pitchFamily="34" charset="-120"/>
              </a:rPr>
              <a:t>kepemilikannya</a:t>
            </a:r>
            <a:r>
              <a:rPr lang="en-ID" sz="1050" b="1" dirty="0">
                <a:solidFill>
                  <a:srgbClr val="8E2F14"/>
                </a:solidFill>
                <a:latin typeface="Calibri" pitchFamily="34" charset="0"/>
                <a:cs typeface="Calibri" pitchFamily="34" charset="-120"/>
              </a:rPr>
              <a:t> </a:t>
            </a:r>
            <a:r>
              <a:rPr lang="en-ID" sz="1050" b="1" dirty="0" err="1">
                <a:solidFill>
                  <a:srgbClr val="8E2F14"/>
                </a:solidFill>
                <a:latin typeface="Calibri" pitchFamily="34" charset="0"/>
                <a:cs typeface="Calibri" pitchFamily="34" charset="-120"/>
              </a:rPr>
              <a:t>menumpuk</a:t>
            </a:r>
            <a:r>
              <a:rPr lang="en-ID" sz="1050" b="1" dirty="0">
                <a:solidFill>
                  <a:srgbClr val="8E2F14"/>
                </a:solidFill>
                <a:latin typeface="Calibri" pitchFamily="34" charset="0"/>
                <a:cs typeface="Calibri" pitchFamily="34" charset="-120"/>
              </a:rPr>
              <a:t> di </a:t>
            </a:r>
            <a:r>
              <a:rPr lang="en-ID" sz="1050" b="1" dirty="0" err="1">
                <a:solidFill>
                  <a:srgbClr val="8E2F14"/>
                </a:solidFill>
                <a:latin typeface="Calibri" pitchFamily="34" charset="0"/>
                <a:cs typeface="Calibri" pitchFamily="34" charset="-120"/>
              </a:rPr>
              <a:t>segelintir</a:t>
            </a:r>
            <a:r>
              <a:rPr lang="en-ID" sz="1050" b="1" dirty="0">
                <a:solidFill>
                  <a:srgbClr val="8E2F14"/>
                </a:solidFill>
                <a:latin typeface="Calibri" pitchFamily="34" charset="0"/>
                <a:cs typeface="Calibri" pitchFamily="34" charset="-120"/>
              </a:rPr>
              <a:t> </a:t>
            </a:r>
            <a:r>
              <a:rPr lang="en-ID" sz="1050" b="1" dirty="0" err="1">
                <a:solidFill>
                  <a:srgbClr val="8E2F14"/>
                </a:solidFill>
                <a:latin typeface="Calibri" pitchFamily="34" charset="0"/>
                <a:cs typeface="Calibri" pitchFamily="34" charset="-120"/>
              </a:rPr>
              <a:t>pihak</a:t>
            </a:r>
            <a:r>
              <a:rPr lang="en-ID" sz="1050" b="1" dirty="0">
                <a:solidFill>
                  <a:srgbClr val="8E2F14"/>
                </a:solidFill>
                <a:latin typeface="Calibri" pitchFamily="34" charset="0"/>
                <a:cs typeface="Calibri" pitchFamily="34" charset="-120"/>
              </a:rPr>
              <a:t>)</a:t>
            </a:r>
            <a:r>
              <a:rPr lang="en-US" sz="1050" b="1" dirty="0">
                <a:solidFill>
                  <a:srgbClr val="8E2F14"/>
                </a:solidFill>
                <a:latin typeface="Calibri" pitchFamily="34" charset="0"/>
                <a:ea typeface="Calibri" pitchFamily="34" charset="-122"/>
                <a:cs typeface="Calibri" pitchFamily="34" charset="-120"/>
              </a:rPr>
              <a:t> menurut BEI</a:t>
            </a:r>
            <a:endParaRPr lang="en-US" sz="1050" dirty="0"/>
          </a:p>
        </p:txBody>
      </p:sp>
      <p:sp>
        <p:nvSpPr>
          <p:cNvPr id="18" name="Text 16"/>
          <p:cNvSpPr txBox="1"/>
          <p:nvPr/>
        </p:nvSpPr>
        <p:spPr>
          <a:xfrm>
            <a:off x="8229600" y="41422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Panduan dan Metodologi Indeks IDX80, LQ45, IDX30 (BEI, 2026).</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4"/>
              </a:rPr>
              <a:t>idx.co.id › Metodologi indeks (PDF)</a:t>
            </a:r>
            <a:endParaRPr lang="en-US" sz="1000" dirty="0"/>
          </a:p>
        </p:txBody>
      </p:sp>
      <p:sp>
        <p:nvSpPr>
          <p:cNvPr id="19" name="Shape 17"/>
          <p:cNvSpPr/>
          <p:nvPr/>
        </p:nvSpPr>
        <p:spPr>
          <a:xfrm>
            <a:off x="548640" y="5097780"/>
            <a:ext cx="11064240" cy="914"/>
          </a:xfrm>
          <a:prstGeom prst="line">
            <a:avLst/>
          </a:prstGeom>
          <a:noFill/>
          <a:ln w="15875">
            <a:solidFill>
              <a:srgbClr val="D5DAE0"/>
            </a:solidFill>
            <a:prstDash val="solid"/>
          </a:ln>
        </p:spPr>
      </p:sp>
      <p:sp>
        <p:nvSpPr>
          <p:cNvPr id="20" name="Text 18"/>
          <p:cNvSpPr txBox="1"/>
          <p:nvPr/>
        </p:nvSpPr>
        <p:spPr>
          <a:xfrm>
            <a:off x="548640" y="51709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Porsi ritel melonjak</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Komposisi pemegang saham: porsi individu naik sementara institusi turun, tanda pemain besar melepas ke ritel.</a:t>
            </a:r>
            <a:endParaRPr lang="en-US" sz="1350" dirty="0"/>
          </a:p>
        </p:txBody>
      </p:sp>
      <p:sp>
        <p:nvSpPr>
          <p:cNvPr id="21" name="Text 19"/>
          <p:cNvSpPr txBox="1"/>
          <p:nvPr/>
        </p:nvSpPr>
        <p:spPr>
          <a:xfrm>
            <a:off x="5669280" y="5189220"/>
            <a:ext cx="2194560" cy="566928"/>
          </a:xfrm>
          <a:prstGeom prst="roundRect">
            <a:avLst>
              <a:gd name="adj" fmla="val 16129"/>
            </a:avLst>
          </a:prstGeom>
          <a:solidFill>
            <a:srgbClr val="E3F2EC"/>
          </a:solidFill>
          <a:ln/>
        </p:spPr>
        <p:txBody>
          <a:bodyPr wrap="square" lIns="1016" tIns="1016" rIns="1016" bIns="1016" rtlCol="0" anchor="ctr"/>
          <a:lstStyle/>
          <a:p>
            <a:pPr marL="0" indent="0" algn="l">
              <a:buNone/>
            </a:pPr>
            <a:r>
              <a:rPr lang="en-US" sz="1050" b="1" dirty="0">
                <a:solidFill>
                  <a:srgbClr val="0F4A3B"/>
                </a:solidFill>
                <a:latin typeface="Calibri" pitchFamily="34" charset="0"/>
                <a:ea typeface="Calibri" pitchFamily="34" charset="-122"/>
                <a:cs typeface="Calibri" pitchFamily="34" charset="-120"/>
              </a:rPr>
              <a:t>kenaikan porsi individu di atas persentil 90</a:t>
            </a:r>
            <a:endParaRPr lang="en-US" sz="1050" dirty="0"/>
          </a:p>
        </p:txBody>
      </p:sp>
      <p:sp>
        <p:nvSpPr>
          <p:cNvPr id="22" name="Text 20"/>
          <p:cNvSpPr txBox="1"/>
          <p:nvPr/>
        </p:nvSpPr>
        <p:spPr>
          <a:xfrm>
            <a:off x="8229600" y="5170932"/>
            <a:ext cx="3383280" cy="88239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Tidak ada ambang resmi. Diturunkan dari riwayat komposisi pemegang saham di Sectors.</a:t>
            </a:r>
            <a:endParaRPr lang="en-US" sz="1000" dirty="0"/>
          </a:p>
        </p:txBody>
      </p:sp>
      <p:sp>
        <p:nvSpPr>
          <p:cNvPr id="23" name="Shape 21"/>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4" name="Text 22"/>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5" name="Shape 23"/>
          <p:cNvSpPr/>
          <p:nvPr/>
        </p:nvSpPr>
        <p:spPr>
          <a:xfrm>
            <a:off x="3840480" y="6373368"/>
            <a:ext cx="274320" cy="164592"/>
          </a:xfrm>
          <a:prstGeom prst="roundRect">
            <a:avLst>
              <a:gd name="adj" fmla="val 27778"/>
            </a:avLst>
          </a:prstGeom>
          <a:solidFill>
            <a:srgbClr val="E3F2EC"/>
          </a:solidFill>
          <a:ln w="12700">
            <a:solidFill>
              <a:srgbClr val="E3F2EC"/>
            </a:solidFill>
            <a:prstDash val="solid"/>
          </a:ln>
        </p:spPr>
      </p:sp>
      <p:sp>
        <p:nvSpPr>
          <p:cNvPr id="26" name="Text 24"/>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4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Kepemilikan dan orang dalam</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sp>
      <p:sp>
        <p:nvSpPr>
          <p:cNvPr id="9" name="Text 7"/>
          <p:cNvSpPr txBox="1"/>
          <p:nvPr/>
        </p:nvSpPr>
        <p:spPr>
          <a:xfrm>
            <a:off x="548640" y="2084832"/>
            <a:ext cx="1783080" cy="128625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Insider menjual / membeli</a:t>
            </a:r>
            <a:endParaRPr lang="en-US" sz="1200" dirty="0"/>
          </a:p>
        </p:txBody>
      </p:sp>
      <p:sp>
        <p:nvSpPr>
          <p:cNvPr id="10" name="Text 8"/>
          <p:cNvSpPr txBox="1"/>
          <p:nvPr/>
        </p:nvSpPr>
        <p:spPr>
          <a:xfrm>
            <a:off x="2606040" y="2084832"/>
            <a:ext cx="2606040" cy="1286256"/>
          </a:xfrm>
          <a:prstGeom prst="rect">
            <a:avLst/>
          </a:prstGeom>
          <a:noFill/>
          <a:ln/>
        </p:spPr>
        <p:txBody>
          <a:bodyPr wrap="square" lIns="0" tIns="0" rIns="0" bIns="0" rtlCol="0" anchor="t"/>
          <a:lstStyle/>
          <a:p>
            <a:pPr marL="0" indent="0">
              <a:buNone/>
            </a:pPr>
            <a:r>
              <a:rPr sz="850" b="0">
                <a:solidFill>
                  <a:srgbClr val="1B2430"/>
                </a:solidFill>
                <a:latin typeface="Courier New"/>
              </a:rPr>
              <a:t>GET /v2/filings/?symbol=ANTM</a:t>
            </a:r>
            <a:endParaRPr lang="en-US" sz="850" dirty="0"/>
          </a:p>
          <a:p>
            <a:r>
              <a:rPr sz="850" b="0">
                <a:solidFill>
                  <a:srgbClr val="1B2430"/>
                </a:solidFill>
                <a:latin typeface="Courier New"/>
              </a:rPr>
              <a:t>    &amp;holder_type=insider&amp;start=</a:t>
            </a:r>
          </a:p>
          <a:p>
            <a:r>
              <a:rPr sz="900" b="0">
                <a:solidFill>
                  <a:srgbClr val="5F6B78"/>
                </a:solidFill>
                <a:highlight>
                  <a:srgbClr val="FFFF00"/>
                </a:highlight>
                <a:latin typeface="Calibri"/>
              </a:rPr>
              <a:t>1 kredit. Default 20 per halaman.</a:t>
            </a:r>
          </a:p>
        </p:txBody>
      </p:sp>
      <p:sp>
        <p:nvSpPr>
          <p:cNvPr id="11" name="Text 9"/>
          <p:cNvSpPr txBox="1"/>
          <p:nvPr/>
        </p:nvSpPr>
        <p:spPr>
          <a:xfrm>
            <a:off x="5486400" y="2084832"/>
            <a:ext cx="2011680" cy="128625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results[].transaction_type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results[].share_percentage_transaction</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results[].transaction_value, .timestamp</a:t>
            </a:r>
            <a:endParaRPr lang="en-US" sz="850" dirty="0"/>
          </a:p>
        </p:txBody>
      </p:sp>
      <p:sp>
        <p:nvSpPr>
          <p:cNvPr id="12" name="Text 10"/>
          <p:cNvSpPr txBox="1"/>
          <p:nvPr/>
        </p:nvSpPr>
        <p:spPr>
          <a:xfrm>
            <a:off x="7772400" y="2084832"/>
            <a:ext cx="3840480" cy="1267968"/>
          </a:xfrm>
          <a:prstGeom prst="roundRect">
            <a:avLst>
              <a:gd name="adj" fmla="val 432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"results": [{"transaction_type": "sell",</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"holder_type": "insider",</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"share_percentage_transaction": 0.4,</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"transaction_value": 48000000000}]</a:t>
            </a:r>
            <a:endParaRPr lang="en-US" sz="750" dirty="0"/>
          </a:p>
        </p:txBody>
      </p:sp>
      <p:sp>
        <p:nvSpPr>
          <p:cNvPr id="13" name="Shape 11"/>
          <p:cNvSpPr/>
          <p:nvPr/>
        </p:nvSpPr>
        <p:spPr>
          <a:xfrm>
            <a:off x="548640" y="3444240"/>
            <a:ext cx="11064240" cy="914"/>
          </a:xfrm>
          <a:prstGeom prst="line">
            <a:avLst/>
          </a:prstGeom>
          <a:noFill/>
          <a:ln w="15875">
            <a:solidFill>
              <a:srgbClr val="D5DAE0"/>
            </a:solidFill>
            <a:prstDash val="solid"/>
          </a:ln>
        </p:spPr>
      </p:sp>
      <p:sp>
        <p:nvSpPr>
          <p:cNvPr id="14" name="Text 12"/>
          <p:cNvSpPr txBox="1"/>
          <p:nvPr/>
        </p:nvSpPr>
        <p:spPr>
          <a:xfrm>
            <a:off x="548640" y="3517392"/>
            <a:ext cx="1783080" cy="128625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Konsentrasi pemegang saham</a:t>
            </a:r>
            <a:endParaRPr lang="en-US" sz="1200" dirty="0"/>
          </a:p>
        </p:txBody>
      </p:sp>
      <p:sp>
        <p:nvSpPr>
          <p:cNvPr id="15" name="Text 13"/>
          <p:cNvSpPr txBox="1"/>
          <p:nvPr/>
        </p:nvSpPr>
        <p:spPr>
          <a:xfrm>
            <a:off x="2606040" y="3517392"/>
            <a:ext cx="2606040" cy="128625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/v2/company/report/{symbol}/</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?sections=ownership</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reuse dari free float</a:t>
            </a:r>
            <a:endParaRPr lang="en-US" sz="900" dirty="0">
              <a:solidFill>
                <a:srgbClr val="5F6B78"/>
              </a:solidFill>
              <a:latin typeface="Calibri" pitchFamily="34" charset="0"/>
              <a:cs typeface="Calibri" pitchFamily="34" charset="-120"/>
            </a:endParaRPr>
          </a:p>
          <a:p>
            <a:r>
              <a:rPr lang="en-ID" sz="800" b="1" dirty="0"/>
              <a:t>Tapi </a:t>
            </a:r>
            <a:r>
              <a:rPr lang="en-ID" sz="800" b="1" dirty="0" err="1"/>
              <a:t>ada</a:t>
            </a:r>
            <a:r>
              <a:rPr lang="en-ID" sz="800" b="1" dirty="0"/>
              <a:t> </a:t>
            </a:r>
            <a:r>
              <a:rPr lang="en-ID" sz="800" b="1" dirty="0" err="1"/>
              <a:t>pilihan</a:t>
            </a:r>
            <a:r>
              <a:rPr lang="en-ID" sz="800" b="1" dirty="0"/>
              <a:t> yang </a:t>
            </a:r>
            <a:r>
              <a:rPr lang="en-ID" sz="800" b="1" dirty="0" err="1"/>
              <a:t>lebih</a:t>
            </a:r>
            <a:r>
              <a:rPr lang="en-ID" sz="800" b="1" dirty="0"/>
              <a:t> </a:t>
            </a:r>
            <a:r>
              <a:rPr lang="en-ID" sz="800" b="1" dirty="0" err="1"/>
              <a:t>baik</a:t>
            </a:r>
            <a:endParaRPr lang="en-ID" sz="800" b="1" dirty="0"/>
          </a:p>
          <a:p>
            <a:r>
              <a:rPr lang="en-ID" sz="800" dirty="0"/>
              <a:t>Karena BEI </a:t>
            </a:r>
            <a:r>
              <a:rPr lang="en-ID" sz="800" dirty="0" err="1"/>
              <a:t>sudah</a:t>
            </a:r>
            <a:r>
              <a:rPr lang="en-ID" sz="800" dirty="0"/>
              <a:t> </a:t>
            </a:r>
            <a:r>
              <a:rPr lang="en-ID" sz="800" dirty="0" err="1"/>
              <a:t>mengumumkan</a:t>
            </a:r>
            <a:r>
              <a:rPr lang="en-ID" sz="800" dirty="0"/>
              <a:t> daftar HSC-</a:t>
            </a:r>
            <a:r>
              <a:rPr lang="en-ID" sz="800" dirty="0" err="1"/>
              <a:t>nya</a:t>
            </a:r>
            <a:r>
              <a:rPr lang="en-ID" sz="800" dirty="0"/>
              <a:t> — </a:t>
            </a:r>
            <a:r>
              <a:rPr lang="en-ID" sz="800" dirty="0" err="1"/>
              <a:t>sekitar</a:t>
            </a:r>
            <a:r>
              <a:rPr lang="en-ID" sz="800" dirty="0"/>
              <a:t> 51 </a:t>
            </a:r>
            <a:r>
              <a:rPr lang="en-ID" sz="800" dirty="0" err="1"/>
              <a:t>saham</a:t>
            </a:r>
            <a:r>
              <a:rPr lang="en-ID" sz="800" dirty="0"/>
              <a:t> per Juli 2026 — Anda punya </a:t>
            </a:r>
            <a:r>
              <a:rPr lang="en-ID" sz="800" dirty="0" err="1"/>
              <a:t>cara</a:t>
            </a:r>
            <a:r>
              <a:rPr lang="en-ID" sz="800" dirty="0"/>
              <a:t> yang </a:t>
            </a:r>
            <a:r>
              <a:rPr lang="en-ID" sz="800" dirty="0" err="1"/>
              <a:t>jauh</a:t>
            </a:r>
            <a:r>
              <a:rPr lang="en-ID" sz="800" dirty="0"/>
              <a:t> </a:t>
            </a:r>
            <a:r>
              <a:rPr lang="en-ID" sz="800" dirty="0" err="1"/>
              <a:t>lebih</a:t>
            </a:r>
            <a:r>
              <a:rPr lang="en-ID" sz="800" dirty="0"/>
              <a:t> </a:t>
            </a:r>
            <a:r>
              <a:rPr lang="en-ID" sz="800" dirty="0" err="1"/>
              <a:t>akurat</a:t>
            </a:r>
            <a:r>
              <a:rPr lang="en-ID" sz="800" dirty="0"/>
              <a:t>: </a:t>
            </a:r>
            <a:r>
              <a:rPr lang="en-ID" sz="800" b="1" dirty="0" err="1"/>
              <a:t>kalibrasi</a:t>
            </a:r>
            <a:r>
              <a:rPr lang="en-ID" sz="800" b="1" dirty="0"/>
              <a:t> </a:t>
            </a:r>
            <a:r>
              <a:rPr lang="en-ID" sz="800" b="1" dirty="0" err="1"/>
              <a:t>ke</a:t>
            </a:r>
            <a:r>
              <a:rPr lang="en-ID" sz="800" b="1" dirty="0"/>
              <a:t> daftar </a:t>
            </a:r>
            <a:r>
              <a:rPr lang="en-ID" sz="800" b="1" dirty="0" err="1"/>
              <a:t>itu</a:t>
            </a:r>
            <a:r>
              <a:rPr lang="en-ID" sz="800" b="1" dirty="0"/>
              <a:t>.</a:t>
            </a:r>
            <a:endParaRPr lang="en-ID" sz="800" dirty="0"/>
          </a:p>
          <a:p>
            <a:r>
              <a:rPr lang="en-ID" sz="800" dirty="0" err="1"/>
              <a:t>Hitung</a:t>
            </a:r>
            <a:r>
              <a:rPr lang="en-ID" sz="800" dirty="0"/>
              <a:t> </a:t>
            </a:r>
            <a:r>
              <a:rPr lang="en-ID" sz="800" dirty="0" err="1"/>
              <a:t>konsentrasi</a:t>
            </a:r>
            <a:r>
              <a:rPr lang="en-ID" sz="800" dirty="0"/>
              <a:t> </a:t>
            </a:r>
            <a:r>
              <a:rPr lang="en-ID" sz="800" dirty="0" err="1"/>
              <a:t>untuk</a:t>
            </a:r>
            <a:r>
              <a:rPr lang="en-ID" sz="800" dirty="0"/>
              <a:t> </a:t>
            </a:r>
            <a:r>
              <a:rPr lang="en-ID" sz="800" dirty="0" err="1"/>
              <a:t>semua</a:t>
            </a:r>
            <a:r>
              <a:rPr lang="en-ID" sz="800" dirty="0"/>
              <a:t> </a:t>
            </a:r>
            <a:r>
              <a:rPr lang="en-ID" sz="800" dirty="0" err="1"/>
              <a:t>emiten</a:t>
            </a:r>
            <a:r>
              <a:rPr lang="en-ID" sz="800" dirty="0"/>
              <a:t>, </a:t>
            </a:r>
            <a:r>
              <a:rPr lang="en-ID" sz="800" dirty="0" err="1"/>
              <a:t>lihat</a:t>
            </a:r>
            <a:r>
              <a:rPr lang="en-ID" sz="800" dirty="0"/>
              <a:t> </a:t>
            </a:r>
            <a:r>
              <a:rPr lang="en-ID" sz="800" dirty="0" err="1"/>
              <a:t>berapa</a:t>
            </a:r>
            <a:r>
              <a:rPr lang="en-ID" sz="800" dirty="0"/>
              <a:t> </a:t>
            </a:r>
            <a:r>
              <a:rPr lang="en-ID" sz="800" dirty="0" err="1"/>
              <a:t>nilai</a:t>
            </a:r>
            <a:r>
              <a:rPr lang="en-ID" sz="800" dirty="0"/>
              <a:t> </a:t>
            </a:r>
            <a:r>
              <a:rPr lang="en-ID" sz="800" dirty="0" err="1"/>
              <a:t>konsentrasi</a:t>
            </a:r>
            <a:r>
              <a:rPr lang="en-ID" sz="800" dirty="0"/>
              <a:t> </a:t>
            </a:r>
            <a:r>
              <a:rPr lang="en-ID" sz="800" dirty="0" err="1"/>
              <a:t>emiten</a:t>
            </a:r>
            <a:r>
              <a:rPr lang="en-ID" sz="800" dirty="0"/>
              <a:t> yang </a:t>
            </a:r>
            <a:r>
              <a:rPr lang="en-ID" sz="800" dirty="0" err="1"/>
              <a:t>benar-benar</a:t>
            </a:r>
            <a:r>
              <a:rPr lang="en-ID" sz="800" dirty="0"/>
              <a:t> </a:t>
            </a:r>
            <a:r>
              <a:rPr lang="en-ID" sz="800" dirty="0" err="1"/>
              <a:t>masuk</a:t>
            </a:r>
            <a:r>
              <a:rPr lang="en-ID" sz="800" dirty="0"/>
              <a:t> daftar HSC BEI, </a:t>
            </a:r>
            <a:r>
              <a:rPr lang="en-ID" sz="800" dirty="0" err="1"/>
              <a:t>lalu</a:t>
            </a:r>
            <a:r>
              <a:rPr lang="en-ID" sz="800" dirty="0"/>
              <a:t> </a:t>
            </a:r>
            <a:r>
              <a:rPr lang="en-ID" sz="800" dirty="0" err="1"/>
              <a:t>tetapkan</a:t>
            </a:r>
            <a:r>
              <a:rPr lang="en-ID" sz="800" dirty="0"/>
              <a:t> </a:t>
            </a:r>
            <a:r>
              <a:rPr lang="en-ID" sz="800" dirty="0" err="1"/>
              <a:t>ambang</a:t>
            </a:r>
            <a:r>
              <a:rPr lang="en-ID" sz="800" dirty="0"/>
              <a:t> Anda di </a:t>
            </a:r>
            <a:r>
              <a:rPr lang="en-ID" sz="800" dirty="0" err="1"/>
              <a:t>sekitar</a:t>
            </a:r>
            <a:r>
              <a:rPr lang="en-ID" sz="800" dirty="0"/>
              <a:t> situ.</a:t>
            </a:r>
          </a:p>
          <a:p>
            <a:pPr marL="0" indent="0">
              <a:buNone/>
            </a:pPr>
            <a:endParaRPr lang="en-US" sz="800" dirty="0"/>
          </a:p>
        </p:txBody>
      </p:sp>
      <p:sp>
        <p:nvSpPr>
          <p:cNvPr id="16" name="Text 14"/>
          <p:cNvSpPr txBox="1"/>
          <p:nvPr/>
        </p:nvSpPr>
        <p:spPr>
          <a:xfrm>
            <a:off x="5486400" y="3517392"/>
            <a:ext cx="2011680" cy="1286256"/>
          </a:xfrm>
          <a:prstGeom prst="rect">
            <a:avLst/>
          </a:prstGeom>
          <a:noFill/>
          <a:ln/>
        </p:spPr>
        <p:txBody>
          <a:bodyPr wrap="square" lIns="0" tIns="0" rIns="0" bIns="0" rtlCol="0" anchor="t"/>
          <a:lstStyle/>
          <a:p>
            <a:pPr marL="0" indent="0">
              <a:buNone/>
            </a:pPr>
            <a:r>
              <a:rPr lang="en-US" sz="850" dirty="0">
                <a:solidFill>
                  <a:srgbClr val="8E2F14"/>
                </a:solidFill>
                <a:latin typeface="Courier New" pitchFamily="34" charset="0"/>
                <a:ea typeface="Courier New" pitchFamily="34" charset="-122"/>
                <a:cs typeface="Courier New" pitchFamily="34" charset="-120"/>
              </a:rPr>
              <a:t>Status HSC BEI TIDAK ADA.TRESSHOLD DITENTUKAN DENGAN MEMBANDINGKAN DENGAN EMITEN LAIN.</a:t>
            </a:r>
            <a:endParaRPr lang="en-US" sz="850" dirty="0"/>
          </a:p>
          <a:p>
            <a:pPr marL="0" indent="0">
              <a:buNone/>
            </a:pPr>
            <a:r>
              <a:rPr lang="en-US" sz="850" dirty="0" err="1">
                <a:solidFill>
                  <a:srgbClr val="8E2F14"/>
                </a:solidFill>
                <a:latin typeface="Courier New" pitchFamily="34" charset="0"/>
                <a:ea typeface="Courier New" pitchFamily="34" charset="-122"/>
                <a:cs typeface="Courier New" pitchFamily="34" charset="-120"/>
              </a:rPr>
              <a:t>Proksi</a:t>
            </a:r>
            <a:r>
              <a:rPr lang="en-US" sz="850" dirty="0">
                <a:solidFill>
                  <a:srgbClr val="8E2F14"/>
                </a:solidFill>
                <a:latin typeface="Courier New" pitchFamily="34" charset="0"/>
                <a:ea typeface="Courier New" pitchFamily="34" charset="-122"/>
                <a:cs typeface="Courier New" pitchFamily="34" charset="-120"/>
              </a:rPr>
              <a:t>: major_shareholders[]</a:t>
            </a:r>
            <a:endParaRPr lang="en-US" sz="850" dirty="0"/>
          </a:p>
          <a:p>
            <a:pPr marL="0" indent="0">
              <a:buNone/>
            </a:pPr>
            <a:r>
              <a:rPr lang="en-US" sz="850" dirty="0">
                <a:solidFill>
                  <a:srgbClr val="8E2F14"/>
                </a:solidFill>
                <a:latin typeface="Courier New" pitchFamily="34" charset="0"/>
                <a:ea typeface="Courier New" pitchFamily="34" charset="-122"/>
                <a:cs typeface="Courier New" pitchFamily="34" charset="-120"/>
              </a:rPr>
              <a:t>        .</a:t>
            </a:r>
            <a:r>
              <a:rPr lang="en-US" sz="850" dirty="0" err="1">
                <a:solidFill>
                  <a:srgbClr val="8E2F14"/>
                </a:solidFill>
                <a:latin typeface="Courier New" pitchFamily="34" charset="0"/>
                <a:ea typeface="Courier New" pitchFamily="34" charset="-122"/>
                <a:cs typeface="Courier New" pitchFamily="34" charset="-120"/>
              </a:rPr>
              <a:t>share_percentage</a:t>
            </a:r>
            <a:r>
              <a:rPr lang="en-US" sz="850" dirty="0">
                <a:solidFill>
                  <a:srgbClr val="8E2F14"/>
                </a:solidFill>
                <a:latin typeface="Courier New" pitchFamily="34" charset="0"/>
                <a:ea typeface="Courier New" pitchFamily="34" charset="-122"/>
                <a:cs typeface="Courier New" pitchFamily="34" charset="-120"/>
              </a:rPr>
              <a:t> </a:t>
            </a:r>
            <a:r>
              <a:rPr lang="en-US" sz="850" dirty="0" err="1">
                <a:solidFill>
                  <a:srgbClr val="8E2F14"/>
                </a:solidFill>
                <a:latin typeface="Courier New" pitchFamily="34" charset="0"/>
                <a:ea typeface="Courier New" pitchFamily="34" charset="-122"/>
                <a:cs typeface="Courier New" pitchFamily="34" charset="-120"/>
              </a:rPr>
              <a:t>teratas</a:t>
            </a:r>
            <a:endParaRPr lang="en-US" sz="850" dirty="0">
              <a:solidFill>
                <a:srgbClr val="8E2F14"/>
              </a:solidFill>
              <a:latin typeface="Courier New" pitchFamily="34" charset="0"/>
              <a:ea typeface="Courier New" pitchFamily="34" charset="-122"/>
              <a:cs typeface="Courier New" pitchFamily="34" charset="-120"/>
            </a:endParaRPr>
          </a:p>
          <a:p>
            <a:pPr marL="0" indent="0">
              <a:buNone/>
            </a:pPr>
            <a:endParaRPr lang="en-US" sz="850" dirty="0">
              <a:solidFill>
                <a:srgbClr val="8E2F14"/>
              </a:solidFill>
              <a:latin typeface="Courier New" pitchFamily="34" charset="0"/>
              <a:cs typeface="Courier New" pitchFamily="34" charset="-120"/>
            </a:endParaRPr>
          </a:p>
          <a:p>
            <a:pPr marL="0" indent="0">
              <a:buNone/>
            </a:pPr>
            <a:endParaRPr lang="en-US" sz="850" dirty="0"/>
          </a:p>
        </p:txBody>
      </p:sp>
      <p:sp>
        <p:nvSpPr>
          <p:cNvPr id="17" name="Text 15"/>
          <p:cNvSpPr txBox="1"/>
          <p:nvPr/>
        </p:nvSpPr>
        <p:spPr>
          <a:xfrm>
            <a:off x="7772400" y="3517392"/>
            <a:ext cx="3840480" cy="1267968"/>
          </a:xfrm>
          <a:prstGeom prst="roundRect">
            <a:avLst>
              <a:gd name="adj" fmla="val 432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"major_shareholders": [</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{"name": "PT Dwimuria Investama",</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"share_percentage": "0.549"}, ...]</a:t>
            </a:r>
            <a:endParaRPr lang="en-US" sz="750" dirty="0"/>
          </a:p>
        </p:txBody>
      </p:sp>
      <p:sp>
        <p:nvSpPr>
          <p:cNvPr id="18" name="Shape 16"/>
          <p:cNvSpPr/>
          <p:nvPr/>
        </p:nvSpPr>
        <p:spPr>
          <a:xfrm>
            <a:off x="548640" y="4876800"/>
            <a:ext cx="11064240" cy="914"/>
          </a:xfrm>
          <a:prstGeom prst="line">
            <a:avLst/>
          </a:prstGeom>
          <a:noFill/>
          <a:ln w="15875">
            <a:solidFill>
              <a:srgbClr val="D5DAE0"/>
            </a:solidFill>
            <a:prstDash val="solid"/>
          </a:ln>
        </p:spPr>
      </p:sp>
      <p:sp>
        <p:nvSpPr>
          <p:cNvPr id="19" name="Text 17"/>
          <p:cNvSpPr txBox="1"/>
          <p:nvPr/>
        </p:nvSpPr>
        <p:spPr>
          <a:xfrm>
            <a:off x="548640" y="4949952"/>
            <a:ext cx="1783080" cy="128625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Porsi ritel melonjak</a:t>
            </a:r>
            <a:endParaRPr lang="en-US" sz="1200" dirty="0"/>
          </a:p>
        </p:txBody>
      </p:sp>
      <p:sp>
        <p:nvSpPr>
          <p:cNvPr id="20" name="Text 18"/>
          <p:cNvSpPr txBox="1"/>
          <p:nvPr/>
        </p:nvSpPr>
        <p:spPr>
          <a:xfrm>
            <a:off x="2606040" y="4949952"/>
            <a:ext cx="2606040" cy="1286256"/>
          </a:xfrm>
          <a:prstGeom prst="rect">
            <a:avLst/>
          </a:prstGeom>
          <a:noFill/>
          <a:ln/>
        </p:spPr>
        <p:txBody>
          <a:bodyPr wrap="square" lIns="0" tIns="0" rIns="0" bIns="0" rtlCol="0" anchor="t"/>
          <a:lstStyle/>
          <a:p>
            <a:pPr marL="0" indent="0">
              <a:buNone/>
            </a:pPr>
            <a:r>
              <a:rPr sz="850" b="0">
                <a:solidFill>
                  <a:srgbClr val="1B2430"/>
                </a:solidFill>
                <a:latin typeface="Courier New"/>
              </a:rPr>
              <a:t>GET /v2/company/shareholders-composition/</a:t>
            </a:r>
            <a:endParaRPr lang="en-US" sz="850" dirty="0"/>
          </a:p>
          <a:p>
            <a:r>
              <a:rPr sz="850" b="0">
                <a:solidFill>
                  <a:srgbClr val="1B2430"/>
                </a:solidFill>
                <a:latin typeface="Courier New"/>
              </a:rPr>
              <a:t>    {symbol}/?year=2026</a:t>
            </a:r>
          </a:p>
          <a:p>
            <a:r>
              <a:rPr sz="900" b="0">
                <a:solidFill>
                  <a:srgbClr val="5F6B78"/>
                </a:solidFill>
                <a:highlight>
                  <a:srgbClr val="FFFF00"/>
                </a:highlight>
                <a:latin typeface="Calibri"/>
              </a:rPr>
              <a:t>1 kredit. Data BULANAN, terbaru dulu.</a:t>
            </a:r>
          </a:p>
        </p:txBody>
      </p:sp>
      <p:sp>
        <p:nvSpPr>
          <p:cNvPr id="21" name="Text 19"/>
          <p:cNvSpPr txBox="1"/>
          <p:nvPr/>
        </p:nvSpPr>
        <p:spPr>
          <a:xfrm>
            <a:off x="5486400" y="4949952"/>
            <a:ext cx="2011680" cy="1286256"/>
          </a:xfrm>
          <a:prstGeom prst="rect">
            <a:avLst/>
          </a:prstGeom>
          <a:noFill/>
          <a:ln/>
        </p:spPr>
        <p:txBody>
          <a:bodyPr wrap="square" lIns="0" tIns="0" rIns="0" bIns="0" rtlCol="0" anchor="t"/>
          <a:lstStyle/>
          <a:p>
            <a:pPr marL="0" indent="0">
              <a:buNone/>
            </a:pPr>
            <a:r>
              <a:rPr sz="850" b="0">
                <a:solidFill>
                  <a:srgbClr val="0F4A3B"/>
                </a:solidFill>
                <a:latin typeface="Courier New"/>
              </a:rPr>
              <a:t>data[].date</a:t>
            </a:r>
            <a:endParaRPr lang="en-US" sz="850" dirty="0"/>
          </a:p>
          <a:p>
            <a:r>
              <a:rPr sz="850" b="0">
                <a:solidFill>
                  <a:srgbClr val="0F4A3B"/>
                </a:solidFill>
                <a:latin typeface="Courier New"/>
              </a:rPr>
              <a:t>data[].individual_l, .individual_f</a:t>
            </a:r>
          </a:p>
          <a:p>
            <a:r>
              <a:rPr sz="850" b="0">
                <a:solidFill>
                  <a:srgbClr val="0F4A3B"/>
                </a:solidFill>
                <a:latin typeface="Courier New"/>
              </a:rPr>
              <a:t>data[].total_l, .total_f</a:t>
            </a:r>
          </a:p>
          <a:p>
            <a:r>
              <a:rPr sz="850" b="0">
                <a:solidFill>
                  <a:srgbClr val="0F4A3B"/>
                </a:solidFill>
                <a:highlight>
                  <a:srgbClr val="FFFF00"/>
                </a:highlight>
                <a:latin typeface="Courier New"/>
              </a:rPr>
              <a:t>// 8 titik: Jan–Agu 2026</a:t>
            </a:r>
          </a:p>
        </p:txBody>
      </p:sp>
      <p:sp>
        <p:nvSpPr>
          <p:cNvPr id="22" name="Text 20"/>
          <p:cNvSpPr txBox="1"/>
          <p:nvPr/>
        </p:nvSpPr>
        <p:spPr>
          <a:xfrm>
            <a:off x="7772400" y="4949952"/>
            <a:ext cx="3840480" cy="1267968"/>
          </a:xfrm>
          <a:prstGeom prst="roundRect">
            <a:avLst>
              <a:gd name="adj" fmla="val 4327"/>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"data": [{"date": "2026-06-30",</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"individual_l": 11100401696,</a:t>
            </a:r>
          </a:p>
          <a:p>
            <a:r>
              <a:rPr lang="en-US" sz="750" dirty="0">
                <a:solidFill>
                  <a:srgbClr val="1B2430"/>
                </a:solidFill>
                <a:latin typeface="Courier New" pitchFamily="34" charset="0"/>
                <a:ea typeface="Courier New" pitchFamily="34" charset="-122"/>
                <a:cs typeface="Courier New" pitchFamily="34" charset="-120"/>
              </a:rPr>
              <a:t> "</a:t>
            </a:r>
            <a:r>
              <a:rPr lang="en-US" sz="750" dirty="0" err="1">
                <a:solidFill>
                  <a:srgbClr val="1B2430"/>
                </a:solidFill>
                <a:latin typeface="Courier New" pitchFamily="34" charset="0"/>
                <a:ea typeface="Courier New" pitchFamily="34" charset="-122"/>
                <a:cs typeface="Courier New" pitchFamily="34" charset="-120"/>
              </a:rPr>
              <a:t>individual_f</a:t>
            </a:r>
            <a:r>
              <a:rPr lang="en-US" sz="750" dirty="0">
                <a:solidFill>
                  <a:srgbClr val="1B2430"/>
                </a:solidFill>
                <a:latin typeface="Courier New" pitchFamily="34" charset="0"/>
                <a:ea typeface="Courier New" pitchFamily="34" charset="-122"/>
                <a:cs typeface="Courier New" pitchFamily="34" charset="-120"/>
              </a:rPr>
              <a:t>": 8100401696,</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"total_l": 16303936654,</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"total_f": 36149754466}]</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5 — Perilaku harga</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Harganya bergerak wajar atau liar?</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Menyentuh ARA atau ARB</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Batas harian bursa: naik maksimal 35/25/20% tergantung harga, turun maksimal 15%. Saham yang sering menyentuhnya sedang tidak normal.</a:t>
            </a:r>
            <a:endParaRPr lang="en-US" sz="1350" dirty="0"/>
          </a:p>
        </p:txBody>
      </p:sp>
      <p:sp>
        <p:nvSpPr>
          <p:cNvPr id="10" name="Text 8"/>
          <p:cNvSpPr txBox="1"/>
          <p:nvPr/>
        </p:nvSpPr>
        <p:spPr>
          <a:xfrm>
            <a:off x="8229600" y="2084832"/>
            <a:ext cx="3383280" cy="882396"/>
          </a:xfrm>
          <a:prstGeom prst="rect">
            <a:avLst/>
          </a:prstGeom>
          <a:noFill/>
          <a:ln/>
        </p:spPr>
        <p:txBody>
          <a:bodyPr wrap="square" lIns="0" tIns="0" rIns="0" bIns="0" rtlCol="0" anchor="t"/>
          <a:lstStyle/>
          <a:p>
            <a:r>
              <a:rPr sz="1000" b="0">
                <a:solidFill>
                  <a:srgbClr val="1B2430"/>
                </a:solidFill>
                <a:highlight>
                  <a:srgbClr val="FFFF00"/>
                </a:highlight>
                <a:latin typeface="Calibri"/>
              </a:rPr>
              <a:t>Batas dari SK Kep-00003/BEI/04-2025. Frekuensi pemicu tidak punya sumber resmi, diturunkan dari data.</a:t>
            </a:r>
            <a:endParaRPr lang="en-US" sz="1000" dirty="0"/>
          </a:p>
        </p:txBody>
      </p:sp>
      <p:sp>
        <p:nvSpPr>
          <p:cNvPr id="11" name="Shape 9"/>
          <p:cNvSpPr/>
          <p:nvPr/>
        </p:nvSpPr>
        <p:spPr>
          <a:xfrm>
            <a:off x="548640" y="3040380"/>
            <a:ext cx="11064240" cy="914"/>
          </a:xfrm>
          <a:prstGeom prst="line">
            <a:avLst/>
          </a:prstGeom>
          <a:noFill/>
          <a:ln w="15875">
            <a:solidFill>
              <a:srgbClr val="D5DAE0"/>
            </a:solidFill>
            <a:prstDash val="solid"/>
          </a:ln>
        </p:spPr>
      </p:sp>
      <p:sp>
        <p:nvSpPr>
          <p:cNvPr id="12" name="Text 10"/>
          <p:cNvSpPr txBox="1"/>
          <p:nvPr/>
        </p:nvSpPr>
        <p:spPr>
          <a:xfrm>
            <a:off x="548640" y="31135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Volatilitas 90 hari</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Seberapa liar harga bergoyang. Saham yang bergerak 10% sehari jauh lebih berisiko dari yang bergerak 1%.</a:t>
            </a:r>
            <a:endParaRPr lang="en-US" sz="1350" dirty="0"/>
          </a:p>
        </p:txBody>
      </p:sp>
      <p:sp>
        <p:nvSpPr>
          <p:cNvPr id="13" name="Text 11"/>
          <p:cNvSpPr txBox="1"/>
          <p:nvPr/>
        </p:nvSpPr>
        <p:spPr>
          <a:xfrm>
            <a:off x="5669280" y="3131820"/>
            <a:ext cx="2194560" cy="566928"/>
          </a:xfrm>
          <a:prstGeom prst="roundRect">
            <a:avLst>
              <a:gd name="adj" fmla="val 16129"/>
            </a:avLst>
          </a:prstGeom>
          <a:solidFill>
            <a:srgbClr val="E3F2EC"/>
          </a:solidFill>
          <a:ln/>
        </p:spPr>
        <p:txBody>
          <a:bodyPr wrap="square" lIns="1016" tIns="1016" rIns="1016" bIns="1016" rtlCol="0" anchor="ctr"/>
          <a:lstStyle/>
          <a:p>
            <a:pPr marL="0" indent="0" algn="l">
              <a:buNone/>
            </a:pPr>
            <a:r>
              <a:rPr sz="1050" b="1">
                <a:solidFill>
                  <a:srgbClr val="0F4A3B"/>
                </a:solidFill>
                <a:highlight>
                  <a:srgbClr val="FFFF00"/>
                </a:highlight>
                <a:latin typeface="Calibri"/>
              </a:rPr>
              <a:t>di atas persentil 90 subsektor</a:t>
            </a:r>
            <a:endParaRPr lang="en-US" sz="1050" dirty="0"/>
          </a:p>
        </p:txBody>
      </p:sp>
      <p:sp>
        <p:nvSpPr>
          <p:cNvPr id="14" name="Text 12"/>
          <p:cNvSpPr txBox="1"/>
          <p:nvPr/>
        </p:nvSpPr>
        <p:spPr>
          <a:xfrm>
            <a:off x="8229600" y="3113532"/>
            <a:ext cx="3383280" cy="882396"/>
          </a:xfrm>
          <a:prstGeom prst="rect">
            <a:avLst/>
          </a:prstGeom>
          <a:noFill/>
          <a:ln/>
        </p:spPr>
        <p:txBody>
          <a:bodyPr wrap="square" lIns="0" tIns="0" rIns="0" bIns="0" rtlCol="0" anchor="t"/>
          <a:lstStyle/>
          <a:p>
            <a:pPr marL="0" indent="0">
              <a:buNone/>
            </a:pPr>
            <a:r>
              <a:rPr sz="1000" b="0">
                <a:solidFill>
                  <a:srgbClr val="1B2430"/>
                </a:solidFill>
                <a:highlight>
                  <a:srgbClr val="FFFF00"/>
                </a:highlight>
                <a:latin typeface="Calibri"/>
              </a:rPr>
              <a:t>Tidak ada ambang resmi. Diturunkan dari 90 hari anggota subsektor (screener + /daily).</a:t>
            </a:r>
            <a:endParaRPr lang="en-US" sz="1000" dirty="0"/>
          </a:p>
        </p:txBody>
      </p:sp>
      <p:sp>
        <p:nvSpPr>
          <p:cNvPr id="15" name="Shape 13"/>
          <p:cNvSpPr/>
          <p:nvPr/>
        </p:nvSpPr>
        <p:spPr>
          <a:xfrm>
            <a:off x="548640" y="4069080"/>
            <a:ext cx="11064240" cy="914"/>
          </a:xfrm>
          <a:prstGeom prst="line">
            <a:avLst/>
          </a:prstGeom>
          <a:noFill/>
          <a:ln w="15875">
            <a:solidFill>
              <a:srgbClr val="D5DAE0"/>
            </a:solidFill>
            <a:prstDash val="solid"/>
          </a:ln>
        </p:spPr>
      </p:sp>
      <p:sp>
        <p:nvSpPr>
          <p:cNvPr id="16" name="Text 14"/>
          <p:cNvSpPr txBox="1"/>
          <p:nvPr/>
        </p:nvSpPr>
        <p:spPr>
          <a:xfrm>
            <a:off x="548640" y="41422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Drawdown 90 hari</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Penurunan terdalam dari puncak ke lembah. Drawdown 60% berarti pernah ada yang rugi 60% dari harga tertinggi.</a:t>
            </a:r>
            <a:endParaRPr lang="en-US" sz="1350" dirty="0"/>
          </a:p>
        </p:txBody>
      </p:sp>
      <p:sp>
        <p:nvSpPr>
          <p:cNvPr id="17" name="Text 15"/>
          <p:cNvSpPr txBox="1"/>
          <p:nvPr/>
        </p:nvSpPr>
        <p:spPr>
          <a:xfrm>
            <a:off x="5669280" y="4160520"/>
            <a:ext cx="2194560" cy="566928"/>
          </a:xfrm>
          <a:prstGeom prst="roundRect">
            <a:avLst>
              <a:gd name="adj" fmla="val 16129"/>
            </a:avLst>
          </a:prstGeom>
          <a:solidFill>
            <a:srgbClr val="E3F2EC"/>
          </a:solidFill>
          <a:ln/>
        </p:spPr>
        <p:txBody>
          <a:bodyPr wrap="square" lIns="1016" tIns="1016" rIns="1016" bIns="1016" rtlCol="0" anchor="ctr"/>
          <a:lstStyle/>
          <a:p>
            <a:pPr marL="0" indent="0" algn="l">
              <a:buNone/>
            </a:pPr>
            <a:r>
              <a:rPr sz="1050" b="1">
                <a:solidFill>
                  <a:srgbClr val="0F4A3B"/>
                </a:solidFill>
                <a:highlight>
                  <a:srgbClr val="FFFF00"/>
                </a:highlight>
                <a:latin typeface="Calibri"/>
              </a:rPr>
              <a:t>di atas persentil 90 subsektor</a:t>
            </a:r>
            <a:endParaRPr lang="en-US" sz="1050" dirty="0"/>
          </a:p>
        </p:txBody>
      </p:sp>
      <p:sp>
        <p:nvSpPr>
          <p:cNvPr id="18" name="Text 16"/>
          <p:cNvSpPr txBox="1"/>
          <p:nvPr/>
        </p:nvSpPr>
        <p:spPr>
          <a:xfrm>
            <a:off x="8229600" y="4142232"/>
            <a:ext cx="3383280" cy="882396"/>
          </a:xfrm>
          <a:prstGeom prst="rect">
            <a:avLst/>
          </a:prstGeom>
          <a:noFill/>
          <a:ln/>
        </p:spPr>
        <p:txBody>
          <a:bodyPr wrap="square" lIns="0" tIns="0" rIns="0" bIns="0" rtlCol="0" anchor="t"/>
          <a:lstStyle/>
          <a:p>
            <a:pPr marL="0" indent="0">
              <a:buNone/>
            </a:pPr>
            <a:r>
              <a:rPr sz="1000" b="0">
                <a:solidFill>
                  <a:srgbClr val="1B2430"/>
                </a:solidFill>
                <a:highlight>
                  <a:srgbClr val="FFFF00"/>
                </a:highlight>
                <a:latin typeface="Calibri"/>
              </a:rPr>
              <a:t>Tidak ada ambang resmi. Diturunkan dari 90 hari anggota subsektor (screener + /daily).</a:t>
            </a:r>
            <a:endParaRPr lang="en-US" sz="1000" dirty="0"/>
          </a:p>
        </p:txBody>
      </p:sp>
      <p:sp>
        <p:nvSpPr>
          <p:cNvPr id="19" name="Shape 17"/>
          <p:cNvSpPr/>
          <p:nvPr/>
        </p:nvSpPr>
        <p:spPr>
          <a:xfrm>
            <a:off x="548640" y="5097780"/>
            <a:ext cx="11064240" cy="914"/>
          </a:xfrm>
          <a:prstGeom prst="line">
            <a:avLst/>
          </a:prstGeom>
          <a:noFill/>
          <a:ln w="15875">
            <a:solidFill>
              <a:srgbClr val="D5DAE0"/>
            </a:solidFill>
            <a:prstDash val="solid"/>
          </a:ln>
        </p:spPr>
      </p:sp>
      <p:sp>
        <p:nvSpPr>
          <p:cNvPr id="20" name="Text 18"/>
          <p:cNvSpPr txBox="1"/>
          <p:nvPr/>
        </p:nvSpPr>
        <p:spPr>
          <a:xfrm>
            <a:off x="548640" y="5170932"/>
            <a:ext cx="4754880" cy="88239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Lonjakan harga tanpa katalis</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Naik tajam tanpa berita atau aksi korporasi di rentang tanggal yang sama. Ini yang diperiksa AI.</a:t>
            </a:r>
            <a:endParaRPr lang="en-US" sz="1350" dirty="0"/>
          </a:p>
        </p:txBody>
      </p:sp>
      <p:sp>
        <p:nvSpPr>
          <p:cNvPr id="21" name="Text 19"/>
          <p:cNvSpPr txBox="1"/>
          <p:nvPr/>
        </p:nvSpPr>
        <p:spPr>
          <a:xfrm>
            <a:off x="5669280" y="5189220"/>
            <a:ext cx="2194560" cy="566928"/>
          </a:xfrm>
          <a:prstGeom prst="roundRect">
            <a:avLst>
              <a:gd name="adj" fmla="val 16129"/>
            </a:avLst>
          </a:prstGeom>
          <a:solidFill>
            <a:srgbClr val="E3F2EC"/>
          </a:solidFill>
          <a:ln/>
        </p:spPr>
        <p:txBody>
          <a:bodyPr wrap="square" lIns="1016" tIns="1016" rIns="1016" bIns="1016" rtlCol="0" anchor="ctr"/>
          <a:lstStyle/>
          <a:p>
            <a:pPr marL="0" indent="0" algn="l">
              <a:buNone/>
            </a:pPr>
            <a:r>
              <a:rPr sz="1050" b="1">
                <a:solidFill>
                  <a:srgbClr val="0F4A3B"/>
                </a:solidFill>
                <a:highlight>
                  <a:srgbClr val="FFFF00"/>
                </a:highlight>
                <a:latin typeface="Calibri"/>
              </a:rPr>
              <a:t>di atas persentil 95 return harian</a:t>
            </a:r>
            <a:endParaRPr lang="en-US" sz="1050" dirty="0"/>
          </a:p>
        </p:txBody>
      </p:sp>
      <p:sp>
        <p:nvSpPr>
          <p:cNvPr id="22" name="Text 20"/>
          <p:cNvSpPr txBox="1"/>
          <p:nvPr/>
        </p:nvSpPr>
        <p:spPr>
          <a:xfrm>
            <a:off x="8229600" y="5170932"/>
            <a:ext cx="3383280" cy="882396"/>
          </a:xfrm>
          <a:prstGeom prst="rect">
            <a:avLst/>
          </a:prstGeom>
          <a:noFill/>
          <a:ln/>
        </p:spPr>
        <p:txBody>
          <a:bodyPr wrap="square" lIns="0" tIns="0" rIns="0" bIns="0" rtlCol="0" anchor="t"/>
          <a:lstStyle/>
          <a:p>
            <a:pPr marL="0" indent="0">
              <a:buNone/>
            </a:pPr>
            <a:r>
              <a:rPr sz="1000" b="0">
                <a:solidFill>
                  <a:srgbClr val="1B2430"/>
                </a:solidFill>
                <a:highlight>
                  <a:srgbClr val="FFFF00"/>
                </a:highlight>
                <a:latin typeface="Calibri"/>
              </a:rPr>
              <a:t>Dari return /daily, bukan top-changes. Dicocokkan ke /news dan /corporate-actions.</a:t>
            </a:r>
            <a:endParaRPr lang="en-US" sz="1000" dirty="0"/>
          </a:p>
        </p:txBody>
      </p:sp>
      <p:sp>
        <p:nvSpPr>
          <p:cNvPr id="23" name="Shape 21"/>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4" name="Text 22"/>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5" name="Shape 23"/>
          <p:cNvSpPr/>
          <p:nvPr/>
        </p:nvSpPr>
        <p:spPr>
          <a:xfrm>
            <a:off x="3840480" y="6373368"/>
            <a:ext cx="274320" cy="164592"/>
          </a:xfrm>
          <a:prstGeom prst="roundRect">
            <a:avLst>
              <a:gd name="adj" fmla="val 27778"/>
            </a:avLst>
          </a:prstGeom>
          <a:solidFill>
            <a:schemeClr val="accent6">
              <a:lumMod val="20000"/>
              <a:lumOff val="80000"/>
            </a:schemeClr>
          </a:solidFill>
          <a:ln w="12700">
            <a:solidFill>
              <a:srgbClr val="E3F2EC"/>
            </a:solidFill>
            <a:prstDash val="solid"/>
          </a:ln>
        </p:spPr>
      </p:sp>
      <p:sp>
        <p:nvSpPr>
          <p:cNvPr id="26" name="Text 24"/>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sp>
        <p:nvSpPr>
          <p:cNvPr id="27" name="Text 11">
            <a:extLst>
              <a:ext uri="{FF2B5EF4-FFF2-40B4-BE49-F238E27FC236}">
                <a16:creationId xmlns:a16="http://schemas.microsoft.com/office/drawing/2014/main" id="{2360A46D-5E74-6912-59B0-D1286BF62C7C}"/>
              </a:ext>
            </a:extLst>
          </p:cNvPr>
          <p:cNvSpPr txBox="1"/>
          <p:nvPr/>
        </p:nvSpPr>
        <p:spPr>
          <a:xfrm>
            <a:off x="5669280" y="2084832"/>
            <a:ext cx="2194560" cy="566928"/>
          </a:xfrm>
          <a:prstGeom prst="roundRect">
            <a:avLst>
              <a:gd name="adj" fmla="val 16129"/>
            </a:avLst>
          </a:prstGeom>
          <a:solidFill>
            <a:srgbClr val="E3F2EC"/>
          </a:solidFill>
          <a:ln/>
        </p:spPr>
        <p:txBody>
          <a:bodyPr wrap="square" lIns="1016" tIns="1016" rIns="1016" bIns="1016" rtlCol="0" anchor="ctr"/>
          <a:lstStyle/>
          <a:p>
            <a:pPr marL="0" indent="0" algn="l">
              <a:buNone/>
            </a:pPr>
            <a:r>
              <a:rPr sz="1050" b="1">
                <a:solidFill>
                  <a:srgbClr val="0F4A3B"/>
                </a:solidFill>
                <a:highlight>
                  <a:srgbClr val="FFFF00"/>
                </a:highlight>
                <a:latin typeface="Calibri"/>
              </a:rPr>
              <a:t>di atas persentil 95 subsektor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5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Perilaku harga</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txBody>
          <a:bodyPr/>
          <a:lstStyle/>
          <a:p>
            <a:endParaRPr lang="en-US" dirty="0"/>
          </a:p>
        </p:txBody>
      </p:sp>
      <p:sp>
        <p:nvSpPr>
          <p:cNvPr id="9" name="Text 7"/>
          <p:cNvSpPr txBox="1"/>
          <p:nvPr/>
        </p:nvSpPr>
        <p:spPr>
          <a:xfrm>
            <a:off x="548640" y="2084832"/>
            <a:ext cx="1783080" cy="11186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Menyentuh ARA / ARB</a:t>
            </a:r>
            <a:endParaRPr lang="en-US" sz="1200" dirty="0"/>
          </a:p>
        </p:txBody>
      </p:sp>
      <p:sp>
        <p:nvSpPr>
          <p:cNvPr id="10" name="Text 8"/>
          <p:cNvSpPr txBox="1"/>
          <p:nvPr/>
        </p:nvSpPr>
        <p:spPr>
          <a:xfrm>
            <a:off x="2606040" y="2084832"/>
            <a:ext cx="2606040" cy="11186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/v2/daily/{symbol}/</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reuse dari pilar 1</a:t>
            </a:r>
            <a:endParaRPr lang="en-US" sz="850" dirty="0"/>
          </a:p>
        </p:txBody>
      </p:sp>
      <p:sp>
        <p:nvSpPr>
          <p:cNvPr id="11" name="Text 9"/>
          <p:cNvSpPr txBox="1"/>
          <p:nvPr/>
        </p:nvSpPr>
        <p:spPr>
          <a:xfrm>
            <a:off x="5486400" y="2084832"/>
            <a:ext cx="2011680" cy="11186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[].close → perubahan harian</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banding batas 35/25/20% dan 15%</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menurut rentang harga</a:t>
            </a:r>
            <a:endParaRPr lang="en-US" sz="850" dirty="0"/>
          </a:p>
        </p:txBody>
      </p:sp>
      <p:sp>
        <p:nvSpPr>
          <p:cNvPr id="12" name="Text 10"/>
          <p:cNvSpPr txBox="1"/>
          <p:nvPr/>
        </p:nvSpPr>
        <p:spPr>
          <a:xfrm>
            <a:off x="7772400" y="2084832"/>
            <a:ext cx="3840480" cy="1100328"/>
          </a:xfrm>
          <a:prstGeom prst="roundRect">
            <a:avLst>
              <a:gd name="adj" fmla="val 4986"/>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 dihitung di kode</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chg = close[t] / close[t-1] - 1</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ARB bila chg &lt;= -0.15</a:t>
            </a:r>
            <a:endParaRPr lang="en-US" sz="750" dirty="0"/>
          </a:p>
        </p:txBody>
      </p:sp>
      <p:sp>
        <p:nvSpPr>
          <p:cNvPr id="13" name="Shape 11"/>
          <p:cNvSpPr/>
          <p:nvPr/>
        </p:nvSpPr>
        <p:spPr>
          <a:xfrm>
            <a:off x="548640" y="3276600"/>
            <a:ext cx="11064240" cy="914"/>
          </a:xfrm>
          <a:prstGeom prst="line">
            <a:avLst/>
          </a:prstGeom>
          <a:noFill/>
          <a:ln w="15875">
            <a:solidFill>
              <a:srgbClr val="D5DAE0"/>
            </a:solidFill>
            <a:prstDash val="solid"/>
          </a:ln>
        </p:spPr>
      </p:sp>
      <p:sp>
        <p:nvSpPr>
          <p:cNvPr id="14" name="Text 12"/>
          <p:cNvSpPr txBox="1"/>
          <p:nvPr/>
        </p:nvSpPr>
        <p:spPr>
          <a:xfrm>
            <a:off x="548640" y="3349752"/>
            <a:ext cx="1783080" cy="11186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Volatilitas dan drawdown 90 hari</a:t>
            </a:r>
            <a:endParaRPr lang="en-US" sz="1200" dirty="0"/>
          </a:p>
        </p:txBody>
      </p:sp>
      <p:sp>
        <p:nvSpPr>
          <p:cNvPr id="15" name="Text 13"/>
          <p:cNvSpPr txBox="1"/>
          <p:nvPr/>
        </p:nvSpPr>
        <p:spPr>
          <a:xfrm>
            <a:off x="2606040" y="3349752"/>
            <a:ext cx="2606040" cy="11186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/v2/daily/{symbol}/</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reuse</a:t>
            </a:r>
            <a:endParaRPr lang="en-US" sz="850" dirty="0"/>
          </a:p>
        </p:txBody>
      </p:sp>
      <p:sp>
        <p:nvSpPr>
          <p:cNvPr id="16" name="Text 14"/>
          <p:cNvSpPr txBox="1"/>
          <p:nvPr/>
        </p:nvSpPr>
        <p:spPr>
          <a:xfrm>
            <a:off x="5486400" y="3349752"/>
            <a:ext cx="2011680" cy="11186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[].close → deret 90 hari</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rsd = std / mean</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drawdown = min(close / cummax - 1)</a:t>
            </a:r>
            <a:endParaRPr lang="en-US" sz="850" dirty="0"/>
          </a:p>
        </p:txBody>
      </p:sp>
      <p:sp>
        <p:nvSpPr>
          <p:cNvPr id="17" name="Text 15"/>
          <p:cNvSpPr txBox="1"/>
          <p:nvPr/>
        </p:nvSpPr>
        <p:spPr>
          <a:xfrm>
            <a:off x="7772400" y="3349752"/>
            <a:ext cx="3840480" cy="1100328"/>
          </a:xfrm>
          <a:prstGeom prst="roundRect">
            <a:avLst>
              <a:gd name="adj" fmla="val 4986"/>
            </a:avLst>
          </a:prstGeom>
          <a:solidFill>
            <a:srgbClr val="EEF1F4"/>
          </a:solidFill>
          <a:ln/>
        </p:spPr>
        <p:txBody>
          <a:bodyPr wrap="square" lIns="1016" tIns="1016" rIns="1016" bIns="1016" rtlCol="0" anchor="t"/>
          <a:lstStyle/>
          <a:p>
            <a:pPr marL="0" indent="0">
              <a:buNone/>
            </a:pPr>
            <a:r>
              <a:rPr sz="850" b="0">
                <a:solidFill>
                  <a:srgbClr val="1B2430"/>
                </a:solidFill>
                <a:highlight>
                  <a:srgbClr val="FFFF00"/>
                </a:highlight>
                <a:latin typeface="Courier New"/>
              </a:rPr>
              <a:t>// pembanding subsektor, mingguan</a:t>
            </a:r>
            <a:endParaRPr lang="en-US" sz="750" dirty="0"/>
          </a:p>
          <a:p>
            <a:r>
              <a:rPr sz="850" b="0">
                <a:solidFill>
                  <a:srgbClr val="1B2430"/>
                </a:solidFill>
                <a:highlight>
                  <a:srgbClr val="FFFF00"/>
                </a:highlight>
                <a:latin typeface="Courier New"/>
              </a:rPr>
              <a:t>GET /v2/companies/?where=sub_sector='..'</a:t>
            </a:r>
          </a:p>
          <a:p>
            <a:r>
              <a:rPr sz="850" b="0">
                <a:solidFill>
                  <a:srgbClr val="1B2430"/>
                </a:solidFill>
                <a:highlight>
                  <a:srgbClr val="FFFF00"/>
                </a:highlight>
                <a:latin typeface="Courier New"/>
              </a:rPr>
              <a:t>  → daftar anggota (1 kredit)</a:t>
            </a:r>
          </a:p>
          <a:p>
            <a:r>
              <a:rPr sz="850" b="0">
                <a:solidFill>
                  <a:srgbClr val="1B2430"/>
                </a:solidFill>
                <a:highlight>
                  <a:srgbClr val="FFFF00"/>
                </a:highlight>
                <a:latin typeface="Courier New"/>
              </a:rPr>
              <a:t>lalu /v2/daily/ per anggota (maks 30)</a:t>
            </a:r>
          </a:p>
          <a:p>
            <a:r>
              <a:rPr sz="850" b="0">
                <a:solidFill>
                  <a:srgbClr val="1B2430"/>
                </a:solidFill>
                <a:highlight>
                  <a:srgbClr val="FFFF00"/>
                </a:highlight>
                <a:latin typeface="Courier New"/>
              </a:rPr>
              <a:t>// /close dibatalkan: 1 harga per emiten</a:t>
            </a:r>
          </a:p>
        </p:txBody>
      </p:sp>
      <p:sp>
        <p:nvSpPr>
          <p:cNvPr id="18" name="Shape 16"/>
          <p:cNvSpPr/>
          <p:nvPr/>
        </p:nvSpPr>
        <p:spPr>
          <a:xfrm>
            <a:off x="548640" y="4541520"/>
            <a:ext cx="11064240" cy="914"/>
          </a:xfrm>
          <a:prstGeom prst="line">
            <a:avLst/>
          </a:prstGeom>
          <a:noFill/>
          <a:ln w="15875">
            <a:solidFill>
              <a:srgbClr val="D5DAE0"/>
            </a:solidFill>
            <a:prstDash val="solid"/>
          </a:ln>
        </p:spPr>
      </p:sp>
      <p:sp>
        <p:nvSpPr>
          <p:cNvPr id="19" name="Text 17"/>
          <p:cNvSpPr txBox="1"/>
          <p:nvPr/>
        </p:nvSpPr>
        <p:spPr>
          <a:xfrm>
            <a:off x="548640" y="4614672"/>
            <a:ext cx="1783080" cy="11186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Lonjakan harga tanpa katalis</a:t>
            </a:r>
            <a:endParaRPr lang="en-US" sz="1200" dirty="0"/>
          </a:p>
        </p:txBody>
      </p:sp>
      <p:sp>
        <p:nvSpPr>
          <p:cNvPr id="20" name="Text 18"/>
          <p:cNvSpPr txBox="1"/>
          <p:nvPr/>
        </p:nvSpPr>
        <p:spPr>
          <a:xfrm>
            <a:off x="2606040" y="4614672"/>
            <a:ext cx="2606040" cy="1118616"/>
          </a:xfrm>
          <a:prstGeom prst="rect">
            <a:avLst/>
          </a:prstGeom>
          <a:noFill/>
          <a:ln/>
        </p:spPr>
        <p:txBody>
          <a:bodyPr wrap="square" lIns="0" tIns="0" rIns="0" bIns="0" rtlCol="0" anchor="t"/>
          <a:lstStyle/>
          <a:p>
            <a:pPr marL="0" indent="0">
              <a:buNone/>
            </a:pPr>
            <a:r>
              <a:rPr sz="850" b="0">
                <a:solidFill>
                  <a:srgbClr val="1B2430"/>
                </a:solidFill>
                <a:highlight>
                  <a:srgbClr val="FFFF00"/>
                </a:highlight>
                <a:latin typeface="Courier New"/>
              </a:rPr>
              <a:t>GET /v2/daily/{symbol}/  (reuse)</a:t>
            </a:r>
            <a:endParaRPr lang="en-US" sz="850" dirty="0"/>
          </a:p>
          <a:p>
            <a:r>
              <a:rPr sz="850" b="0">
                <a:solidFill>
                  <a:srgbClr val="1B2430"/>
                </a:solidFill>
                <a:latin typeface="Courier New"/>
              </a:rPr>
              <a:t>GET /v2/company/corporate-actions/{symbol}/</a:t>
            </a:r>
          </a:p>
          <a:p>
            <a:r>
              <a:rPr sz="900" b="0">
                <a:solidFill>
                  <a:srgbClr val="5F6B78"/>
                </a:solidFill>
                <a:highlight>
                  <a:srgbClr val="FFFF00"/>
                </a:highlight>
                <a:latin typeface="Calibri"/>
              </a:rPr>
              <a:t>1 kredit</a:t>
            </a:r>
          </a:p>
        </p:txBody>
      </p:sp>
      <p:sp>
        <p:nvSpPr>
          <p:cNvPr id="21" name="Text 19"/>
          <p:cNvSpPr txBox="1"/>
          <p:nvPr/>
        </p:nvSpPr>
        <p:spPr>
          <a:xfrm>
            <a:off x="5486400" y="4614672"/>
            <a:ext cx="2011680" cy="1118616"/>
          </a:xfrm>
          <a:prstGeom prst="rect">
            <a:avLst/>
          </a:prstGeom>
          <a:noFill/>
          <a:ln/>
        </p:spPr>
        <p:txBody>
          <a:bodyPr wrap="square" lIns="0" tIns="0" rIns="0" bIns="0" rtlCol="0" anchor="t"/>
          <a:lstStyle/>
          <a:p>
            <a:pPr marL="0" indent="0">
              <a:buNone/>
            </a:pPr>
            <a:r>
              <a:rPr sz="850" b="0">
                <a:solidFill>
                  <a:srgbClr val="0F4A3B"/>
                </a:solidFill>
                <a:highlight>
                  <a:srgbClr val="FFFF00"/>
                </a:highlight>
                <a:latin typeface="Courier New"/>
              </a:rPr>
              <a:t>return harian dari [].close</a:t>
            </a:r>
            <a:endParaRPr lang="en-US" sz="850" dirty="0"/>
          </a:p>
          <a:p>
            <a:r>
              <a:rPr sz="850" b="0">
                <a:solidFill>
                  <a:srgbClr val="0F4A3B"/>
                </a:solidFill>
                <a:latin typeface="Courier New"/>
              </a:rPr>
              <a:t>corporate_actions.dividend[].ex_date</a:t>
            </a:r>
          </a:p>
          <a:p>
            <a:r>
              <a:rPr sz="850" b="0">
                <a:solidFill>
                  <a:srgbClr val="0F4A3B"/>
                </a:solidFill>
                <a:latin typeface="Courier New"/>
              </a:rPr>
              <a:t>corporate_actions.right_issue</a:t>
            </a:r>
          </a:p>
        </p:txBody>
      </p:sp>
      <p:sp>
        <p:nvSpPr>
          <p:cNvPr id="22" name="Text 20"/>
          <p:cNvSpPr txBox="1"/>
          <p:nvPr/>
        </p:nvSpPr>
        <p:spPr>
          <a:xfrm>
            <a:off x="7772400" y="4614672"/>
            <a:ext cx="3840480" cy="1100328"/>
          </a:xfrm>
          <a:prstGeom prst="roundRect">
            <a:avLst>
              <a:gd name="adj" fmla="val 4986"/>
            </a:avLst>
          </a:prstGeom>
          <a:solidFill>
            <a:srgbClr val="EEF1F4"/>
          </a:solidFill>
          <a:ln/>
        </p:spPr>
        <p:txBody>
          <a:bodyPr wrap="square" lIns="1016" tIns="1016" rIns="1016" bIns="1016" rtlCol="0" anchor="t"/>
          <a:lstStyle/>
          <a:p>
            <a:pPr marL="0" indent="0">
              <a:buNone/>
            </a:pPr>
            <a:r>
              <a:rPr sz="850" b="0">
                <a:solidFill>
                  <a:srgbClr val="1B2430"/>
                </a:solidFill>
                <a:highlight>
                  <a:srgbClr val="FFFF00"/>
                </a:highlight>
                <a:latin typeface="Courier New"/>
              </a:rPr>
              <a:t>// ANTM, 63 hari bursa</a:t>
            </a:r>
            <a:endParaRPr lang="en-US" sz="750" dirty="0"/>
          </a:p>
          <a:p>
            <a:r>
              <a:rPr sz="850" b="0">
                <a:solidFill>
                  <a:srgbClr val="1B2430"/>
                </a:solidFill>
                <a:highlight>
                  <a:srgbClr val="FFFF00"/>
                </a:highlight>
                <a:latin typeface="Courier New"/>
              </a:rPr>
              <a:t>// p95 return +4,10%, p99 +6,19%</a:t>
            </a:r>
          </a:p>
          <a:p>
            <a:r>
              <a:rPr sz="850" b="0">
                <a:solidFill>
                  <a:srgbClr val="1B2430"/>
                </a:solidFill>
                <a:latin typeface="Courier New"/>
              </a:rPr>
              <a:t>"dividend": [{"ex_date": "2026-06-22"}]</a:t>
            </a:r>
          </a:p>
          <a:p>
            <a:r>
              <a:rPr sz="850" b="0">
                <a:solidFill>
                  <a:srgbClr val="1B2430"/>
                </a:solidFill>
                <a:highlight>
                  <a:srgbClr val="FFFF00"/>
                </a:highlight>
                <a:latin typeface="Courier New"/>
              </a:rPr>
              <a:t>// dividend tidak terurut, sortir dulu</a:t>
            </a:r>
          </a:p>
        </p:txBody>
      </p:sp>
      <p:sp>
        <p:nvSpPr>
          <p:cNvPr id="23" name="Text 21"/>
          <p:cNvSpPr txBox="1"/>
          <p:nvPr/>
        </p:nvSpPr>
        <p:spPr>
          <a:xfrm>
            <a:off x="548640" y="5897880"/>
            <a:ext cx="11064240" cy="548640"/>
          </a:xfrm>
          <a:prstGeom prst="rect">
            <a:avLst/>
          </a:prstGeom>
          <a:noFill/>
          <a:ln/>
        </p:spPr>
        <p:txBody>
          <a:bodyPr wrap="square" lIns="0" tIns="0" rIns="0" bIns="0" rtlCol="0" anchor="ctr"/>
          <a:lstStyle/>
          <a:p>
            <a:pPr marL="0" indent="0">
              <a:buNone/>
            </a:pPr>
            <a:r>
              <a:rPr sz="1050" b="0">
                <a:solidFill>
                  <a:srgbClr val="5F6B78"/>
                </a:solidFill>
                <a:highlight>
                  <a:srgbClr val="FFFF00"/>
                </a:highlight>
                <a:latin typeface="Calibri"/>
              </a:rPr>
              <a:t>top-changes maksimal 10 emiten, jadi tidak bisa dipakai sebagai cakupan pasar. Lonjakan harga dihitung dari return /daily saham yang dipantau.</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6 — Peristiwa dan berita</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Ada masalah hukum, dilusi, atau kabar buruk?</a:t>
            </a:r>
            <a:endParaRPr lang="en-US" sz="1400" dirty="0"/>
          </a:p>
        </p:txBody>
      </p:sp>
      <p:sp>
        <p:nvSpPr>
          <p:cNvPr id="4" name="Text 2"/>
          <p:cNvSpPr txBox="1"/>
          <p:nvPr/>
        </p:nvSpPr>
        <p:spPr>
          <a:xfrm>
            <a:off x="548640" y="1572768"/>
            <a:ext cx="493776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 dan artinya</a:t>
            </a:r>
            <a:endParaRPr lang="en-US" sz="1050" dirty="0"/>
          </a:p>
        </p:txBody>
      </p:sp>
      <p:sp>
        <p:nvSpPr>
          <p:cNvPr id="5" name="Text 3"/>
          <p:cNvSpPr txBox="1"/>
          <p:nvPr/>
        </p:nvSpPr>
        <p:spPr>
          <a:xfrm>
            <a:off x="5669280" y="1572768"/>
            <a:ext cx="23774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Bendera menyala bila</a:t>
            </a:r>
            <a:endParaRPr lang="en-US" sz="1050" dirty="0"/>
          </a:p>
        </p:txBody>
      </p:sp>
      <p:sp>
        <p:nvSpPr>
          <p:cNvPr id="6" name="Text 4"/>
          <p:cNvSpPr txBox="1"/>
          <p:nvPr/>
        </p:nvSpPr>
        <p:spPr>
          <a:xfrm>
            <a:off x="8229600" y="1572768"/>
            <a:ext cx="33832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Sumber</a:t>
            </a:r>
            <a:endParaRPr lang="en-US" sz="1050" dirty="0"/>
          </a:p>
        </p:txBody>
      </p:sp>
      <p:sp>
        <p:nvSpPr>
          <p:cNvPr id="7" name="Shape 5"/>
          <p:cNvSpPr/>
          <p:nvPr/>
        </p:nvSpPr>
        <p:spPr>
          <a:xfrm>
            <a:off x="548640" y="1901952"/>
            <a:ext cx="11064240" cy="914"/>
          </a:xfrm>
          <a:prstGeom prst="line">
            <a:avLst/>
          </a:prstGeom>
          <a:noFill/>
          <a:ln w="15875">
            <a:solidFill>
              <a:srgbClr val="1B2430"/>
            </a:solidFill>
            <a:prstDash val="solid"/>
          </a:ln>
        </p:spPr>
      </p:sp>
      <p:sp>
        <p:nvSpPr>
          <p:cNvPr id="8" name="Text 6"/>
          <p:cNvSpPr txBox="1"/>
          <p:nvPr/>
        </p:nvSpPr>
        <p:spPr>
          <a:xfrm>
            <a:off x="548640" y="2084832"/>
            <a:ext cx="4754880" cy="676656"/>
          </a:xfrm>
          <a:prstGeom prst="rect">
            <a:avLst/>
          </a:prstGeom>
          <a:noFill/>
          <a:ln/>
        </p:spPr>
        <p:txBody>
          <a:bodyPr wrap="square" lIns="0" tIns="0" rIns="0" bIns="0" rtlCol="0" anchor="t"/>
          <a:lstStyle/>
          <a:p>
            <a:pPr marL="0" indent="0">
              <a:buNone/>
            </a:pPr>
            <a:r>
              <a:rPr lang="en-US" sz="1350" b="1" dirty="0">
                <a:solidFill>
                  <a:srgbClr val="1B2430"/>
                </a:solidFill>
                <a:highlight>
                  <a:srgbClr val="00FF00"/>
                </a:highlight>
                <a:latin typeface="Calibri" pitchFamily="34" charset="0"/>
                <a:ea typeface="Calibri" pitchFamily="34" charset="-122"/>
                <a:cs typeface="Calibri" pitchFamily="34" charset="-120"/>
              </a:rPr>
              <a:t>Notasi khusus</a:t>
            </a:r>
            <a:endParaRPr lang="en-US" sz="1350" dirty="0">
              <a:highlight>
                <a:srgbClr val="00FF00"/>
              </a:highlight>
            </a:endParaRPr>
          </a:p>
          <a:p>
            <a:pPr marL="0" indent="0">
              <a:buNone/>
            </a:pPr>
            <a:r>
              <a:rPr lang="en-US" sz="1050" dirty="0">
                <a:solidFill>
                  <a:srgbClr val="5F6B78"/>
                </a:solidFill>
                <a:highlight>
                  <a:srgbClr val="00FF00"/>
                </a:highlight>
                <a:latin typeface="Calibri" pitchFamily="34" charset="0"/>
                <a:ea typeface="Calibri" pitchFamily="34" charset="-122"/>
                <a:cs typeface="Calibri" pitchFamily="34" charset="-120"/>
              </a:rPr>
              <a:t>Huruf yang BEI tempel di kode saham: E ekuitas negatif, D opini disclaimer, B pailit, M PKPU, L telat lapor, S tanpa pendapatan.</a:t>
            </a:r>
            <a:endParaRPr lang="en-US" sz="1350" dirty="0">
              <a:highlight>
                <a:srgbClr val="00FF00"/>
              </a:highlight>
            </a:endParaRPr>
          </a:p>
        </p:txBody>
      </p:sp>
      <p:sp>
        <p:nvSpPr>
          <p:cNvPr id="9" name="Text 7"/>
          <p:cNvSpPr txBox="1"/>
          <p:nvPr/>
        </p:nvSpPr>
        <p:spPr>
          <a:xfrm>
            <a:off x="5669280" y="2103120"/>
            <a:ext cx="2194560" cy="548640"/>
          </a:xfrm>
          <a:prstGeom prst="roundRect">
            <a:avLst>
              <a:gd name="adj" fmla="val 16667"/>
            </a:avLst>
          </a:prstGeom>
          <a:solidFill>
            <a:srgbClr val="FBE7E0"/>
          </a:solidFill>
          <a:ln/>
        </p:spPr>
        <p:txBody>
          <a:bodyPr wrap="square" lIns="1016" tIns="1016" rIns="1016" bIns="1016" rtlCol="0" anchor="ctr"/>
          <a:lstStyle/>
          <a:p>
            <a:pPr marL="0" indent="0" algn="l">
              <a:buNone/>
            </a:pPr>
            <a:r>
              <a:rPr lang="en-US" sz="1050" b="1" dirty="0">
                <a:solidFill>
                  <a:srgbClr val="8E2F14"/>
                </a:solidFill>
                <a:highlight>
                  <a:srgbClr val="00FF00"/>
                </a:highlight>
                <a:latin typeface="Calibri" pitchFamily="34" charset="0"/>
                <a:ea typeface="Calibri" pitchFamily="34" charset="-122"/>
                <a:cs typeface="Calibri" pitchFamily="34" charset="-120"/>
              </a:rPr>
              <a:t>ada notasi apa pun</a:t>
            </a:r>
            <a:endParaRPr lang="en-US" sz="1050" dirty="0">
              <a:highlight>
                <a:srgbClr val="00FF00"/>
              </a:highlight>
            </a:endParaRPr>
          </a:p>
        </p:txBody>
      </p:sp>
      <p:sp>
        <p:nvSpPr>
          <p:cNvPr id="10" name="Text 8"/>
          <p:cNvSpPr txBox="1"/>
          <p:nvPr/>
        </p:nvSpPr>
        <p:spPr>
          <a:xfrm>
            <a:off x="8229600" y="2084832"/>
            <a:ext cx="3383280" cy="676656"/>
          </a:xfrm>
          <a:prstGeom prst="rect">
            <a:avLst/>
          </a:prstGeom>
          <a:noFill/>
          <a:ln/>
        </p:spPr>
        <p:txBody>
          <a:bodyPr wrap="square" lIns="0" tIns="0" rIns="0" bIns="0" rtlCol="0" anchor="t"/>
          <a:lstStyle/>
          <a:p>
            <a:pPr marL="0" indent="0">
              <a:buNone/>
            </a:pPr>
            <a:r>
              <a:rPr lang="en-US" sz="1000" dirty="0">
                <a:solidFill>
                  <a:srgbClr val="1B2430"/>
                </a:solidFill>
                <a:highlight>
                  <a:srgbClr val="00FF00"/>
                </a:highlight>
                <a:latin typeface="Calibri" pitchFamily="34" charset="0"/>
                <a:ea typeface="Calibri" pitchFamily="34" charset="-122"/>
                <a:cs typeface="Calibri" pitchFamily="34" charset="-120"/>
              </a:rPr>
              <a:t>Pengumuman BEI, daftar notasi berlaku 3 Agustus 2026. Ambil dari data, jangan hardcode.</a:t>
            </a:r>
            <a:endParaRPr lang="en-US" sz="1000" dirty="0">
              <a:highlight>
                <a:srgbClr val="00FF00"/>
              </a:highlight>
            </a:endParaRPr>
          </a:p>
          <a:p>
            <a:pPr marL="0" indent="0">
              <a:buNone/>
            </a:pPr>
            <a:r>
              <a:rPr lang="en-US" sz="850" u="sng" dirty="0">
                <a:solidFill>
                  <a:srgbClr val="1E7A63"/>
                </a:solidFill>
                <a:highlight>
                  <a:srgbClr val="00FF00"/>
                </a:highlight>
                <a:latin typeface="Calibri" pitchFamily="34" charset="0"/>
                <a:ea typeface="Calibri" pitchFamily="34" charset="-122"/>
                <a:cs typeface="Calibri" pitchFamily="34" charset="-120"/>
                <a:hlinkClick r:id="rId3"/>
              </a:rPr>
              <a:t>investasiku.id › Arti notasi khusus saham</a:t>
            </a:r>
            <a:endParaRPr lang="en-US" sz="1000" dirty="0">
              <a:highlight>
                <a:srgbClr val="00FF00"/>
              </a:highlight>
            </a:endParaRPr>
          </a:p>
        </p:txBody>
      </p:sp>
      <p:sp>
        <p:nvSpPr>
          <p:cNvPr id="11" name="Shape 9"/>
          <p:cNvSpPr/>
          <p:nvPr/>
        </p:nvSpPr>
        <p:spPr>
          <a:xfrm>
            <a:off x="548640" y="2834640"/>
            <a:ext cx="11064240" cy="914"/>
          </a:xfrm>
          <a:prstGeom prst="line">
            <a:avLst/>
          </a:prstGeom>
          <a:noFill/>
          <a:ln w="15875">
            <a:solidFill>
              <a:srgbClr val="D5DAE0"/>
            </a:solidFill>
            <a:prstDash val="solid"/>
          </a:ln>
        </p:spPr>
      </p:sp>
      <p:sp>
        <p:nvSpPr>
          <p:cNvPr id="12" name="Text 10"/>
          <p:cNvSpPr txBox="1"/>
          <p:nvPr/>
        </p:nvSpPr>
        <p:spPr>
          <a:xfrm>
            <a:off x="548640" y="2907792"/>
            <a:ext cx="4754880" cy="676656"/>
          </a:xfrm>
          <a:prstGeom prst="rect">
            <a:avLst/>
          </a:prstGeom>
          <a:noFill/>
          <a:ln/>
        </p:spPr>
        <p:txBody>
          <a:bodyPr wrap="square" lIns="0" tIns="0" rIns="0" bIns="0" rtlCol="0" anchor="t"/>
          <a:lstStyle/>
          <a:p>
            <a:pPr marL="0" indent="0">
              <a:buNone/>
            </a:pPr>
            <a:r>
              <a:rPr lang="en-US" sz="1350" b="1" dirty="0">
                <a:solidFill>
                  <a:srgbClr val="1B2430"/>
                </a:solidFill>
                <a:highlight>
                  <a:srgbClr val="00FF00"/>
                </a:highlight>
                <a:latin typeface="Calibri" pitchFamily="34" charset="0"/>
                <a:ea typeface="Calibri" pitchFamily="34" charset="-122"/>
                <a:cs typeface="Calibri" pitchFamily="34" charset="-120"/>
              </a:rPr>
              <a:t>Papan Pemantauan Khusus</a:t>
            </a:r>
            <a:endParaRPr lang="en-US" sz="1350" dirty="0">
              <a:highlight>
                <a:srgbClr val="00FF00"/>
              </a:highlight>
            </a:endParaRPr>
          </a:p>
          <a:p>
            <a:pPr marL="0" indent="0">
              <a:buNone/>
            </a:pPr>
            <a:r>
              <a:rPr lang="en-US" sz="1050" dirty="0">
                <a:solidFill>
                  <a:srgbClr val="5F6B78"/>
                </a:solidFill>
                <a:highlight>
                  <a:srgbClr val="00FF00"/>
                </a:highlight>
                <a:latin typeface="Calibri" pitchFamily="34" charset="0"/>
                <a:ea typeface="Calibri" pitchFamily="34" charset="-122"/>
                <a:cs typeface="Calibri" pitchFamily="34" charset="-120"/>
              </a:rPr>
              <a:t>Saham berlabel X, diperdagangkan lewat lelang berkala 5 sesi per hari karena memenuhi salah satu dari 11 kriteria.</a:t>
            </a:r>
            <a:endParaRPr lang="en-US" sz="1350" dirty="0">
              <a:highlight>
                <a:srgbClr val="00FF00"/>
              </a:highlight>
            </a:endParaRPr>
          </a:p>
        </p:txBody>
      </p:sp>
      <p:sp>
        <p:nvSpPr>
          <p:cNvPr id="13" name="Text 11"/>
          <p:cNvSpPr txBox="1"/>
          <p:nvPr/>
        </p:nvSpPr>
        <p:spPr>
          <a:xfrm>
            <a:off x="5669280" y="2926080"/>
            <a:ext cx="2194560" cy="548640"/>
          </a:xfrm>
          <a:prstGeom prst="roundRect">
            <a:avLst>
              <a:gd name="adj" fmla="val 16667"/>
            </a:avLst>
          </a:prstGeom>
          <a:solidFill>
            <a:srgbClr val="FBE7E0"/>
          </a:solidFill>
          <a:ln/>
        </p:spPr>
        <p:txBody>
          <a:bodyPr wrap="square" lIns="1016" tIns="1016" rIns="1016" bIns="1016" rtlCol="0" anchor="ctr"/>
          <a:lstStyle/>
          <a:p>
            <a:pPr marL="0" indent="0" algn="l">
              <a:buNone/>
            </a:pPr>
            <a:r>
              <a:rPr lang="en-US" sz="1050" b="1" dirty="0">
                <a:solidFill>
                  <a:srgbClr val="8E2F14"/>
                </a:solidFill>
                <a:highlight>
                  <a:srgbClr val="00FF00"/>
                </a:highlight>
                <a:latin typeface="Calibri" pitchFamily="34" charset="0"/>
                <a:ea typeface="Calibri" pitchFamily="34" charset="-122"/>
                <a:cs typeface="Calibri" pitchFamily="34" charset="-120"/>
              </a:rPr>
              <a:t>berstatus notasi X</a:t>
            </a:r>
            <a:endParaRPr lang="en-US" sz="1050" dirty="0">
              <a:highlight>
                <a:srgbClr val="00FF00"/>
              </a:highlight>
            </a:endParaRPr>
          </a:p>
        </p:txBody>
      </p:sp>
      <p:sp>
        <p:nvSpPr>
          <p:cNvPr id="14" name="Text 12"/>
          <p:cNvSpPr txBox="1"/>
          <p:nvPr/>
        </p:nvSpPr>
        <p:spPr>
          <a:xfrm>
            <a:off x="8229600" y="2907792"/>
            <a:ext cx="3383280" cy="676656"/>
          </a:xfrm>
          <a:prstGeom prst="rect">
            <a:avLst/>
          </a:prstGeom>
          <a:noFill/>
          <a:ln/>
        </p:spPr>
        <p:txBody>
          <a:bodyPr wrap="square" lIns="0" tIns="0" rIns="0" bIns="0" rtlCol="0" anchor="t"/>
          <a:lstStyle/>
          <a:p>
            <a:pPr marL="0" indent="0">
              <a:buNone/>
            </a:pPr>
            <a:r>
              <a:rPr lang="en-US" sz="1000" dirty="0">
                <a:solidFill>
                  <a:srgbClr val="1B2430"/>
                </a:solidFill>
                <a:highlight>
                  <a:srgbClr val="00FF00"/>
                </a:highlight>
                <a:latin typeface="Calibri" pitchFamily="34" charset="0"/>
                <a:ea typeface="Calibri" pitchFamily="34" charset="-122"/>
                <a:cs typeface="Calibri" pitchFamily="34" charset="-120"/>
              </a:rPr>
              <a:t>Peraturan BEI No. I-X (Kep-00035/BEI/06-2025).</a:t>
            </a:r>
            <a:endParaRPr lang="en-US" sz="1000" dirty="0">
              <a:highlight>
                <a:srgbClr val="00FF00"/>
              </a:highlight>
            </a:endParaRPr>
          </a:p>
          <a:p>
            <a:pPr marL="0" indent="0">
              <a:buNone/>
            </a:pPr>
            <a:r>
              <a:rPr lang="en-US" sz="850" u="sng" dirty="0">
                <a:solidFill>
                  <a:srgbClr val="1E7A63"/>
                </a:solidFill>
                <a:highlight>
                  <a:srgbClr val="00FF00"/>
                </a:highlight>
                <a:latin typeface="Calibri" pitchFamily="34" charset="0"/>
                <a:ea typeface="Calibri" pitchFamily="34" charset="-122"/>
                <a:cs typeface="Calibri" pitchFamily="34" charset="-120"/>
                <a:hlinkClick r:id="rId4"/>
              </a:rPr>
              <a:t>idx.id › Peraturan I-X (PDF)</a:t>
            </a:r>
            <a:endParaRPr lang="en-US" sz="1000" dirty="0">
              <a:highlight>
                <a:srgbClr val="00FF00"/>
              </a:highlight>
            </a:endParaRPr>
          </a:p>
        </p:txBody>
      </p:sp>
      <p:sp>
        <p:nvSpPr>
          <p:cNvPr id="15" name="Shape 13"/>
          <p:cNvSpPr/>
          <p:nvPr/>
        </p:nvSpPr>
        <p:spPr>
          <a:xfrm>
            <a:off x="548640" y="3657600"/>
            <a:ext cx="11064240" cy="914"/>
          </a:xfrm>
          <a:prstGeom prst="line">
            <a:avLst/>
          </a:prstGeom>
          <a:noFill/>
          <a:ln w="15875">
            <a:solidFill>
              <a:srgbClr val="D5DAE0"/>
            </a:solidFill>
            <a:prstDash val="solid"/>
          </a:ln>
        </p:spPr>
      </p:sp>
      <p:sp>
        <p:nvSpPr>
          <p:cNvPr id="16" name="Text 14"/>
          <p:cNvSpPr txBox="1"/>
          <p:nvPr/>
        </p:nvSpPr>
        <p:spPr>
          <a:xfrm>
            <a:off x="548640" y="373075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Suspensi dan UMA</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Penghentian perdagangan atau peringatan aktivitas tidak wajar dari BEI. Kriteria UMA tidak dipublikasikan, jadi dipakai sebagai penanda biner.</a:t>
            </a:r>
            <a:endParaRPr lang="en-US" sz="1350" dirty="0"/>
          </a:p>
        </p:txBody>
      </p:sp>
      <p:sp>
        <p:nvSpPr>
          <p:cNvPr id="17" name="Text 15"/>
          <p:cNvSpPr txBox="1"/>
          <p:nvPr/>
        </p:nvSpPr>
        <p:spPr>
          <a:xfrm>
            <a:off x="5669280" y="3749040"/>
            <a:ext cx="2194560" cy="548640"/>
          </a:xfrm>
          <a:prstGeom prst="roundRect">
            <a:avLst>
              <a:gd name="adj" fmla="val 16667"/>
            </a:avLst>
          </a:prstGeom>
          <a:solidFill>
            <a:srgbClr val="FBE7E0"/>
          </a:solidFill>
          <a:ln/>
        </p:spPr>
        <p:txBody>
          <a:bodyPr wrap="square" lIns="1016" tIns="1016" rIns="1016" bIns="1016" rtlCol="0" anchor="ctr"/>
          <a:lstStyle/>
          <a:p>
            <a:pPr marL="0" indent="0" algn="l">
              <a:buNone/>
            </a:pPr>
            <a:r>
              <a:rPr lang="en-US" sz="1050" b="1" dirty="0">
                <a:solidFill>
                  <a:srgbClr val="8E2F14"/>
                </a:solidFill>
                <a:latin typeface="Calibri" pitchFamily="34" charset="0"/>
                <a:ea typeface="Calibri" pitchFamily="34" charset="-122"/>
                <a:cs typeface="Calibri" pitchFamily="34" charset="-120"/>
              </a:rPr>
              <a:t>ada pengumuman dalam 90 hari</a:t>
            </a:r>
            <a:endParaRPr lang="en-US" sz="1050" dirty="0"/>
          </a:p>
        </p:txBody>
      </p:sp>
      <p:sp>
        <p:nvSpPr>
          <p:cNvPr id="18" name="Text 16"/>
          <p:cNvSpPr txBox="1"/>
          <p:nvPr/>
        </p:nvSpPr>
        <p:spPr>
          <a:xfrm>
            <a:off x="8229600" y="373075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Peraturan BEI No. II-A. Data dari endpoint /suspensions Sectors.</a:t>
            </a:r>
            <a:endParaRPr lang="en-US" sz="1000" dirty="0"/>
          </a:p>
          <a:p>
            <a:pPr marL="0" indent="0">
              <a:buNone/>
            </a:pPr>
            <a:r>
              <a:rPr lang="en-US" sz="850" u="sng" dirty="0">
                <a:solidFill>
                  <a:srgbClr val="1E7A63"/>
                </a:solidFill>
                <a:latin typeface="Calibri" pitchFamily="34" charset="0"/>
                <a:ea typeface="Calibri" pitchFamily="34" charset="-122"/>
                <a:cs typeface="Calibri" pitchFamily="34" charset="-120"/>
                <a:hlinkClick r:id="rId4"/>
              </a:rPr>
              <a:t>idx.id › Peraturan Bursa</a:t>
            </a:r>
            <a:endParaRPr lang="en-US" sz="1000" dirty="0"/>
          </a:p>
        </p:txBody>
      </p:sp>
      <p:sp>
        <p:nvSpPr>
          <p:cNvPr id="19" name="Shape 17"/>
          <p:cNvSpPr/>
          <p:nvPr/>
        </p:nvSpPr>
        <p:spPr>
          <a:xfrm>
            <a:off x="548640" y="4480560"/>
            <a:ext cx="11064240" cy="914"/>
          </a:xfrm>
          <a:prstGeom prst="line">
            <a:avLst/>
          </a:prstGeom>
          <a:noFill/>
          <a:ln w="15875">
            <a:solidFill>
              <a:srgbClr val="D5DAE0"/>
            </a:solidFill>
            <a:prstDash val="solid"/>
          </a:ln>
        </p:spPr>
      </p:sp>
      <p:sp>
        <p:nvSpPr>
          <p:cNvPr id="20" name="Text 18"/>
          <p:cNvSpPr txBox="1"/>
          <p:nvPr/>
        </p:nvSpPr>
        <p:spPr>
          <a:xfrm>
            <a:off x="548640" y="4553712"/>
            <a:ext cx="4754880" cy="676656"/>
          </a:xfrm>
          <a:prstGeom prst="rect">
            <a:avLst/>
          </a:prstGeom>
          <a:noFill/>
          <a:ln/>
        </p:spPr>
        <p:txBody>
          <a:bodyPr wrap="square" lIns="0" tIns="0" rIns="0" bIns="0" rtlCol="0" anchor="t"/>
          <a:lstStyle/>
          <a:p>
            <a:pPr marL="0" indent="0">
              <a:buNone/>
            </a:pPr>
            <a:r>
              <a:rPr sz="1350" b="1">
                <a:solidFill>
                  <a:srgbClr val="1B2430"/>
                </a:solidFill>
                <a:highlight>
                  <a:srgbClr val="FFFF00"/>
                </a:highlight>
                <a:latin typeface="Calibri"/>
              </a:rPr>
              <a:t>Rasio akrual</a:t>
            </a:r>
            <a:endParaRPr lang="en-US" sz="1350" dirty="0"/>
          </a:p>
          <a:p>
            <a:r>
              <a:rPr sz="1050" b="0">
                <a:solidFill>
                  <a:srgbClr val="5F6B78"/>
                </a:solidFill>
                <a:highlight>
                  <a:srgbClr val="FFFF00"/>
                </a:highlight>
                <a:latin typeface="Calibri"/>
              </a:rPr>
              <a:t>Selisih laba bersih dan arus kas operasi dibagi total aset. Laba yang tidak didukung uang tunai masuk.</a:t>
            </a:r>
          </a:p>
        </p:txBody>
      </p:sp>
      <p:sp>
        <p:nvSpPr>
          <p:cNvPr id="21" name="Text 19"/>
          <p:cNvSpPr txBox="1"/>
          <p:nvPr/>
        </p:nvSpPr>
        <p:spPr>
          <a:xfrm>
            <a:off x="5669280" y="4572000"/>
            <a:ext cx="2194560" cy="548640"/>
          </a:xfrm>
          <a:prstGeom prst="roundRect">
            <a:avLst>
              <a:gd name="adj" fmla="val 16667"/>
            </a:avLst>
          </a:prstGeom>
          <a:solidFill>
            <a:srgbClr val="E3F2EC"/>
          </a:solidFill>
          <a:ln>
            <a:solidFill>
              <a:srgbClr val="E3F2EC"/>
            </a:solidFill>
          </a:ln>
        </p:spPr>
        <p:txBody>
          <a:bodyPr wrap="square" lIns="1016" tIns="1016" rIns="1016" bIns="1016" rtlCol="0" anchor="ctr"/>
          <a:lstStyle/>
          <a:p>
            <a:pPr marL="0" indent="0" algn="l">
              <a:buNone/>
            </a:pPr>
            <a:r>
              <a:rPr sz="1050" b="1">
                <a:solidFill>
                  <a:srgbClr val="0F4A3B"/>
                </a:solidFill>
                <a:highlight>
                  <a:srgbClr val="FFFF00"/>
                </a:highlight>
                <a:latin typeface="Calibri"/>
              </a:rPr>
              <a:t>di atas persentil 75 subsektor</a:t>
            </a:r>
            <a:endParaRPr lang="en-US" sz="1050" dirty="0"/>
          </a:p>
        </p:txBody>
      </p:sp>
      <p:sp>
        <p:nvSpPr>
          <p:cNvPr id="22" name="Text 20"/>
          <p:cNvSpPr txBox="1"/>
          <p:nvPr/>
        </p:nvSpPr>
        <p:spPr>
          <a:xfrm>
            <a:off x="8229600" y="4553712"/>
            <a:ext cx="3383280" cy="676656"/>
          </a:xfrm>
          <a:prstGeom prst="rect">
            <a:avLst/>
          </a:prstGeom>
          <a:noFill/>
          <a:ln/>
        </p:spPr>
        <p:txBody>
          <a:bodyPr wrap="square" lIns="0" tIns="0" rIns="0" bIns="0" rtlCol="0" anchor="t"/>
          <a:lstStyle/>
          <a:p>
            <a:pPr marL="0" indent="0">
              <a:buNone/>
            </a:pPr>
            <a:r>
              <a:rPr sz="1000" b="0">
                <a:solidFill>
                  <a:srgbClr val="1B2430"/>
                </a:solidFill>
                <a:highlight>
                  <a:srgbClr val="FFFF00"/>
                </a:highlight>
                <a:latin typeface="Calibri"/>
              </a:rPr>
              <a:t>Sloan (1996). Beneish dihapus: field piutang tidak ada di Sectors.</a:t>
            </a:r>
            <a:endParaRPr lang="en-US" sz="1000" dirty="0"/>
          </a:p>
          <a:p>
            <a:r>
              <a:rPr sz="850" b="0">
                <a:solidFill>
                  <a:srgbClr val="1E7A63"/>
                </a:solidFill>
                <a:highlight>
                  <a:srgbClr val="FFFF00"/>
                </a:highlight>
                <a:latin typeface="Calibri"/>
                <a:hlinkClick r:id="rId6"/>
              </a:rPr>
              <a:t>ideas.repec.org › anomali akrual</a:t>
            </a:r>
          </a:p>
        </p:txBody>
      </p:sp>
      <p:sp>
        <p:nvSpPr>
          <p:cNvPr id="23" name="Shape 21"/>
          <p:cNvSpPr/>
          <p:nvPr/>
        </p:nvSpPr>
        <p:spPr>
          <a:xfrm>
            <a:off x="548640" y="5303520"/>
            <a:ext cx="11064240" cy="914"/>
          </a:xfrm>
          <a:prstGeom prst="line">
            <a:avLst/>
          </a:prstGeom>
          <a:noFill/>
          <a:ln w="15875">
            <a:solidFill>
              <a:srgbClr val="D5DAE0"/>
            </a:solidFill>
            <a:prstDash val="solid"/>
          </a:ln>
        </p:spPr>
      </p:sp>
      <p:sp>
        <p:nvSpPr>
          <p:cNvPr id="24" name="Text 22"/>
          <p:cNvSpPr txBox="1"/>
          <p:nvPr/>
        </p:nvSpPr>
        <p:spPr>
          <a:xfrm>
            <a:off x="548640" y="5376672"/>
            <a:ext cx="4754880" cy="676656"/>
          </a:xfrm>
          <a:prstGeom prst="rect">
            <a:avLst/>
          </a:prstGeom>
          <a:noFill/>
          <a:ln/>
        </p:spPr>
        <p:txBody>
          <a:bodyPr wrap="square" lIns="0" tIns="0" rIns="0" bIns="0" rtlCol="0" anchor="t"/>
          <a:lstStyle/>
          <a:p>
            <a:pPr marL="0" indent="0">
              <a:buNone/>
            </a:pPr>
            <a:r>
              <a:rPr lang="en-US" sz="1350" b="1" dirty="0">
                <a:solidFill>
                  <a:srgbClr val="1B2430"/>
                </a:solidFill>
                <a:latin typeface="Calibri" pitchFamily="34" charset="0"/>
                <a:ea typeface="Calibri" pitchFamily="34" charset="-122"/>
                <a:cs typeface="Calibri" pitchFamily="34" charset="-120"/>
              </a:rPr>
              <a:t>Berita negatif</a:t>
            </a:r>
            <a:endParaRPr lang="en-US" sz="1350" dirty="0"/>
          </a:p>
          <a:p>
            <a:pPr marL="0" indent="0">
              <a:buNone/>
            </a:pPr>
            <a:r>
              <a:rPr lang="en-US" sz="1050" dirty="0">
                <a:solidFill>
                  <a:srgbClr val="5F6B78"/>
                </a:solidFill>
                <a:latin typeface="Calibri" pitchFamily="34" charset="0"/>
                <a:ea typeface="Calibri" pitchFamily="34" charset="-122"/>
                <a:cs typeface="Calibri" pitchFamily="34" charset="-120"/>
              </a:rPr>
              <a:t>Artikel yang sudah ditandai Bearish, Violation, atau Risk &amp; Compliance oleh Sectors.</a:t>
            </a:r>
            <a:endParaRPr lang="en-US" sz="1350" dirty="0"/>
          </a:p>
        </p:txBody>
      </p:sp>
      <p:sp>
        <p:nvSpPr>
          <p:cNvPr id="25" name="Text 23"/>
          <p:cNvSpPr txBox="1"/>
          <p:nvPr/>
        </p:nvSpPr>
        <p:spPr>
          <a:xfrm>
            <a:off x="5669280" y="5394960"/>
            <a:ext cx="2194560" cy="548640"/>
          </a:xfrm>
          <a:prstGeom prst="roundRect">
            <a:avLst>
              <a:gd name="adj" fmla="val 16667"/>
            </a:avLst>
          </a:prstGeom>
          <a:solidFill>
            <a:srgbClr val="E3F2EC"/>
          </a:solidFill>
          <a:ln/>
        </p:spPr>
        <p:txBody>
          <a:bodyPr wrap="square" lIns="1016" tIns="1016" rIns="1016" bIns="1016" rtlCol="0" anchor="ctr"/>
          <a:lstStyle/>
          <a:p>
            <a:pPr marL="0" indent="0" algn="l">
              <a:buNone/>
            </a:pPr>
            <a:r>
              <a:rPr lang="en-US" sz="1050" b="1" dirty="0">
                <a:solidFill>
                  <a:srgbClr val="0F4A3B"/>
                </a:solidFill>
                <a:latin typeface="Calibri" pitchFamily="34" charset="0"/>
                <a:ea typeface="Calibri" pitchFamily="34" charset="-122"/>
                <a:cs typeface="Calibri" pitchFamily="34" charset="-120"/>
              </a:rPr>
              <a:t>3 atau lebih dalam 7 hari</a:t>
            </a:r>
            <a:endParaRPr lang="en-US" sz="1050" dirty="0"/>
          </a:p>
        </p:txBody>
      </p:sp>
      <p:sp>
        <p:nvSpPr>
          <p:cNvPr id="26" name="Text 24"/>
          <p:cNvSpPr txBox="1"/>
          <p:nvPr/>
        </p:nvSpPr>
        <p:spPr>
          <a:xfrm>
            <a:off x="8229600" y="5376672"/>
            <a:ext cx="3383280" cy="676656"/>
          </a:xfrm>
          <a:prstGeom prst="rect">
            <a:avLst/>
          </a:prstGeom>
          <a:noFill/>
          <a:ln/>
        </p:spPr>
        <p:txBody>
          <a:bodyPr wrap="square" lIns="0" tIns="0" rIns="0" bIns="0" rtlCol="0" anchor="t"/>
          <a:lstStyle/>
          <a:p>
            <a:pPr marL="0" indent="0">
              <a:buNone/>
            </a:pPr>
            <a:r>
              <a:rPr lang="en-US" sz="1000" dirty="0">
                <a:solidFill>
                  <a:srgbClr val="1B2430"/>
                </a:solidFill>
                <a:latin typeface="Calibri" pitchFamily="34" charset="0"/>
                <a:ea typeface="Calibri" pitchFamily="34" charset="-122"/>
                <a:cs typeface="Calibri" pitchFamily="34" charset="-120"/>
              </a:rPr>
              <a:t>Tag dari endpoint /news Sectors. Ambang jumlah adalah pilihan tim.</a:t>
            </a:r>
            <a:endParaRPr lang="en-US" sz="1000" dirty="0"/>
          </a:p>
        </p:txBody>
      </p:sp>
      <p:sp>
        <p:nvSpPr>
          <p:cNvPr id="27" name="Shape 25"/>
          <p:cNvSpPr/>
          <p:nvPr/>
        </p:nvSpPr>
        <p:spPr>
          <a:xfrm>
            <a:off x="548640" y="6373368"/>
            <a:ext cx="274320" cy="164592"/>
          </a:xfrm>
          <a:prstGeom prst="roundRect">
            <a:avLst>
              <a:gd name="adj" fmla="val 27778"/>
            </a:avLst>
          </a:prstGeom>
          <a:solidFill>
            <a:srgbClr val="FBE7E0"/>
          </a:solidFill>
          <a:ln w="12700">
            <a:solidFill>
              <a:srgbClr val="FBE7E0"/>
            </a:solidFill>
            <a:prstDash val="solid"/>
          </a:ln>
        </p:spPr>
      </p:sp>
      <p:sp>
        <p:nvSpPr>
          <p:cNvPr id="28" name="Text 26"/>
          <p:cNvSpPr txBox="1"/>
          <p:nvPr/>
        </p:nvSpPr>
        <p:spPr>
          <a:xfrm>
            <a:off x="896112" y="6327648"/>
            <a:ext cx="292608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ambang dari regulator atau literatur</a:t>
            </a:r>
            <a:endParaRPr lang="en-US" sz="950" dirty="0"/>
          </a:p>
        </p:txBody>
      </p:sp>
      <p:sp>
        <p:nvSpPr>
          <p:cNvPr id="29" name="Shape 27"/>
          <p:cNvSpPr/>
          <p:nvPr/>
        </p:nvSpPr>
        <p:spPr>
          <a:xfrm>
            <a:off x="3840480" y="6373368"/>
            <a:ext cx="274320" cy="164592"/>
          </a:xfrm>
          <a:prstGeom prst="roundRect">
            <a:avLst>
              <a:gd name="adj" fmla="val 27778"/>
            </a:avLst>
          </a:prstGeom>
          <a:solidFill>
            <a:srgbClr val="E3F2EC"/>
          </a:solidFill>
          <a:ln w="12700">
            <a:solidFill>
              <a:srgbClr val="E3F2EC"/>
            </a:solidFill>
            <a:prstDash val="solid"/>
          </a:ln>
        </p:spPr>
      </p:sp>
      <p:sp>
        <p:nvSpPr>
          <p:cNvPr id="30" name="Text 28"/>
          <p:cNvSpPr txBox="1"/>
          <p:nvPr/>
        </p:nvSpPr>
        <p:spPr>
          <a:xfrm>
            <a:off x="4187952" y="6327648"/>
            <a:ext cx="4114800" cy="256032"/>
          </a:xfrm>
          <a:prstGeom prst="rect">
            <a:avLst/>
          </a:prstGeom>
          <a:noFill/>
          <a:ln/>
        </p:spPr>
        <p:txBody>
          <a:bodyPr wrap="square" lIns="0" tIns="0" rIns="0" bIns="0" rtlCol="0" anchor="ctr"/>
          <a:lstStyle/>
          <a:p>
            <a:pPr marL="0" indent="0">
              <a:buNone/>
            </a:pPr>
            <a:r>
              <a:rPr lang="en-US" sz="950" dirty="0">
                <a:solidFill>
                  <a:srgbClr val="5F6B78"/>
                </a:solidFill>
                <a:latin typeface="Calibri" pitchFamily="34" charset="0"/>
                <a:ea typeface="Calibri" pitchFamily="34" charset="-122"/>
                <a:cs typeface="Calibri" pitchFamily="34" charset="-120"/>
              </a:rPr>
              <a:t>tidak ada sumber resmi, ambang diturunkan dari data</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Pilar 6 — data dari Sectors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marL="0" indent="0">
              <a:buNone/>
            </a:pPr>
            <a:r>
              <a:rPr lang="en-US" sz="1400" dirty="0">
                <a:solidFill>
                  <a:srgbClr val="5F6B78"/>
                </a:solidFill>
                <a:latin typeface="Calibri" pitchFamily="34" charset="0"/>
                <a:ea typeface="Calibri" pitchFamily="34" charset="-122"/>
                <a:cs typeface="Calibri" pitchFamily="34" charset="-120"/>
              </a:rPr>
              <a:t>Peristiwa dan berita</a:t>
            </a:r>
            <a:endParaRPr lang="en-US" sz="1400" dirty="0"/>
          </a:p>
        </p:txBody>
      </p:sp>
      <p:sp>
        <p:nvSpPr>
          <p:cNvPr id="4" name="Text 2"/>
          <p:cNvSpPr txBox="1"/>
          <p:nvPr/>
        </p:nvSpPr>
        <p:spPr>
          <a:xfrm>
            <a:off x="548640" y="1572768"/>
            <a:ext cx="19202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Metrik</a:t>
            </a:r>
            <a:endParaRPr lang="en-US" sz="1050" dirty="0"/>
          </a:p>
        </p:txBody>
      </p:sp>
      <p:sp>
        <p:nvSpPr>
          <p:cNvPr id="5" name="Text 3"/>
          <p:cNvSpPr txBox="1"/>
          <p:nvPr/>
        </p:nvSpPr>
        <p:spPr>
          <a:xfrm>
            <a:off x="2606040" y="1572768"/>
            <a:ext cx="274320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Endpoint</a:t>
            </a:r>
            <a:endParaRPr lang="en-US" sz="1050" dirty="0"/>
          </a:p>
        </p:txBody>
      </p:sp>
      <p:sp>
        <p:nvSpPr>
          <p:cNvPr id="6" name="Text 4"/>
          <p:cNvSpPr txBox="1"/>
          <p:nvPr/>
        </p:nvSpPr>
        <p:spPr>
          <a:xfrm>
            <a:off x="5486400" y="1572768"/>
            <a:ext cx="214884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Field yang dipakai</a:t>
            </a:r>
            <a:endParaRPr lang="en-US" sz="1050" dirty="0"/>
          </a:p>
        </p:txBody>
      </p:sp>
      <p:sp>
        <p:nvSpPr>
          <p:cNvPr id="7" name="Text 5"/>
          <p:cNvSpPr txBox="1"/>
          <p:nvPr/>
        </p:nvSpPr>
        <p:spPr>
          <a:xfrm>
            <a:off x="7772400" y="1572768"/>
            <a:ext cx="3840480" cy="274320"/>
          </a:xfrm>
          <a:prstGeom prst="rect">
            <a:avLst/>
          </a:prstGeom>
          <a:noFill/>
          <a:ln/>
        </p:spPr>
        <p:txBody>
          <a:bodyPr wrap="square" lIns="0" tIns="0" rIns="0" bIns="0" rtlCol="0" anchor="b"/>
          <a:lstStyle/>
          <a:p>
            <a:pPr marL="0" indent="0">
              <a:buNone/>
            </a:pPr>
            <a:r>
              <a:rPr lang="en-US" sz="1050" b="1" dirty="0">
                <a:solidFill>
                  <a:srgbClr val="5F6B78"/>
                </a:solidFill>
                <a:latin typeface="Calibri" pitchFamily="34" charset="0"/>
                <a:ea typeface="Calibri" pitchFamily="34" charset="-122"/>
                <a:cs typeface="Calibri" pitchFamily="34" charset="-120"/>
              </a:rPr>
              <a:t>Contoh respons</a:t>
            </a:r>
            <a:endParaRPr lang="en-US" sz="1050" dirty="0"/>
          </a:p>
        </p:txBody>
      </p:sp>
      <p:sp>
        <p:nvSpPr>
          <p:cNvPr id="8" name="Shape 6"/>
          <p:cNvSpPr/>
          <p:nvPr/>
        </p:nvSpPr>
        <p:spPr>
          <a:xfrm>
            <a:off x="548640" y="1901952"/>
            <a:ext cx="11064240" cy="914"/>
          </a:xfrm>
          <a:prstGeom prst="line">
            <a:avLst/>
          </a:prstGeom>
          <a:noFill/>
          <a:ln w="15875">
            <a:solidFill>
              <a:srgbClr val="1B2430"/>
            </a:solidFill>
            <a:prstDash val="solid"/>
          </a:ln>
        </p:spPr>
      </p:sp>
      <p:sp>
        <p:nvSpPr>
          <p:cNvPr id="9" name="Text 7"/>
          <p:cNvSpPr txBox="1"/>
          <p:nvPr/>
        </p:nvSpPr>
        <p:spPr>
          <a:xfrm>
            <a:off x="548640" y="2084832"/>
            <a:ext cx="1783080" cy="928116"/>
          </a:xfrm>
          <a:prstGeom prst="rect">
            <a:avLst/>
          </a:prstGeom>
          <a:noFill/>
          <a:ln/>
        </p:spPr>
        <p:txBody>
          <a:bodyPr wrap="square" lIns="0" tIns="0" rIns="0" bIns="0" rtlCol="0" anchor="t"/>
          <a:lstStyle/>
          <a:p>
            <a:pPr marL="0" indent="0">
              <a:buNone/>
            </a:pPr>
            <a:r>
              <a:rPr lang="en-US" sz="1200" b="1" dirty="0">
                <a:solidFill>
                  <a:srgbClr val="1B2430"/>
                </a:solidFill>
                <a:highlight>
                  <a:srgbClr val="00FF00"/>
                </a:highlight>
                <a:latin typeface="Calibri" pitchFamily="34" charset="0"/>
                <a:ea typeface="Calibri" pitchFamily="34" charset="-122"/>
                <a:cs typeface="Calibri" pitchFamily="34" charset="-120"/>
              </a:rPr>
              <a:t>Notasi khusus dan Papan Pemantauan Khusus</a:t>
            </a:r>
            <a:endParaRPr lang="en-US" sz="1200" dirty="0">
              <a:highlight>
                <a:srgbClr val="00FF00"/>
              </a:highlight>
            </a:endParaRPr>
          </a:p>
        </p:txBody>
      </p:sp>
      <p:sp>
        <p:nvSpPr>
          <p:cNvPr id="10" name="Text 8"/>
          <p:cNvSpPr txBox="1"/>
          <p:nvPr/>
        </p:nvSpPr>
        <p:spPr>
          <a:xfrm>
            <a:off x="2606040" y="2084832"/>
            <a:ext cx="2606040" cy="928116"/>
          </a:xfrm>
          <a:prstGeom prst="rect">
            <a:avLst/>
          </a:prstGeom>
          <a:noFill/>
          <a:ln/>
        </p:spPr>
        <p:txBody>
          <a:bodyPr wrap="square" lIns="0" tIns="0" rIns="0" bIns="0" rtlCol="0" anchor="t"/>
          <a:lstStyle/>
          <a:p>
            <a:pPr marL="0" indent="0">
              <a:buNone/>
            </a:pPr>
            <a:r>
              <a:rPr lang="en-US" sz="850" dirty="0">
                <a:solidFill>
                  <a:srgbClr val="1B2430"/>
                </a:solidFill>
                <a:highlight>
                  <a:srgbClr val="00FF00"/>
                </a:highlight>
                <a:latin typeface="Courier New" pitchFamily="34" charset="0"/>
                <a:ea typeface="Courier New" pitchFamily="34" charset="-122"/>
                <a:cs typeface="Courier New" pitchFamily="34" charset="-120"/>
              </a:rPr>
              <a:t>Tidak ada di Sectors.</a:t>
            </a:r>
            <a:endParaRPr lang="en-US" sz="850" dirty="0">
              <a:highlight>
                <a:srgbClr val="00FF00"/>
              </a:highlight>
            </a:endParaRPr>
          </a:p>
          <a:p>
            <a:pPr marL="0" indent="0">
              <a:buNone/>
            </a:pPr>
            <a:r>
              <a:rPr lang="en-US" sz="850" dirty="0">
                <a:solidFill>
                  <a:srgbClr val="1B2430"/>
                </a:solidFill>
                <a:highlight>
                  <a:srgbClr val="00FF00"/>
                </a:highlight>
                <a:latin typeface="Courier New" pitchFamily="34" charset="0"/>
                <a:ea typeface="Courier New" pitchFamily="34" charset="-122"/>
                <a:cs typeface="Courier New" pitchFamily="34" charset="-120"/>
              </a:rPr>
              <a:t>Scrape idx.co.id, atau proksi dari</a:t>
            </a:r>
            <a:endParaRPr lang="en-US" sz="850" dirty="0">
              <a:highlight>
                <a:srgbClr val="00FF00"/>
              </a:highlight>
            </a:endParaRPr>
          </a:p>
          <a:p>
            <a:pPr marL="0" indent="0">
              <a:buNone/>
            </a:pPr>
            <a:r>
              <a:rPr lang="en-US" sz="850" dirty="0">
                <a:solidFill>
                  <a:srgbClr val="1B2430"/>
                </a:solidFill>
                <a:highlight>
                  <a:srgbClr val="00FF00"/>
                </a:highlight>
                <a:latin typeface="Courier New" pitchFamily="34" charset="0"/>
                <a:ea typeface="Courier New" pitchFamily="34" charset="-122"/>
                <a:cs typeface="Courier New" pitchFamily="34" charset="-120"/>
              </a:rPr>
              <a:t>/v2/company/report/?sections=overview</a:t>
            </a:r>
            <a:endParaRPr lang="en-US" sz="850" dirty="0">
              <a:highlight>
                <a:srgbClr val="00FF00"/>
              </a:highlight>
            </a:endParaRPr>
          </a:p>
          <a:p>
            <a:pPr marL="0" indent="0">
              <a:buNone/>
            </a:pPr>
            <a:r>
              <a:rPr lang="en-US" sz="900" dirty="0">
                <a:solidFill>
                  <a:srgbClr val="5F6B78"/>
                </a:solidFill>
                <a:highlight>
                  <a:srgbClr val="00FF00"/>
                </a:highlight>
                <a:latin typeface="Calibri" pitchFamily="34" charset="0"/>
                <a:ea typeface="Calibri" pitchFamily="34" charset="-122"/>
                <a:cs typeface="Calibri" pitchFamily="34" charset="-120"/>
              </a:rPr>
              <a:t>0 kredit (scrape) atau 1 kredit</a:t>
            </a:r>
            <a:endParaRPr lang="en-US" sz="850" dirty="0">
              <a:highlight>
                <a:srgbClr val="00FF00"/>
              </a:highlight>
            </a:endParaRPr>
          </a:p>
        </p:txBody>
      </p:sp>
      <p:sp>
        <p:nvSpPr>
          <p:cNvPr id="11" name="Text 9"/>
          <p:cNvSpPr txBox="1"/>
          <p:nvPr/>
        </p:nvSpPr>
        <p:spPr>
          <a:xfrm>
            <a:off x="5486400" y="2084832"/>
            <a:ext cx="2011680" cy="928116"/>
          </a:xfrm>
          <a:prstGeom prst="rect">
            <a:avLst/>
          </a:prstGeom>
          <a:noFill/>
          <a:ln/>
        </p:spPr>
        <p:txBody>
          <a:bodyPr wrap="square" lIns="0" tIns="0" rIns="0" bIns="0" rtlCol="0" anchor="t"/>
          <a:lstStyle/>
          <a:p>
            <a:pPr marL="0" indent="0">
              <a:buNone/>
            </a:pPr>
            <a:r>
              <a:rPr lang="en-US" sz="850" dirty="0">
                <a:solidFill>
                  <a:srgbClr val="8E2F14"/>
                </a:solidFill>
                <a:highlight>
                  <a:srgbClr val="00FF00"/>
                </a:highlight>
                <a:latin typeface="Courier New" pitchFamily="34" charset="0"/>
                <a:ea typeface="Courier New" pitchFamily="34" charset="-122"/>
                <a:cs typeface="Courier New" pitchFamily="34" charset="-120"/>
              </a:rPr>
              <a:t>overview.listing_board</a:t>
            </a:r>
            <a:endParaRPr lang="en-US" sz="850" dirty="0">
              <a:highlight>
                <a:srgbClr val="00FF00"/>
              </a:highlight>
            </a:endParaRPr>
          </a:p>
          <a:p>
            <a:pPr marL="0" indent="0">
              <a:buNone/>
            </a:pPr>
            <a:r>
              <a:rPr lang="en-US" sz="850" dirty="0">
                <a:solidFill>
                  <a:srgbClr val="8E2F14"/>
                </a:solidFill>
                <a:highlight>
                  <a:srgbClr val="00FF00"/>
                </a:highlight>
                <a:latin typeface="Courier New" pitchFamily="34" charset="0"/>
                <a:ea typeface="Courier New" pitchFamily="34" charset="-122"/>
                <a:cs typeface="Courier New" pitchFamily="34" charset="-120"/>
              </a:rPr>
              <a:t>overview.tags[]</a:t>
            </a:r>
            <a:endParaRPr lang="en-US" sz="850" dirty="0">
              <a:highlight>
                <a:srgbClr val="00FF00"/>
              </a:highlight>
            </a:endParaRPr>
          </a:p>
          <a:p>
            <a:pPr marL="0" indent="0">
              <a:buNone/>
            </a:pPr>
            <a:r>
              <a:rPr lang="en-US" sz="850" dirty="0">
                <a:solidFill>
                  <a:srgbClr val="8E2F14"/>
                </a:solidFill>
                <a:highlight>
                  <a:srgbClr val="00FF00"/>
                </a:highlight>
                <a:latin typeface="Courier New" pitchFamily="34" charset="0"/>
                <a:ea typeface="Courier New" pitchFamily="34" charset="-122"/>
                <a:cs typeface="Courier New" pitchFamily="34" charset="-120"/>
              </a:rPr>
              <a:t>financials.total_equity &lt; 0 → notasi E</a:t>
            </a:r>
            <a:endParaRPr lang="en-US" sz="850" dirty="0">
              <a:highlight>
                <a:srgbClr val="00FF00"/>
              </a:highlight>
            </a:endParaRPr>
          </a:p>
        </p:txBody>
      </p:sp>
      <p:sp>
        <p:nvSpPr>
          <p:cNvPr id="12" name="Text 10"/>
          <p:cNvSpPr txBox="1"/>
          <p:nvPr/>
        </p:nvSpPr>
        <p:spPr>
          <a:xfrm>
            <a:off x="7772400" y="208483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lang="en-US" sz="750" dirty="0">
                <a:solidFill>
                  <a:srgbClr val="1B2430"/>
                </a:solidFill>
                <a:highlight>
                  <a:srgbClr val="00FF00"/>
                </a:highlight>
                <a:latin typeface="Courier New" pitchFamily="34" charset="0"/>
                <a:ea typeface="Courier New" pitchFamily="34" charset="-122"/>
                <a:cs typeface="Courier New" pitchFamily="34" charset="-120"/>
              </a:rPr>
              <a:t>"overview": {"listing_board": "Main",</a:t>
            </a:r>
            <a:endParaRPr lang="en-US" sz="750" dirty="0">
              <a:highlight>
                <a:srgbClr val="00FF00"/>
              </a:highlight>
            </a:endParaRPr>
          </a:p>
          <a:p>
            <a:pPr marL="0" indent="0">
              <a:buNone/>
            </a:pPr>
            <a:r>
              <a:rPr lang="en-US" sz="750" dirty="0">
                <a:solidFill>
                  <a:srgbClr val="1B2430"/>
                </a:solidFill>
                <a:highlight>
                  <a:srgbClr val="00FF00"/>
                </a:highlight>
                <a:latin typeface="Courier New" pitchFamily="34" charset="0"/>
                <a:ea typeface="Courier New" pitchFamily="34" charset="-122"/>
                <a:cs typeface="Courier New" pitchFamily="34" charset="-120"/>
              </a:rPr>
              <a:t>  "tags": ["esg-under-25",</a:t>
            </a:r>
            <a:endParaRPr lang="en-US" sz="750" dirty="0">
              <a:highlight>
                <a:srgbClr val="00FF00"/>
              </a:highlight>
            </a:endParaRPr>
          </a:p>
          <a:p>
            <a:pPr marL="0" indent="0">
              <a:buNone/>
            </a:pPr>
            <a:r>
              <a:rPr lang="en-US" sz="750" dirty="0">
                <a:solidFill>
                  <a:srgbClr val="1B2430"/>
                </a:solidFill>
                <a:highlight>
                  <a:srgbClr val="00FF00"/>
                </a:highlight>
                <a:latin typeface="Courier New" pitchFamily="34" charset="0"/>
                <a:ea typeface="Courier New" pitchFamily="34" charset="-122"/>
                <a:cs typeface="Courier New" pitchFamily="34" charset="-120"/>
              </a:rPr>
              <a:t>           "top-90d-transaction-volume"]}</a:t>
            </a:r>
            <a:endParaRPr lang="en-US" sz="750" dirty="0">
              <a:highlight>
                <a:srgbClr val="00FF00"/>
              </a:highlight>
            </a:endParaRPr>
          </a:p>
        </p:txBody>
      </p:sp>
      <p:sp>
        <p:nvSpPr>
          <p:cNvPr id="13" name="Shape 11"/>
          <p:cNvSpPr/>
          <p:nvPr/>
        </p:nvSpPr>
        <p:spPr>
          <a:xfrm>
            <a:off x="548640" y="3086100"/>
            <a:ext cx="11064240" cy="914"/>
          </a:xfrm>
          <a:prstGeom prst="line">
            <a:avLst/>
          </a:prstGeom>
          <a:noFill/>
          <a:ln w="15875">
            <a:solidFill>
              <a:srgbClr val="D5DAE0"/>
            </a:solidFill>
            <a:prstDash val="solid"/>
          </a:ln>
        </p:spPr>
      </p:sp>
      <p:sp>
        <p:nvSpPr>
          <p:cNvPr id="14" name="Text 12"/>
          <p:cNvSpPr txBox="1"/>
          <p:nvPr/>
        </p:nvSpPr>
        <p:spPr>
          <a:xfrm>
            <a:off x="548640" y="3159252"/>
            <a:ext cx="1783080" cy="9281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Suspensi dan UMA</a:t>
            </a:r>
            <a:endParaRPr lang="en-US" sz="1200" dirty="0"/>
          </a:p>
        </p:txBody>
      </p:sp>
      <p:sp>
        <p:nvSpPr>
          <p:cNvPr id="15" name="Text 13"/>
          <p:cNvSpPr txBox="1"/>
          <p:nvPr/>
        </p:nvSpPr>
        <p:spPr>
          <a:xfrm>
            <a:off x="2606040" y="3159252"/>
            <a:ext cx="2606040" cy="928116"/>
          </a:xfrm>
          <a:prstGeom prst="rect">
            <a:avLst/>
          </a:prstGeom>
          <a:noFill/>
          <a:ln/>
        </p:spPr>
        <p:txBody>
          <a:bodyPr wrap="square" lIns="0" tIns="0" rIns="0" bIns="0" rtlCol="0" anchor="t"/>
          <a:lstStyle/>
          <a:p>
            <a:pPr marL="0" indent="0">
              <a:buNone/>
            </a:pPr>
            <a:r>
              <a:rPr sz="850" b="0">
                <a:solidFill>
                  <a:srgbClr val="1B2430"/>
                </a:solidFill>
                <a:latin typeface="Courier New"/>
              </a:rPr>
              <a:t>GET /v2/suspensions/?symbol=ANTM</a:t>
            </a:r>
            <a:endParaRPr lang="en-US" sz="850" dirty="0"/>
          </a:p>
          <a:p>
            <a:r>
              <a:rPr sz="850" b="0">
                <a:solidFill>
                  <a:srgbClr val="1B2430"/>
                </a:solidFill>
                <a:latin typeface="Courier New"/>
              </a:rPr>
              <a:t>    &amp;start=</a:t>
            </a:r>
          </a:p>
          <a:p>
            <a:r>
              <a:rPr sz="900" b="0">
                <a:solidFill>
                  <a:srgbClr val="5F6B78"/>
                </a:solidFill>
                <a:highlight>
                  <a:srgbClr val="FFFF00"/>
                </a:highlight>
                <a:latin typeface="Calibri"/>
              </a:rPr>
              <a:t>1 kredit. Default 20 per halaman.</a:t>
            </a:r>
          </a:p>
        </p:txBody>
      </p:sp>
      <p:sp>
        <p:nvSpPr>
          <p:cNvPr id="16" name="Text 14"/>
          <p:cNvSpPr txBox="1"/>
          <p:nvPr/>
        </p:nvSpPr>
        <p:spPr>
          <a:xfrm>
            <a:off x="5486400" y="3159252"/>
            <a:ext cx="2011680" cy="9281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results[].suspension_date</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results[].reason</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results[].pdf_url</a:t>
            </a:r>
            <a:endParaRPr lang="en-US" sz="850" dirty="0"/>
          </a:p>
        </p:txBody>
      </p:sp>
      <p:sp>
        <p:nvSpPr>
          <p:cNvPr id="17" name="Text 15"/>
          <p:cNvSpPr txBox="1"/>
          <p:nvPr/>
        </p:nvSpPr>
        <p:spPr>
          <a:xfrm>
            <a:off x="7772400" y="315925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"results": [{"symbol": "FLMC.JK",</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"suspension_date": "2026-07-03",</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"reason": "penurunan harga kumulatif</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yang signifikan"}]</a:t>
            </a:r>
            <a:endParaRPr lang="en-US" sz="750" dirty="0"/>
          </a:p>
        </p:txBody>
      </p:sp>
      <p:sp>
        <p:nvSpPr>
          <p:cNvPr id="18" name="Shape 16"/>
          <p:cNvSpPr/>
          <p:nvPr/>
        </p:nvSpPr>
        <p:spPr>
          <a:xfrm>
            <a:off x="548640" y="4160520"/>
            <a:ext cx="11064240" cy="914"/>
          </a:xfrm>
          <a:prstGeom prst="line">
            <a:avLst/>
          </a:prstGeom>
          <a:noFill/>
          <a:ln w="15875">
            <a:solidFill>
              <a:srgbClr val="D5DAE0"/>
            </a:solidFill>
            <a:prstDash val="solid"/>
          </a:ln>
        </p:spPr>
      </p:sp>
      <p:sp>
        <p:nvSpPr>
          <p:cNvPr id="19" name="Text 17"/>
          <p:cNvSpPr txBox="1"/>
          <p:nvPr/>
        </p:nvSpPr>
        <p:spPr>
          <a:xfrm>
            <a:off x="548640" y="4233672"/>
            <a:ext cx="1783080" cy="928116"/>
          </a:xfrm>
          <a:prstGeom prst="rect">
            <a:avLst/>
          </a:prstGeom>
          <a:noFill/>
          <a:ln/>
        </p:spPr>
        <p:txBody>
          <a:bodyPr wrap="square" lIns="0" tIns="0" rIns="0" bIns="0" rtlCol="0" anchor="t"/>
          <a:lstStyle/>
          <a:p>
            <a:pPr marL="0" indent="0">
              <a:buNone/>
            </a:pPr>
            <a:r>
              <a:rPr sz="1200" b="1">
                <a:solidFill>
                  <a:srgbClr val="1B2430"/>
                </a:solidFill>
                <a:highlight>
                  <a:srgbClr val="FFFF00"/>
                </a:highlight>
                <a:latin typeface="Calibri"/>
              </a:rPr>
              <a:t>Rasio akrual</a:t>
            </a:r>
            <a:endParaRPr lang="en-US" sz="1200" dirty="0"/>
          </a:p>
        </p:txBody>
      </p:sp>
      <p:sp>
        <p:nvSpPr>
          <p:cNvPr id="20" name="Text 18"/>
          <p:cNvSpPr txBox="1"/>
          <p:nvPr/>
        </p:nvSpPr>
        <p:spPr>
          <a:xfrm>
            <a:off x="2606040" y="4233672"/>
            <a:ext cx="2606040" cy="928116"/>
          </a:xfrm>
          <a:prstGeom prst="rect">
            <a:avLst/>
          </a:prstGeom>
          <a:noFill/>
          <a:ln/>
        </p:spPr>
        <p:txBody>
          <a:bodyPr wrap="square" lIns="0" tIns="0" rIns="0" bIns="0" rtlCol="0" anchor="t"/>
          <a:lstStyle/>
          <a:p>
            <a:pPr marL="0" indent="0">
              <a:buNone/>
            </a:pPr>
            <a:r>
              <a:rPr sz="850" b="0">
                <a:solidFill>
                  <a:srgbClr val="1B2430"/>
                </a:solidFill>
                <a:highlight>
                  <a:srgbClr val="FFFF00"/>
                </a:highlight>
                <a:latin typeface="Courier New"/>
              </a:rPr>
              <a:t>GET /v2/financials/quarterly/{symbol}/</a:t>
            </a:r>
            <a:endParaRPr lang="en-US" sz="850" dirty="0"/>
          </a:p>
          <a:p>
            <a:r>
              <a:rPr sz="850" b="0">
                <a:solidFill>
                  <a:srgbClr val="1B2430"/>
                </a:solidFill>
                <a:highlight>
                  <a:srgbClr val="FFFF00"/>
                </a:highlight>
                <a:latin typeface="Courier New"/>
              </a:rPr>
              <a:t>    ?n_quarters=4</a:t>
            </a:r>
          </a:p>
          <a:p>
            <a:r>
              <a:rPr sz="900" b="0">
                <a:solidFill>
                  <a:srgbClr val="5F6B78"/>
                </a:solidFill>
                <a:highlight>
                  <a:srgbClr val="FFFF00"/>
                </a:highlight>
                <a:latin typeface="Calibri"/>
              </a:rPr>
              <a:t>1 kredit per kuartal</a:t>
            </a:r>
          </a:p>
        </p:txBody>
      </p:sp>
      <p:sp>
        <p:nvSpPr>
          <p:cNvPr id="21" name="Text 19"/>
          <p:cNvSpPr txBox="1"/>
          <p:nvPr/>
        </p:nvSpPr>
        <p:spPr>
          <a:xfrm>
            <a:off x="5486400" y="4233672"/>
            <a:ext cx="2011680" cy="928116"/>
          </a:xfrm>
          <a:prstGeom prst="rect">
            <a:avLst/>
          </a:prstGeom>
          <a:noFill/>
          <a:ln/>
        </p:spPr>
        <p:txBody>
          <a:bodyPr wrap="square" lIns="0" tIns="0" rIns="0" bIns="0" rtlCol="0" anchor="t"/>
          <a:lstStyle/>
          <a:p>
            <a:pPr marL="0" indent="0">
              <a:buNone/>
            </a:pPr>
            <a:r>
              <a:rPr sz="850" b="0">
                <a:solidFill>
                  <a:srgbClr val="0F4A3B"/>
                </a:solidFill>
                <a:highlight>
                  <a:srgbClr val="FFFF00"/>
                </a:highlight>
                <a:latin typeface="Courier New"/>
              </a:rPr>
              <a:t>earnings, operating_cash_flow,</a:t>
            </a:r>
            <a:endParaRPr lang="en-US" sz="850" dirty="0"/>
          </a:p>
          <a:p>
            <a:r>
              <a:rPr sz="850" b="0">
                <a:solidFill>
                  <a:srgbClr val="0F4A3B"/>
                </a:solidFill>
                <a:highlight>
                  <a:srgbClr val="FFFF00"/>
                </a:highlight>
                <a:latin typeface="Courier New"/>
              </a:rPr>
              <a:t>total_assets</a:t>
            </a:r>
          </a:p>
          <a:p>
            <a:r>
              <a:rPr sz="850" b="0">
                <a:solidFill>
                  <a:srgbClr val="0F4A3B"/>
                </a:solidFill>
                <a:highlight>
                  <a:srgbClr val="FFFF00"/>
                </a:highlight>
                <a:latin typeface="Courier New"/>
              </a:rPr>
              <a:t>// (laba − OCF) / total aset</a:t>
            </a:r>
          </a:p>
        </p:txBody>
      </p:sp>
      <p:sp>
        <p:nvSpPr>
          <p:cNvPr id="22" name="Text 20"/>
          <p:cNvSpPr txBox="1"/>
          <p:nvPr/>
        </p:nvSpPr>
        <p:spPr>
          <a:xfrm>
            <a:off x="7772400" y="423367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sz="850" b="0">
                <a:solidFill>
                  <a:srgbClr val="1B2430"/>
                </a:solidFill>
                <a:highlight>
                  <a:srgbClr val="FFFF00"/>
                </a:highlight>
                <a:latin typeface="Courier New"/>
              </a:rPr>
              <a:t>// ANTM Q1 2026</a:t>
            </a:r>
            <a:endParaRPr lang="en-US" sz="750" dirty="0"/>
          </a:p>
          <a:p>
            <a:r>
              <a:rPr sz="850" b="0">
                <a:solidFill>
                  <a:srgbClr val="1B2430"/>
                </a:solidFill>
                <a:highlight>
                  <a:srgbClr val="FFFF00"/>
                </a:highlight>
                <a:latin typeface="Courier New"/>
              </a:rPr>
              <a:t>// earnings 3,41 T, OCF −3,15 T</a:t>
            </a:r>
          </a:p>
          <a:p>
            <a:r>
              <a:rPr sz="850" b="0">
                <a:solidFill>
                  <a:srgbClr val="1B2430"/>
                </a:solidFill>
                <a:highlight>
                  <a:srgbClr val="FFFF00"/>
                </a:highlight>
                <a:latin typeface="Courier New"/>
              </a:rPr>
              <a:t>// accrual = +0,104</a:t>
            </a:r>
          </a:p>
        </p:txBody>
      </p:sp>
      <p:sp>
        <p:nvSpPr>
          <p:cNvPr id="23" name="Shape 21"/>
          <p:cNvSpPr/>
          <p:nvPr/>
        </p:nvSpPr>
        <p:spPr>
          <a:xfrm>
            <a:off x="548640" y="5234940"/>
            <a:ext cx="11064240" cy="914"/>
          </a:xfrm>
          <a:prstGeom prst="line">
            <a:avLst/>
          </a:prstGeom>
          <a:noFill/>
          <a:ln w="15875">
            <a:solidFill>
              <a:srgbClr val="D5DAE0"/>
            </a:solidFill>
            <a:prstDash val="solid"/>
          </a:ln>
        </p:spPr>
      </p:sp>
      <p:sp>
        <p:nvSpPr>
          <p:cNvPr id="24" name="Text 22"/>
          <p:cNvSpPr txBox="1"/>
          <p:nvPr/>
        </p:nvSpPr>
        <p:spPr>
          <a:xfrm>
            <a:off x="548640" y="5308092"/>
            <a:ext cx="1783080" cy="928116"/>
          </a:xfrm>
          <a:prstGeom prst="rect">
            <a:avLst/>
          </a:prstGeom>
          <a:noFill/>
          <a:ln/>
        </p:spPr>
        <p:txBody>
          <a:bodyPr wrap="square" lIns="0" tIns="0" rIns="0" bIns="0" rtlCol="0" anchor="t"/>
          <a:lstStyle/>
          <a:p>
            <a:pPr marL="0" indent="0">
              <a:buNone/>
            </a:pPr>
            <a:r>
              <a:rPr lang="en-US" sz="1200" b="1" dirty="0">
                <a:solidFill>
                  <a:srgbClr val="1B2430"/>
                </a:solidFill>
                <a:latin typeface="Calibri" pitchFamily="34" charset="0"/>
                <a:ea typeface="Calibri" pitchFamily="34" charset="-122"/>
                <a:cs typeface="Calibri" pitchFamily="34" charset="-120"/>
              </a:rPr>
              <a:t>Berita negatif</a:t>
            </a:r>
            <a:endParaRPr lang="en-US" sz="1200" dirty="0"/>
          </a:p>
        </p:txBody>
      </p:sp>
      <p:sp>
        <p:nvSpPr>
          <p:cNvPr id="25" name="Text 23"/>
          <p:cNvSpPr txBox="1"/>
          <p:nvPr/>
        </p:nvSpPr>
        <p:spPr>
          <a:xfrm>
            <a:off x="2606040" y="5308092"/>
            <a:ext cx="2606040" cy="928116"/>
          </a:xfrm>
          <a:prstGeom prst="rect">
            <a:avLst/>
          </a:prstGeom>
          <a:noFill/>
          <a:ln/>
        </p:spPr>
        <p:txBody>
          <a:bodyPr wrap="square" lIns="0" tIns="0" rIns="0" bIns="0" rtlCol="0" anchor="t"/>
          <a:lstStyle/>
          <a:p>
            <a:pPr marL="0" indent="0">
              <a:buNone/>
            </a:pPr>
            <a:r>
              <a:rPr lang="en-US" sz="850" dirty="0">
                <a:solidFill>
                  <a:srgbClr val="1B2430"/>
                </a:solidFill>
                <a:latin typeface="Courier New" pitchFamily="34" charset="0"/>
                <a:ea typeface="Courier New" pitchFamily="34" charset="-122"/>
                <a:cs typeface="Courier New" pitchFamily="34" charset="-120"/>
              </a:rPr>
              <a:t>GET /v2/news/?symbols=ANTM,BBRI</a:t>
            </a:r>
            <a:endParaRPr lang="en-US" sz="850" dirty="0"/>
          </a:p>
          <a:p>
            <a:pPr marL="0" indent="0">
              <a:buNone/>
            </a:pPr>
            <a:r>
              <a:rPr lang="en-US" sz="850" dirty="0">
                <a:solidFill>
                  <a:srgbClr val="1B2430"/>
                </a:solidFill>
                <a:latin typeface="Courier New" pitchFamily="34" charset="0"/>
                <a:ea typeface="Courier New" pitchFamily="34" charset="-122"/>
                <a:cs typeface="Courier New" pitchFamily="34" charset="-120"/>
              </a:rPr>
              <a:t>    &amp;start=&amp;tags=Bearish</a:t>
            </a:r>
            <a:endParaRPr lang="en-US" sz="850" dirty="0"/>
          </a:p>
          <a:p>
            <a:pPr marL="0" indent="0">
              <a:buNone/>
            </a:pPr>
            <a:r>
              <a:rPr lang="en-US" sz="900" dirty="0">
                <a:solidFill>
                  <a:srgbClr val="5F6B78"/>
                </a:solidFill>
                <a:latin typeface="Calibri" pitchFamily="34" charset="0"/>
                <a:ea typeface="Calibri" pitchFamily="34" charset="-122"/>
                <a:cs typeface="Calibri" pitchFamily="34" charset="-120"/>
              </a:rPr>
              <a:t>1 kredit untuk seluruh watchlist</a:t>
            </a:r>
            <a:endParaRPr lang="en-US" sz="850" dirty="0"/>
          </a:p>
        </p:txBody>
      </p:sp>
      <p:sp>
        <p:nvSpPr>
          <p:cNvPr id="26" name="Text 24"/>
          <p:cNvSpPr txBox="1"/>
          <p:nvPr/>
        </p:nvSpPr>
        <p:spPr>
          <a:xfrm>
            <a:off x="5486400" y="5308092"/>
            <a:ext cx="2011680" cy="928116"/>
          </a:xfrm>
          <a:prstGeom prst="rect">
            <a:avLst/>
          </a:prstGeom>
          <a:noFill/>
          <a:ln/>
        </p:spPr>
        <p:txBody>
          <a:bodyPr wrap="square" lIns="0" tIns="0" rIns="0" bIns="0" rtlCol="0" anchor="t"/>
          <a:lstStyle/>
          <a:p>
            <a:pPr marL="0" indent="0">
              <a:buNone/>
            </a:pPr>
            <a:r>
              <a:rPr lang="en-US" sz="850" dirty="0">
                <a:solidFill>
                  <a:srgbClr val="0F4A3B"/>
                </a:solidFill>
                <a:latin typeface="Courier New" pitchFamily="34" charset="0"/>
                <a:ea typeface="Courier New" pitchFamily="34" charset="-122"/>
                <a:cs typeface="Courier New" pitchFamily="34" charset="-120"/>
              </a:rPr>
              <a:t>results[].tags[]</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results[].timestamp</a:t>
            </a:r>
            <a:endParaRPr lang="en-US" sz="850" dirty="0"/>
          </a:p>
          <a:p>
            <a:pPr marL="0" indent="0">
              <a:buNone/>
            </a:pPr>
            <a:r>
              <a:rPr lang="en-US" sz="850" dirty="0">
                <a:solidFill>
                  <a:srgbClr val="0F4A3B"/>
                </a:solidFill>
                <a:latin typeface="Courier New" pitchFamily="34" charset="0"/>
                <a:ea typeface="Courier New" pitchFamily="34" charset="-122"/>
                <a:cs typeface="Courier New" pitchFamily="34" charset="-120"/>
              </a:rPr>
              <a:t>results[].dimension.{financials,...}</a:t>
            </a:r>
            <a:endParaRPr lang="en-US" sz="850" dirty="0"/>
          </a:p>
        </p:txBody>
      </p:sp>
      <p:sp>
        <p:nvSpPr>
          <p:cNvPr id="27" name="Text 25"/>
          <p:cNvSpPr txBox="1"/>
          <p:nvPr/>
        </p:nvSpPr>
        <p:spPr>
          <a:xfrm>
            <a:off x="7772400" y="5308092"/>
            <a:ext cx="3840480" cy="909828"/>
          </a:xfrm>
          <a:prstGeom prst="roundRect">
            <a:avLst>
              <a:gd name="adj" fmla="val 6030"/>
            </a:avLst>
          </a:prstGeom>
          <a:solidFill>
            <a:srgbClr val="EEF1F4"/>
          </a:solidFill>
          <a:ln/>
        </p:spPr>
        <p:txBody>
          <a:bodyPr wrap="square" lIns="1016" tIns="1016" rIns="1016" bIns="1016" rtlCol="0" anchor="t"/>
          <a:lstStyle/>
          <a:p>
            <a:pPr marL="0" indent="0">
              <a:buNone/>
            </a:pPr>
            <a:r>
              <a:rPr lang="en-US" sz="750" dirty="0">
                <a:solidFill>
                  <a:srgbClr val="1B2430"/>
                </a:solidFill>
                <a:latin typeface="Courier New" pitchFamily="34" charset="0"/>
                <a:ea typeface="Courier New" pitchFamily="34" charset="-122"/>
                <a:cs typeface="Courier New" pitchFamily="34" charset="-120"/>
              </a:rPr>
              <a:t>"results": [{"timestamp": "2026-07-09T18:05",</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"tags": ["Violation", "Bearish"],</a:t>
            </a:r>
            <a:endParaRPr lang="en-US" sz="750" dirty="0"/>
          </a:p>
          <a:p>
            <a:pPr marL="0" indent="0">
              <a:buNone/>
            </a:pPr>
            <a:r>
              <a:rPr lang="en-US" sz="750" dirty="0">
                <a:solidFill>
                  <a:srgbClr val="1B2430"/>
                </a:solidFill>
                <a:latin typeface="Courier New" pitchFamily="34" charset="0"/>
                <a:ea typeface="Courier New" pitchFamily="34" charset="-122"/>
                <a:cs typeface="Courier New" pitchFamily="34" charset="-120"/>
              </a:rPr>
              <a:t>  "dimension": {"financials": 1}}]</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Yang diserahkan ke AI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F6B78"/>
                </a:solidFill>
                <a:latin typeface="Calibri" pitchFamily="34" charset="0"/>
                <a:ea typeface="Calibri" pitchFamily="34" charset="-122"/>
                <a:cs typeface="Calibri" pitchFamily="34" charset="-120"/>
              </a:rPr>
              <a:t>indicators.json — satu-satunya masukan. AI tidak memanggil API dan tidak menghitung apa pun.</a:t>
            </a:r>
            <a:endParaRPr lang="en-US" sz="1400" dirty="0"/>
          </a:p>
        </p:txBody>
      </p:sp>
      <p:sp>
        <p:nvSpPr>
          <p:cNvPr id="4" name="Shape 2"/>
          <p:cNvSpPr/>
          <p:nvPr/>
        </p:nvSpPr>
        <p:spPr>
          <a:xfrm>
            <a:off x="548640" y="1572768"/>
            <a:ext cx="5440680" cy="4279392"/>
          </a:xfrm>
          <a:prstGeom prst="roundRect">
            <a:avLst>
              <a:gd name="adj" fmla="val 1709"/>
            </a:avLst>
          </a:prstGeom>
          <a:solidFill>
            <a:srgbClr val="F7F8FA"/>
          </a:solidFill>
          <a:ln w="9525">
            <a:solidFill>
              <a:srgbClr val="D5DAE0"/>
            </a:solidFill>
            <a:prstDash val="solid"/>
          </a:ln>
        </p:spPr>
        <p:txBody>
          <a:bodyPr/>
          <a:p/>
        </p:txBody>
      </p:sp>
      <p:sp>
        <p:nvSpPr>
          <p:cNvPr id="5" name="Shape 3"/>
          <p:cNvSpPr/>
          <p:nvPr/>
        </p:nvSpPr>
        <p:spPr>
          <a:xfrm>
            <a:off x="6172200" y="1572768"/>
            <a:ext cx="5440680" cy="4279392"/>
          </a:xfrm>
          <a:prstGeom prst="roundRect">
            <a:avLst>
              <a:gd name="adj" fmla="val 1709"/>
            </a:avLst>
          </a:prstGeom>
          <a:solidFill>
            <a:srgbClr val="F7F8FA"/>
          </a:solidFill>
          <a:ln w="9525">
            <a:solidFill>
              <a:srgbClr val="D5DAE0"/>
            </a:solidFill>
            <a:prstDash val="solid"/>
          </a:ln>
        </p:spPr>
        <p:txBody>
          <a:bodyPr/>
          <a:p/>
        </p:txBody>
      </p:sp>
      <p:sp>
        <p:nvSpPr>
          <p:cNvPr id="6" name="Text 4"/>
          <p:cNvSpPr txBox="1"/>
          <p:nvPr/>
        </p:nvSpPr>
        <p:spPr>
          <a:xfrm>
            <a:off x="685800" y="1682496"/>
            <a:ext cx="5212080" cy="4059936"/>
          </a:xfrm>
          <a:prstGeom prst="rect">
            <a:avLst/>
          </a:prstGeom>
          <a:noFill/>
          <a:ln/>
        </p:spPr>
        <p:txBody>
          <a:bodyPr wrap="square" lIns="0" tIns="0" rIns="0" bIns="0" rtlCol="0" anchor="t"/>
          <a:lstStyle/>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"symbol":</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"ANTM"</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"company_name":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"Aneka Tambang"</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"sub_sector":</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"Metals &amp; Minerals"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"listing_board":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"Main"</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"as_of":</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"2026-09-15"</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"trigger":</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"broker_concentration"</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"score":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"value":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61</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"grade":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"previous":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49</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"partial":</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false</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"summary_counts":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"bermasalah":</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4</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"perhatian":</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2</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"baik":</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18</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"tidak_tersedia":</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3</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"pillars":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"ukuran_likuiditas"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"label":</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"Ukuran dan likuiditas"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"verdict":</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"bermasalah"</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"indicators":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"broker_concentration"</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"label":</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"Konsentrasi broker"</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"status":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"bermasalah"</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"is_new":</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true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"value":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0.64</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"display":</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"64%"</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"baseline":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"9% (rata-rata 30 hari)"</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"threshold":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"persentil 99"</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"source":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"diturunkan dari data"</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"weight":</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3</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"evidence_path":</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"broker.top_buyers[0].net_idr"</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p:txBody>
      </p:sp>
      <p:sp>
        <p:nvSpPr>
          <p:cNvPr id="7" name="Text 5"/>
          <p:cNvSpPr txBox="1"/>
          <p:nvPr/>
        </p:nvSpPr>
        <p:spPr>
          <a:xfrm>
            <a:off x="6309360" y="1682496"/>
            <a:ext cx="5212080" cy="4059936"/>
          </a:xfrm>
          <a:prstGeom prst="rect">
            <a:avLst/>
          </a:prstGeom>
          <a:noFill/>
          <a:ln/>
        </p:spPr>
        <p:txBody>
          <a:bodyPr wrap="square" lIns="0" tIns="0" rIns="0" bIns="0" rtlCol="0" anchor="t"/>
          <a:lstStyle/>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"free_float"</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"label":</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"Free float"</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"status":</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"bermasalah"</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"is_new":</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false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"since":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"2026-09-02"</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"value":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0.14</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"display":</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"14%"</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"threshold":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"15%"</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"source":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"Peraturan BEI No. I-A"</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"weight":</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3</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"evidence_path":</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"ownership.free_float"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i="1" dirty="0">
                <a:solidFill>
                  <a:srgbClr val="5F6B78"/>
                </a:solidFill>
                <a:latin typeface="Consolas" pitchFamily="34" charset="0"/>
                <a:ea typeface="Consolas" pitchFamily="34" charset="-122"/>
                <a:cs typeface="Consolas" pitchFamily="34" charset="-120"/>
              </a:rPr>
              <a:t>        // + 3 indikator lain di pilar ini</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i="1" dirty="0">
                <a:solidFill>
                  <a:srgbClr val="5F6B78"/>
                </a:solidFill>
                <a:latin typeface="Consolas" pitchFamily="34" charset="0"/>
                <a:ea typeface="Consolas" pitchFamily="34" charset="-122"/>
                <a:cs typeface="Consolas" pitchFamily="34" charset="-120"/>
              </a:rPr>
              <a:t>    // + 5 pilar lain, total 27 indikator</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"dismissed":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"id":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"foreign_outflow"</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"reason":</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"sector_wide"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"note":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"terjadi di 11 dari 13 emiten tambang"</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"unavailable":</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"altman_z"</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latin typeface="Consolas" pitchFamily="34" charset="0"/>
                <a:ea typeface="Consolas" pitchFamily="34" charset="-122"/>
                <a:cs typeface="Consolas" pitchFamily="34" charset="-120"/>
              </a:rPr>
              <a:t>"institutional_flow"</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0F4A3B"/>
                </a:solidFill>
                <a:highlight>
                  <a:srgbClr val="FFFF00"/>
                </a:highlight>
                <a:latin typeface="Consolas" pitchFamily="34" charset="0"/>
                <a:ea typeface="Consolas" pitchFamily="34" charset="-122"/>
                <a:cs typeface="Consolas" pitchFamily="34" charset="-120"/>
              </a:rPr>
              <a:t>"special_notation"</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"context":</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"news_in_window":</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"corporate_actions_in_window":</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"subsector_move_7d":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-0.02</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b="1" dirty="0">
                <a:solidFill>
                  <a:srgbClr val="1B2430"/>
                </a:solidFill>
                <a:latin typeface="Consolas" pitchFamily="34" charset="0"/>
                <a:ea typeface="Consolas" pitchFamily="34" charset="-122"/>
                <a:cs typeface="Consolas" pitchFamily="34" charset="-120"/>
              </a:rPr>
              <a:t>"commodity_price_7d":</a:t>
            </a:r>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pPr indent="0" marL="0">
              <a:lnSpc>
                <a:spcPct val="106000"/>
              </a:lnSpc>
              <a:buNone/>
            </a:pPr>
            <a:r>
              <a:rPr lang="en-US" sz="680" dirty="0">
                <a:solidFill>
                  <a:srgbClr val="8E2F14"/>
                </a:solidFill>
                <a:latin typeface="Consolas" pitchFamily="34" charset="0"/>
                <a:ea typeface="Consolas" pitchFamily="34" charset="-122"/>
                <a:cs typeface="Consolas" pitchFamily="34" charset="-120"/>
              </a:rPr>
              <a:t>0.004</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  }</a:t>
            </a:r>
            <a:endParaRPr lang="en-US" sz="680" dirty="0"/>
          </a:p>
          <a:p>
            <a:pPr indent="0" marL="0">
              <a:lnSpc>
                <a:spcPct val="106000"/>
              </a:lnSpc>
              <a:buNone/>
            </a:pPr>
            <a:r>
              <a:rPr lang="en-US" sz="680" dirty="0">
                <a:solidFill>
                  <a:srgbClr val="5F6B78"/>
                </a:solidFill>
                <a:latin typeface="Consolas" pitchFamily="34" charset="0"/>
                <a:ea typeface="Consolas" pitchFamily="34" charset="-122"/>
                <a:cs typeface="Consolas" pitchFamily="34" charset="-120"/>
              </a:rPr>
              <a:t>}</a:t>
            </a:r>
            <a:endParaRPr lang="en-US" sz="680" dirty="0"/>
          </a:p>
        </p:txBody>
      </p:sp>
      <p:sp>
        <p:nvSpPr>
          <p:cNvPr id="8" name="Text 6"/>
          <p:cNvSpPr txBox="1"/>
          <p:nvPr/>
        </p:nvSpPr>
        <p:spPr>
          <a:xfrm>
            <a:off x="548640" y="5961888"/>
            <a:ext cx="2491740" cy="658368"/>
          </a:xfrm>
          <a:prstGeom prst="rect">
            <a:avLst/>
          </a:prstGeom>
          <a:noFill/>
          <a:ln/>
        </p:spPr>
        <p:txBody>
          <a:bodyPr wrap="square" lIns="0" tIns="0" rIns="0" bIns="0" rtlCol="0" anchor="t"/>
          <a:lstStyle/>
          <a:p>
            <a:pPr indent="0" marL="0">
              <a:buNone/>
            </a:pPr>
            <a:r>
              <a:rPr lang="en-US" sz="950" b="1" dirty="0">
                <a:solidFill>
                  <a:srgbClr val="1B2430"/>
                </a:solidFill>
                <a:latin typeface="Consolas" pitchFamily="34" charset="0"/>
                <a:ea typeface="Consolas" pitchFamily="34" charset="-122"/>
                <a:cs typeface="Consolas" pitchFamily="34" charset="-120"/>
              </a:rPr>
              <a:t>display</a:t>
            </a:r>
            <a:endParaRPr lang="en-US" sz="950" dirty="0"/>
          </a:p>
          <a:p>
            <a:pPr indent="0" marL="0">
              <a:buNone/>
            </a:pPr>
            <a:r>
              <a:rPr lang="en-US" sz="950" dirty="0">
                <a:solidFill>
                  <a:srgbClr val="5F6B78"/>
                </a:solidFill>
                <a:latin typeface="Calibri" pitchFamily="34" charset="0"/>
                <a:ea typeface="Calibri" pitchFamily="34" charset="-122"/>
                <a:cs typeface="Calibri" pitchFamily="34" charset="-120"/>
              </a:rPr>
              <a:t>Sudah siap tampil, bukan 0.64. Mencegah AI salah mengubah desimal jadi persen.</a:t>
            </a:r>
            <a:endParaRPr lang="en-US" sz="950" dirty="0"/>
          </a:p>
        </p:txBody>
      </p:sp>
      <p:sp>
        <p:nvSpPr>
          <p:cNvPr id="9" name="Text 7"/>
          <p:cNvSpPr txBox="1"/>
          <p:nvPr/>
        </p:nvSpPr>
        <p:spPr>
          <a:xfrm>
            <a:off x="3314700" y="5961888"/>
            <a:ext cx="2491740" cy="658368"/>
          </a:xfrm>
          <a:prstGeom prst="rect">
            <a:avLst/>
          </a:prstGeom>
          <a:noFill/>
          <a:ln/>
        </p:spPr>
        <p:txBody>
          <a:bodyPr wrap="square" lIns="0" tIns="0" rIns="0" bIns="0" rtlCol="0" anchor="t"/>
          <a:lstStyle/>
          <a:p>
            <a:pPr indent="0" marL="0">
              <a:buNone/>
            </a:pPr>
            <a:r>
              <a:rPr lang="en-US" sz="950" b="1" dirty="0">
                <a:solidFill>
                  <a:srgbClr val="1B2430"/>
                </a:solidFill>
                <a:latin typeface="Consolas" pitchFamily="34" charset="0"/>
                <a:ea typeface="Consolas" pitchFamily="34" charset="-122"/>
                <a:cs typeface="Consolas" pitchFamily="34" charset="-120"/>
              </a:rPr>
              <a:t>baseline + threshold</a:t>
            </a:r>
            <a:endParaRPr lang="en-US" sz="950" dirty="0"/>
          </a:p>
          <a:p>
            <a:pPr indent="0" marL="0">
              <a:buNone/>
            </a:pPr>
            <a:r>
              <a:rPr lang="en-US" sz="950" dirty="0">
                <a:solidFill>
                  <a:srgbClr val="5F6B78"/>
                </a:solidFill>
                <a:latin typeface="Calibri" pitchFamily="34" charset="0"/>
                <a:ea typeface="Calibri" pitchFamily="34" charset="-122"/>
                <a:cs typeface="Calibri" pitchFamily="34" charset="-120"/>
              </a:rPr>
              <a:t>Pembanding dan ambang ikut dikirim, agar AI bisa menjelaskan kenapa tidak wajar.</a:t>
            </a:r>
            <a:endParaRPr lang="en-US" sz="950" dirty="0"/>
          </a:p>
        </p:txBody>
      </p:sp>
      <p:sp>
        <p:nvSpPr>
          <p:cNvPr id="10" name="Text 8"/>
          <p:cNvSpPr txBox="1"/>
          <p:nvPr/>
        </p:nvSpPr>
        <p:spPr>
          <a:xfrm>
            <a:off x="6080760" y="5961888"/>
            <a:ext cx="2491740" cy="658368"/>
          </a:xfrm>
          <a:prstGeom prst="rect">
            <a:avLst/>
          </a:prstGeom>
          <a:noFill/>
          <a:ln/>
        </p:spPr>
        <p:txBody>
          <a:bodyPr wrap="square" lIns="0" tIns="0" rIns="0" bIns="0" rtlCol="0" anchor="t"/>
          <a:lstStyle/>
          <a:p>
            <a:pPr indent="0" marL="0">
              <a:buNone/>
            </a:pPr>
            <a:r>
              <a:rPr lang="en-US" sz="950" b="1" dirty="0">
                <a:solidFill>
                  <a:srgbClr val="1B2430"/>
                </a:solidFill>
                <a:latin typeface="Consolas" pitchFamily="34" charset="0"/>
                <a:ea typeface="Consolas" pitchFamily="34" charset="-122"/>
                <a:cs typeface="Consolas" pitchFamily="34" charset="-120"/>
              </a:rPr>
              <a:t>evidence_path</a:t>
            </a:r>
            <a:endParaRPr lang="en-US" sz="950" dirty="0"/>
          </a:p>
          <a:p>
            <a:pPr indent="0" marL="0">
              <a:buNone/>
            </a:pPr>
            <a:r>
              <a:rPr lang="en-US" sz="950" dirty="0">
                <a:solidFill>
                  <a:srgbClr val="5F6B78"/>
                </a:solidFill>
                <a:latin typeface="Calibri" pitchFamily="34" charset="0"/>
                <a:ea typeface="Calibri" pitchFamily="34" charset="-122"/>
                <a:cs typeface="Calibri" pitchFamily="34" charset="-120"/>
              </a:rPr>
              <a:t>Jalur ke data asli. Dipakai gerbang untuk memverifikasi angka yang ditulis AI.</a:t>
            </a:r>
            <a:endParaRPr lang="en-US" sz="950" dirty="0"/>
          </a:p>
        </p:txBody>
      </p:sp>
      <p:sp>
        <p:nvSpPr>
          <p:cNvPr id="11" name="Text 9"/>
          <p:cNvSpPr txBox="1"/>
          <p:nvPr/>
        </p:nvSpPr>
        <p:spPr>
          <a:xfrm>
            <a:off x="8846820" y="5961888"/>
            <a:ext cx="2491740" cy="658368"/>
          </a:xfrm>
          <a:prstGeom prst="rect">
            <a:avLst/>
          </a:prstGeom>
          <a:noFill/>
          <a:ln/>
        </p:spPr>
        <p:txBody>
          <a:bodyPr wrap="square" lIns="0" tIns="0" rIns="0" bIns="0" rtlCol="0" anchor="t"/>
          <a:lstStyle/>
          <a:p>
            <a:pPr indent="0" marL="0">
              <a:buNone/>
            </a:pPr>
            <a:r>
              <a:rPr lang="en-US" sz="950" b="1" dirty="0">
                <a:solidFill>
                  <a:srgbClr val="1B2430"/>
                </a:solidFill>
                <a:latin typeface="Consolas" pitchFamily="34" charset="0"/>
                <a:ea typeface="Consolas" pitchFamily="34" charset="-122"/>
                <a:cs typeface="Consolas" pitchFamily="34" charset="-120"/>
              </a:rPr>
              <a:t>dismissed + unavailable</a:t>
            </a:r>
            <a:endParaRPr lang="en-US" sz="950" dirty="0"/>
          </a:p>
          <a:p>
            <a:pPr indent="0" marL="0">
              <a:buNone/>
            </a:pPr>
            <a:r>
              <a:rPr lang="en-US" sz="950" dirty="0">
                <a:solidFill>
                  <a:srgbClr val="5F6B78"/>
                </a:solidFill>
                <a:latin typeface="Calibri" pitchFamily="34" charset="0"/>
                <a:ea typeface="Calibri" pitchFamily="34" charset="-122"/>
                <a:cs typeface="Calibri" pitchFamily="34" charset="-120"/>
              </a:rPr>
              <a:t>Yang diabaikan dan tak terdata ikut dikirim, agar AI menyebutnya, bukan diam.</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Bentuk output</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F6B78"/>
                </a:solidFill>
                <a:latin typeface="Calibri" pitchFamily="34" charset="0"/>
                <a:ea typeface="Calibri" pitchFamily="34" charset="-122"/>
                <a:cs typeface="Calibri" pitchFamily="34" charset="-120"/>
              </a:rPr>
              <a:t>Semua 27 indikator ditampilkan, tiap poin punya penjelasannya sendiri.</a:t>
            </a:r>
            <a:endParaRPr lang="en-US" sz="1400" dirty="0"/>
          </a:p>
        </p:txBody>
      </p:sp>
      <p:sp>
        <p:nvSpPr>
          <p:cNvPr id="4" name="Shape 2"/>
          <p:cNvSpPr/>
          <p:nvPr/>
        </p:nvSpPr>
        <p:spPr>
          <a:xfrm>
            <a:off x="548640" y="1536192"/>
            <a:ext cx="4343400" cy="4846320"/>
          </a:xfrm>
          <a:prstGeom prst="roundRect">
            <a:avLst>
              <a:gd name="adj" fmla="val 2105"/>
            </a:avLst>
          </a:prstGeom>
          <a:solidFill>
            <a:srgbClr val="FFFFFF"/>
          </a:solidFill>
          <a:ln w="12700">
            <a:solidFill>
              <a:srgbClr val="D5DAE0"/>
            </a:solidFill>
            <a:prstDash val="solid"/>
          </a:ln>
        </p:spPr>
      </p:sp>
      <p:sp>
        <p:nvSpPr>
          <p:cNvPr id="5" name="Text 3"/>
          <p:cNvSpPr txBox="1"/>
          <p:nvPr/>
        </p:nvSpPr>
        <p:spPr>
          <a:xfrm>
            <a:off x="749808" y="1682496"/>
            <a:ext cx="3941064" cy="219456"/>
          </a:xfrm>
          <a:prstGeom prst="rect">
            <a:avLst/>
          </a:prstGeom>
          <a:noFill/>
          <a:ln/>
        </p:spPr>
        <p:txBody>
          <a:bodyPr wrap="square" lIns="0" tIns="0" rIns="0" bIns="0" rtlCol="0" anchor="ctr"/>
          <a:lstStyle/>
          <a:p>
            <a:pPr indent="0" marL="0">
              <a:buNone/>
            </a:pPr>
            <a:r>
              <a:rPr lang="en-US" sz="1150" b="1" dirty="0">
                <a:solidFill>
                  <a:srgbClr val="1B2430"/>
                </a:solidFill>
                <a:latin typeface="Calibri" pitchFamily="34" charset="0"/>
                <a:ea typeface="Calibri" pitchFamily="34" charset="-122"/>
                <a:cs typeface="Calibri" pitchFamily="34" charset="-120"/>
              </a:rPr>
              <a:t>ANTM · konsentrasi broker</a:t>
            </a:r>
            <a:endParaRPr lang="en-US" sz="1150" dirty="0"/>
          </a:p>
        </p:txBody>
      </p:sp>
      <p:sp>
        <p:nvSpPr>
          <p:cNvPr id="6" name="Text 4"/>
          <p:cNvSpPr txBox="1"/>
          <p:nvPr/>
        </p:nvSpPr>
        <p:spPr>
          <a:xfrm>
            <a:off x="749808" y="1901952"/>
            <a:ext cx="3941064" cy="182880"/>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Aneka Tambang</a:t>
            </a:r>
            <a:endParaRPr lang="en-US" sz="900" dirty="0"/>
          </a:p>
        </p:txBody>
      </p:sp>
      <p:sp>
        <p:nvSpPr>
          <p:cNvPr id="7" name="Text 5"/>
          <p:cNvSpPr txBox="1"/>
          <p:nvPr/>
        </p:nvSpPr>
        <p:spPr>
          <a:xfrm>
            <a:off x="749808" y="2157984"/>
            <a:ext cx="3941064" cy="27432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61</a:t>
            </a:r>
            <a:pPr indent="0" marL="0">
              <a:buNone/>
            </a:pPr>
            <a:r>
              <a:rPr lang="en-US" sz="1000" dirty="0">
                <a:solidFill>
                  <a:srgbClr val="5F6B78"/>
                </a:solidFill>
                <a:latin typeface="Calibri" pitchFamily="34" charset="0"/>
                <a:ea typeface="Calibri" pitchFamily="34" charset="-122"/>
                <a:cs typeface="Calibri" pitchFamily="34" charset="-120"/>
              </a:rPr>
              <a:t>/100  ·  </a:t>
            </a:r>
            <a:pPr indent="0" marL="0">
              <a:buNone/>
            </a:pPr>
            <a:r>
              <a:rPr lang="en-US" sz="1000" b="1" dirty="0">
                <a:solidFill>
                  <a:srgbClr val="C4451F"/>
                </a:solidFill>
                <a:latin typeface="Calibri" pitchFamily="34" charset="0"/>
                <a:ea typeface="Calibri" pitchFamily="34" charset="-122"/>
                <a:cs typeface="Calibri" pitchFamily="34" charset="-120"/>
              </a:rPr>
              <a:t>Grade D</a:t>
            </a:r>
            <a:pPr indent="0" marL="0">
              <a:buNone/>
            </a:pPr>
            <a:r>
              <a:rPr lang="en-US" sz="1000" dirty="0">
                <a:solidFill>
                  <a:srgbClr val="5F6B78"/>
                </a:solidFill>
                <a:latin typeface="Calibri" pitchFamily="34" charset="0"/>
                <a:ea typeface="Calibri" pitchFamily="34" charset="-122"/>
                <a:cs typeface="Calibri" pitchFamily="34" charset="-120"/>
              </a:rPr>
              <a:t>  ·  naik dari 49</a:t>
            </a:r>
            <a:endParaRPr lang="en-US" sz="1800" dirty="0"/>
          </a:p>
        </p:txBody>
      </p:sp>
      <p:sp>
        <p:nvSpPr>
          <p:cNvPr id="8" name="Text 6"/>
          <p:cNvSpPr txBox="1"/>
          <p:nvPr/>
        </p:nvSpPr>
        <p:spPr>
          <a:xfrm>
            <a:off x="749808" y="2487168"/>
            <a:ext cx="3941064" cy="512064"/>
          </a:xfrm>
          <a:prstGeom prst="rect">
            <a:avLst/>
          </a:prstGeom>
          <a:noFill/>
          <a:ln/>
        </p:spPr>
        <p:txBody>
          <a:bodyPr wrap="square" lIns="0" tIns="0" rIns="0" bIns="0" rtlCol="0" anchor="t"/>
          <a:lstStyle/>
          <a:p>
            <a:pPr indent="0" marL="0">
              <a:lnSpc>
                <a:spcPct val="115000"/>
              </a:lnSpc>
              <a:buNone/>
            </a:pPr>
            <a:r>
              <a:rPr lang="en-US" sz="950" dirty="0">
                <a:solidFill>
                  <a:srgbClr val="1B2430"/>
                </a:solidFill>
                <a:latin typeface="Calibri" pitchFamily="34" charset="0"/>
                <a:ea typeface="Calibri" pitchFamily="34" charset="-122"/>
                <a:cs typeface="Calibri" pitchFamily="34" charset="-120"/>
              </a:rPr>
              <a:t>Satu broker memborong 64% pembelian hari ini dan harga naik 12% tanpa berita apa pun. Perusahaannya sendiri sehat — yang sedang tidak wajar adalah pergerakan sahamnya.</a:t>
            </a:r>
            <a:endParaRPr lang="en-US" sz="950" dirty="0"/>
          </a:p>
        </p:txBody>
      </p:sp>
      <p:sp>
        <p:nvSpPr>
          <p:cNvPr id="9" name="Text 7"/>
          <p:cNvSpPr txBox="1"/>
          <p:nvPr/>
        </p:nvSpPr>
        <p:spPr>
          <a:xfrm>
            <a:off x="749808" y="3035808"/>
            <a:ext cx="868680" cy="219456"/>
          </a:xfrm>
          <a:prstGeom prst="roundRect">
            <a:avLst>
              <a:gd name="adj" fmla="val 25000"/>
            </a:avLst>
          </a:prstGeom>
          <a:solidFill>
            <a:srgbClr val="FBE7E0"/>
          </a:solidFill>
          <a:ln/>
        </p:spPr>
        <p:txBody>
          <a:bodyPr wrap="square" lIns="381" tIns="381" rIns="381" bIns="381" rtlCol="0" anchor="ctr"/>
          <a:lstStyle/>
          <a:p>
            <a:pPr algn="ctr" indent="0" marL="0">
              <a:buNone/>
            </a:pPr>
            <a:r>
              <a:rPr lang="en-US" sz="800" dirty="0">
                <a:solidFill>
                  <a:srgbClr val="8E2F14"/>
                </a:solidFill>
                <a:latin typeface="Calibri" pitchFamily="34" charset="0"/>
                <a:ea typeface="Calibri" pitchFamily="34" charset="-122"/>
                <a:cs typeface="Calibri" pitchFamily="34" charset="-120"/>
              </a:rPr>
              <a:t>4 bermasalah</a:t>
            </a:r>
            <a:endParaRPr lang="en-US" sz="800" dirty="0"/>
          </a:p>
        </p:txBody>
      </p:sp>
      <p:sp>
        <p:nvSpPr>
          <p:cNvPr id="10" name="Text 8"/>
          <p:cNvSpPr txBox="1"/>
          <p:nvPr/>
        </p:nvSpPr>
        <p:spPr>
          <a:xfrm>
            <a:off x="1691640" y="3035808"/>
            <a:ext cx="804672" cy="219456"/>
          </a:xfrm>
          <a:prstGeom prst="roundRect">
            <a:avLst>
              <a:gd name="adj" fmla="val 25000"/>
            </a:avLst>
          </a:prstGeom>
          <a:solidFill>
            <a:srgbClr val="FDF0DC"/>
          </a:solidFill>
          <a:ln/>
        </p:spPr>
        <p:txBody>
          <a:bodyPr wrap="square" lIns="381" tIns="381" rIns="381" bIns="381" rtlCol="0" anchor="ctr"/>
          <a:lstStyle/>
          <a:p>
            <a:pPr algn="ctr" indent="0" marL="0">
              <a:buNone/>
            </a:pPr>
            <a:r>
              <a:rPr lang="en-US" sz="800" dirty="0">
                <a:solidFill>
                  <a:srgbClr val="8A5A12"/>
                </a:solidFill>
                <a:latin typeface="Calibri" pitchFamily="34" charset="0"/>
                <a:ea typeface="Calibri" pitchFamily="34" charset="-122"/>
                <a:cs typeface="Calibri" pitchFamily="34" charset="-120"/>
              </a:rPr>
              <a:t>2 perhatian</a:t>
            </a:r>
            <a:endParaRPr lang="en-US" sz="800" dirty="0"/>
          </a:p>
        </p:txBody>
      </p:sp>
      <p:sp>
        <p:nvSpPr>
          <p:cNvPr id="11" name="Text 9"/>
          <p:cNvSpPr txBox="1"/>
          <p:nvPr/>
        </p:nvSpPr>
        <p:spPr>
          <a:xfrm>
            <a:off x="2569464" y="3035808"/>
            <a:ext cx="621792" cy="219456"/>
          </a:xfrm>
          <a:prstGeom prst="roundRect">
            <a:avLst>
              <a:gd name="adj" fmla="val 25000"/>
            </a:avLst>
          </a:prstGeom>
          <a:solidFill>
            <a:srgbClr val="E3F2EC"/>
          </a:solidFill>
          <a:ln/>
        </p:spPr>
        <p:txBody>
          <a:bodyPr wrap="square" lIns="381" tIns="381" rIns="381" bIns="381" rtlCol="0" anchor="ctr"/>
          <a:lstStyle/>
          <a:p>
            <a:pPr algn="ctr" indent="0" marL="0">
              <a:buNone/>
            </a:pPr>
            <a:r>
              <a:rPr lang="en-US" sz="800" dirty="0">
                <a:solidFill>
                  <a:srgbClr val="0F4A3B"/>
                </a:solidFill>
                <a:latin typeface="Calibri" pitchFamily="34" charset="0"/>
                <a:ea typeface="Calibri" pitchFamily="34" charset="-122"/>
                <a:cs typeface="Calibri" pitchFamily="34" charset="-120"/>
              </a:rPr>
              <a:t>18 baik</a:t>
            </a:r>
            <a:endParaRPr lang="en-US" sz="800" dirty="0"/>
          </a:p>
        </p:txBody>
      </p:sp>
      <p:sp>
        <p:nvSpPr>
          <p:cNvPr id="12" name="Text 10"/>
          <p:cNvSpPr txBox="1"/>
          <p:nvPr/>
        </p:nvSpPr>
        <p:spPr>
          <a:xfrm>
            <a:off x="3264408" y="3035808"/>
            <a:ext cx="932688" cy="219456"/>
          </a:xfrm>
          <a:prstGeom prst="roundRect">
            <a:avLst>
              <a:gd name="adj" fmla="val 25000"/>
            </a:avLst>
          </a:prstGeom>
          <a:solidFill>
            <a:srgbClr val="EEF1F4"/>
          </a:solidFill>
          <a:ln/>
        </p:spPr>
        <p:txBody>
          <a:bodyPr wrap="square" lIns="381" tIns="381" rIns="381" bIns="381" rtlCol="0" anchor="ctr"/>
          <a:lstStyle/>
          <a:p>
            <a:pPr algn="ctr" indent="0" marL="0">
              <a:buNone/>
            </a:pPr>
            <a:r>
              <a:rPr lang="en-US" sz="800" dirty="0">
                <a:solidFill>
                  <a:srgbClr val="5F6B78"/>
                </a:solidFill>
                <a:latin typeface="Calibri" pitchFamily="34" charset="0"/>
                <a:ea typeface="Calibri" pitchFamily="34" charset="-122"/>
                <a:cs typeface="Calibri" pitchFamily="34" charset="-120"/>
              </a:rPr>
              <a:t>3 tak ada data</a:t>
            </a:r>
            <a:endParaRPr lang="en-US" sz="800" dirty="0"/>
          </a:p>
        </p:txBody>
      </p:sp>
      <p:sp>
        <p:nvSpPr>
          <p:cNvPr id="13" name="Shape 11"/>
          <p:cNvSpPr/>
          <p:nvPr/>
        </p:nvSpPr>
        <p:spPr>
          <a:xfrm>
            <a:off x="749808" y="3364992"/>
            <a:ext cx="3941064" cy="914"/>
          </a:xfrm>
          <a:prstGeom prst="line">
            <a:avLst/>
          </a:prstGeom>
          <a:noFill/>
          <a:ln w="12700">
            <a:solidFill>
              <a:srgbClr val="D5DAE0"/>
            </a:solidFill>
            <a:prstDash val="solid"/>
          </a:ln>
        </p:spPr>
      </p:sp>
      <p:sp>
        <p:nvSpPr>
          <p:cNvPr id="14" name="Text 12"/>
          <p:cNvSpPr txBox="1"/>
          <p:nvPr/>
        </p:nvSpPr>
        <p:spPr>
          <a:xfrm>
            <a:off x="749808" y="3456432"/>
            <a:ext cx="3941064" cy="201168"/>
          </a:xfrm>
          <a:prstGeom prst="rect">
            <a:avLst/>
          </a:prstGeom>
          <a:noFill/>
          <a:ln/>
        </p:spPr>
        <p:txBody>
          <a:bodyPr wrap="square" lIns="0" tIns="0" rIns="0" bIns="0" rtlCol="0" anchor="ctr"/>
          <a:lstStyle/>
          <a:p>
            <a:pPr indent="0" marL="0">
              <a:buNone/>
            </a:pPr>
            <a:r>
              <a:rPr lang="en-US" sz="950" b="1" dirty="0">
                <a:solidFill>
                  <a:srgbClr val="1B2430"/>
                </a:solidFill>
                <a:latin typeface="Calibri" pitchFamily="34" charset="0"/>
                <a:ea typeface="Calibri" pitchFamily="34" charset="-122"/>
                <a:cs typeface="Calibri" pitchFamily="34" charset="-120"/>
              </a:rPr>
              <a:t>1 · Ukuran dan likuiditas </a:t>
            </a:r>
            <a:pPr indent="0" marL="0">
              <a:buNone/>
            </a:pPr>
            <a:r>
              <a:rPr lang="en-US" sz="950" dirty="0">
                <a:solidFill>
                  <a:srgbClr val="C4451F"/>
                </a:solidFill>
                <a:latin typeface="Calibri" pitchFamily="34" charset="0"/>
                <a:ea typeface="Calibri" pitchFamily="34" charset="-122"/>
                <a:cs typeface="Calibri" pitchFamily="34" charset="-120"/>
              </a:rPr>
              <a:t>— bermasalah</a:t>
            </a:r>
            <a:endParaRPr lang="en-US" sz="950" dirty="0"/>
          </a:p>
        </p:txBody>
      </p:sp>
      <p:sp>
        <p:nvSpPr>
          <p:cNvPr id="15" name="Text 13"/>
          <p:cNvSpPr txBox="1"/>
          <p:nvPr/>
        </p:nvSpPr>
        <p:spPr>
          <a:xfrm>
            <a:off x="749808" y="3694176"/>
            <a:ext cx="3941064" cy="182880"/>
          </a:xfrm>
          <a:prstGeom prst="rect">
            <a:avLst/>
          </a:prstGeom>
          <a:noFill/>
          <a:ln/>
        </p:spPr>
        <p:txBody>
          <a:bodyPr wrap="square" lIns="0" tIns="0" rIns="0" bIns="0" rtlCol="0" anchor="ctr"/>
          <a:lstStyle/>
          <a:p>
            <a:pPr indent="0" marL="0">
              <a:buNone/>
            </a:pPr>
            <a:r>
              <a:rPr lang="en-US" sz="950" b="1" dirty="0">
                <a:solidFill>
                  <a:srgbClr val="1B2430"/>
                </a:solidFill>
                <a:latin typeface="Calibri" pitchFamily="34" charset="0"/>
                <a:ea typeface="Calibri" pitchFamily="34" charset="-122"/>
                <a:cs typeface="Calibri" pitchFamily="34" charset="-120"/>
              </a:rPr>
              <a:t>▲  Broker terpusat, 64%</a:t>
            </a:r>
            <a:pPr indent="0" marL="0">
              <a:buNone/>
            </a:pPr>
            <a:r>
              <a:rPr lang="en-US" sz="750" dirty="0">
                <a:solidFill>
                  <a:srgbClr val="C4451F"/>
                </a:solidFill>
                <a:latin typeface="Calibri" pitchFamily="34" charset="0"/>
                <a:ea typeface="Calibri" pitchFamily="34" charset="-122"/>
                <a:cs typeface="Calibri" pitchFamily="34" charset="-120"/>
              </a:rPr>
              <a:t>   baru</a:t>
            </a:r>
            <a:endParaRPr lang="en-US" sz="950" dirty="0"/>
          </a:p>
        </p:txBody>
      </p:sp>
      <p:sp>
        <p:nvSpPr>
          <p:cNvPr id="16" name="Text 14"/>
          <p:cNvSpPr txBox="1"/>
          <p:nvPr/>
        </p:nvSpPr>
        <p:spPr>
          <a:xfrm>
            <a:off x="905256" y="3886200"/>
            <a:ext cx="3785616" cy="420624"/>
          </a:xfrm>
          <a:prstGeom prst="rect">
            <a:avLst/>
          </a:prstGeom>
          <a:noFill/>
          <a:ln/>
        </p:spPr>
        <p:txBody>
          <a:bodyPr wrap="square" lIns="0" tIns="0" rIns="0" bIns="0" rtlCol="0" anchor="t"/>
          <a:lstStyle/>
          <a:p>
            <a:pPr indent="0" marL="0">
              <a:lnSpc>
                <a:spcPct val="112000"/>
              </a:lnSpc>
              <a:buNone/>
            </a:pPr>
            <a:r>
              <a:rPr lang="en-US" sz="850" dirty="0">
                <a:solidFill>
                  <a:srgbClr val="5F6B78"/>
                </a:solidFill>
                <a:latin typeface="Calibri" pitchFamily="34" charset="0"/>
                <a:ea typeface="Calibri" pitchFamily="34" charset="-122"/>
                <a:cs typeface="Calibri" pitchFamily="34" charset="-120"/>
              </a:rPr>
              <a:t>Setiap pembelian dicatat lewat perusahaan sekuritas, dan biasanya tersebar ke banyak sekuritas. Hari ini satu sekuritas memborong 64%, padahal rata-rata 30 hari hanya 9%.</a:t>
            </a:r>
            <a:endParaRPr lang="en-US" sz="850" dirty="0"/>
          </a:p>
        </p:txBody>
      </p:sp>
      <p:sp>
        <p:nvSpPr>
          <p:cNvPr id="17" name="Text 15"/>
          <p:cNvSpPr txBox="1"/>
          <p:nvPr/>
        </p:nvSpPr>
        <p:spPr>
          <a:xfrm>
            <a:off x="749808" y="4343400"/>
            <a:ext cx="3941064" cy="182880"/>
          </a:xfrm>
          <a:prstGeom prst="rect">
            <a:avLst/>
          </a:prstGeom>
          <a:noFill/>
          <a:ln/>
        </p:spPr>
        <p:txBody>
          <a:bodyPr wrap="square" lIns="0" tIns="0" rIns="0" bIns="0" rtlCol="0" anchor="ctr"/>
          <a:lstStyle/>
          <a:p>
            <a:pPr indent="0" marL="0">
              <a:buNone/>
            </a:pPr>
            <a:r>
              <a:rPr lang="en-US" sz="950" b="1" dirty="0">
                <a:solidFill>
                  <a:srgbClr val="1B2430"/>
                </a:solidFill>
                <a:latin typeface="Calibri" pitchFamily="34" charset="0"/>
                <a:ea typeface="Calibri" pitchFamily="34" charset="-122"/>
                <a:cs typeface="Calibri" pitchFamily="34" charset="-120"/>
              </a:rPr>
              <a:t>▲  Volume 7× lipat</a:t>
            </a:r>
            <a:pPr indent="0" marL="0">
              <a:buNone/>
            </a:pPr>
            <a:r>
              <a:rPr lang="en-US" sz="750" dirty="0">
                <a:solidFill>
                  <a:srgbClr val="C4451F"/>
                </a:solidFill>
                <a:latin typeface="Calibri" pitchFamily="34" charset="0"/>
                <a:ea typeface="Calibri" pitchFamily="34" charset="-122"/>
                <a:cs typeface="Calibri" pitchFamily="34" charset="-120"/>
              </a:rPr>
              <a:t>   baru</a:t>
            </a:r>
            <a:endParaRPr lang="en-US" sz="950" dirty="0"/>
          </a:p>
        </p:txBody>
      </p:sp>
      <p:sp>
        <p:nvSpPr>
          <p:cNvPr id="18" name="Text 16"/>
          <p:cNvSpPr txBox="1"/>
          <p:nvPr/>
        </p:nvSpPr>
        <p:spPr>
          <a:xfrm>
            <a:off x="905256" y="4535424"/>
            <a:ext cx="3785616" cy="420624"/>
          </a:xfrm>
          <a:prstGeom prst="rect">
            <a:avLst/>
          </a:prstGeom>
          <a:noFill/>
          <a:ln/>
        </p:spPr>
        <p:txBody>
          <a:bodyPr wrap="square" lIns="0" tIns="0" rIns="0" bIns="0" rtlCol="0" anchor="t"/>
          <a:lstStyle/>
          <a:p>
            <a:pPr indent="0" marL="0">
              <a:lnSpc>
                <a:spcPct val="112000"/>
              </a:lnSpc>
              <a:buNone/>
            </a:pPr>
            <a:r>
              <a:rPr lang="en-US" sz="850" dirty="0">
                <a:solidFill>
                  <a:srgbClr val="5F6B78"/>
                </a:solidFill>
                <a:latin typeface="Calibri" pitchFamily="34" charset="0"/>
                <a:ea typeface="Calibri" pitchFamily="34" charset="-122"/>
                <a:cs typeface="Calibri" pitchFamily="34" charset="-120"/>
              </a:rPr>
              <a:t>Volume adalah jumlah lembar saham yang berpindah tangan dalam sehari. Hari ini tujuh kali lipat dari kebiasaan saham ini selama tiga bulan.</a:t>
            </a:r>
            <a:endParaRPr lang="en-US" sz="850" dirty="0"/>
          </a:p>
        </p:txBody>
      </p:sp>
      <p:sp>
        <p:nvSpPr>
          <p:cNvPr id="19" name="Text 17"/>
          <p:cNvSpPr txBox="1"/>
          <p:nvPr/>
        </p:nvSpPr>
        <p:spPr>
          <a:xfrm>
            <a:off x="749808" y="4992624"/>
            <a:ext cx="3941064" cy="182880"/>
          </a:xfrm>
          <a:prstGeom prst="rect">
            <a:avLst/>
          </a:prstGeom>
          <a:noFill/>
          <a:ln/>
        </p:spPr>
        <p:txBody>
          <a:bodyPr wrap="square" lIns="0" tIns="0" rIns="0" bIns="0" rtlCol="0" anchor="ctr"/>
          <a:lstStyle/>
          <a:p>
            <a:pPr indent="0" marL="0">
              <a:buNone/>
            </a:pPr>
            <a:r>
              <a:rPr lang="en-US" sz="950" b="1" dirty="0">
                <a:solidFill>
                  <a:srgbClr val="1B2430"/>
                </a:solidFill>
                <a:latin typeface="Calibri" pitchFamily="34" charset="0"/>
                <a:ea typeface="Calibri" pitchFamily="34" charset="-122"/>
                <a:cs typeface="Calibri" pitchFamily="34" charset="-120"/>
              </a:rPr>
              <a:t>✓  Cukup ramai diperdagangkan</a:t>
            </a:r>
            <a:endParaRPr lang="en-US" sz="950" dirty="0"/>
          </a:p>
        </p:txBody>
      </p:sp>
      <p:sp>
        <p:nvSpPr>
          <p:cNvPr id="20" name="Text 18"/>
          <p:cNvSpPr txBox="1"/>
          <p:nvPr/>
        </p:nvSpPr>
        <p:spPr>
          <a:xfrm>
            <a:off x="905256" y="5184648"/>
            <a:ext cx="3785616" cy="420624"/>
          </a:xfrm>
          <a:prstGeom prst="rect">
            <a:avLst/>
          </a:prstGeom>
          <a:noFill/>
          <a:ln/>
        </p:spPr>
        <p:txBody>
          <a:bodyPr wrap="square" lIns="0" tIns="0" rIns="0" bIns="0" rtlCol="0" anchor="t"/>
          <a:lstStyle/>
          <a:p>
            <a:pPr indent="0" marL="0">
              <a:lnSpc>
                <a:spcPct val="112000"/>
              </a:lnSpc>
              <a:buNone/>
            </a:pPr>
            <a:r>
              <a:rPr lang="en-US" sz="850" dirty="0">
                <a:solidFill>
                  <a:srgbClr val="5F6B78"/>
                </a:solidFill>
                <a:latin typeface="Calibri" pitchFamily="34" charset="0"/>
                <a:ea typeface="Calibri" pitchFamily="34" charset="-122"/>
                <a:cs typeface="Calibri" pitchFamily="34" charset="-120"/>
              </a:rPr>
              <a:t>Saham yang sepi sulit dijual saat Anda butuh uang. Saham ini diperdagangkan jauh di atas batas sepi yang ditetapkan BEI.</a:t>
            </a:r>
            <a:endParaRPr lang="en-US" sz="850" dirty="0"/>
          </a:p>
        </p:txBody>
      </p:sp>
      <p:sp>
        <p:nvSpPr>
          <p:cNvPr id="21" name="Text 19"/>
          <p:cNvSpPr txBox="1"/>
          <p:nvPr/>
        </p:nvSpPr>
        <p:spPr>
          <a:xfrm>
            <a:off x="749808" y="5641848"/>
            <a:ext cx="3941064" cy="201168"/>
          </a:xfrm>
          <a:prstGeom prst="rect">
            <a:avLst/>
          </a:prstGeom>
          <a:noFill/>
          <a:ln/>
        </p:spPr>
        <p:txBody>
          <a:bodyPr wrap="square" lIns="0" tIns="0" rIns="0" bIns="0" rtlCol="0" anchor="ctr"/>
          <a:lstStyle/>
          <a:p>
            <a:pPr indent="0" marL="0">
              <a:buNone/>
            </a:pPr>
            <a:r>
              <a:rPr lang="en-US" sz="900" i="1" dirty="0">
                <a:solidFill>
                  <a:srgbClr val="5F6B78"/>
                </a:solidFill>
                <a:latin typeface="Calibri" pitchFamily="34" charset="0"/>
                <a:ea typeface="Calibri" pitchFamily="34" charset="-122"/>
                <a:cs typeface="Calibri" pitchFamily="34" charset="-120"/>
              </a:rPr>
              <a:t>… 24 indikator lainnya, dikelompokkan dalam 6 pilar</a:t>
            </a:r>
            <a:endParaRPr lang="en-US" sz="900" dirty="0"/>
          </a:p>
        </p:txBody>
      </p:sp>
      <p:sp>
        <p:nvSpPr>
          <p:cNvPr id="22" name="Shape 20"/>
          <p:cNvSpPr/>
          <p:nvPr/>
        </p:nvSpPr>
        <p:spPr>
          <a:xfrm>
            <a:off x="749808" y="5879592"/>
            <a:ext cx="3941064" cy="914"/>
          </a:xfrm>
          <a:prstGeom prst="line">
            <a:avLst/>
          </a:prstGeom>
          <a:noFill/>
          <a:ln w="12700">
            <a:solidFill>
              <a:srgbClr val="D5DAE0"/>
            </a:solidFill>
            <a:prstDash val="solid"/>
          </a:ln>
        </p:spPr>
      </p:sp>
      <p:sp>
        <p:nvSpPr>
          <p:cNvPr id="23" name="Text 21"/>
          <p:cNvSpPr txBox="1"/>
          <p:nvPr/>
        </p:nvSpPr>
        <p:spPr>
          <a:xfrm>
            <a:off x="749808" y="5952744"/>
            <a:ext cx="3941064" cy="329184"/>
          </a:xfrm>
          <a:prstGeom prst="rect">
            <a:avLst/>
          </a:prstGeom>
          <a:noFill/>
          <a:ln/>
        </p:spPr>
        <p:txBody>
          <a:bodyPr wrap="square" lIns="0" tIns="0" rIns="0" bIns="0" rtlCol="0" anchor="t"/>
          <a:lstStyle/>
          <a:p>
            <a:pPr indent="0" marL="0">
              <a:lnSpc>
                <a:spcPct val="115000"/>
              </a:lnSpc>
              <a:buNone/>
            </a:pPr>
            <a:r>
              <a:rPr lang="en-US" sz="750" dirty="0">
                <a:solidFill>
                  <a:srgbClr val="5F6B78"/>
                </a:solidFill>
                <a:latin typeface="Calibri" pitchFamily="34" charset="0"/>
                <a:ea typeface="Calibri" pitchFamily="34" charset="-122"/>
                <a:cs typeface="Calibri" pitchFamily="34" charset="-120"/>
              </a:rPr>
              <a:t>Data per 15 Sep 2026, tutup pasar</a:t>
            </a:r>
            <a:endParaRPr lang="en-US" sz="750" dirty="0"/>
          </a:p>
          <a:p>
            <a:pPr indent="0" marL="0">
              <a:lnSpc>
                <a:spcPct val="115000"/>
              </a:lnSpc>
              <a:buNone/>
            </a:pPr>
            <a:r>
              <a:rPr lang="en-US" sz="750" dirty="0">
                <a:solidFill>
                  <a:srgbClr val="5F6B78"/>
                </a:solidFill>
                <a:latin typeface="Calibri" pitchFamily="34" charset="0"/>
                <a:ea typeface="Calibri" pitchFamily="34" charset="-122"/>
                <a:cs typeface="Calibri" pitchFamily="34" charset="-120"/>
              </a:rPr>
              <a:t>Bukan rekomendasi beli atau jual.</a:t>
            </a:r>
            <a:endParaRPr lang="en-US" sz="750" dirty="0"/>
          </a:p>
        </p:txBody>
      </p:sp>
      <p:sp>
        <p:nvSpPr>
          <p:cNvPr id="24" name="Text 22"/>
          <p:cNvSpPr txBox="1"/>
          <p:nvPr/>
        </p:nvSpPr>
        <p:spPr>
          <a:xfrm>
            <a:off x="5349240" y="1645920"/>
            <a:ext cx="274320" cy="274320"/>
          </a:xfrm>
          <a:prstGeom prst="ellipse">
            <a:avLst/>
          </a:prstGeom>
          <a:solidFill>
            <a:srgbClr val="1B243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5" name="Text 23"/>
          <p:cNvSpPr txBox="1"/>
          <p:nvPr/>
        </p:nvSpPr>
        <p:spPr>
          <a:xfrm>
            <a:off x="5760720" y="1627632"/>
            <a:ext cx="585216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Yang baik ikut disebut, bukan hanya masalah</a:t>
            </a:r>
            <a:endParaRPr lang="en-US" sz="1400" dirty="0"/>
          </a:p>
        </p:txBody>
      </p:sp>
      <p:sp>
        <p:nvSpPr>
          <p:cNvPr id="26" name="Text 24"/>
          <p:cNvSpPr txBox="1"/>
          <p:nvPr/>
        </p:nvSpPr>
        <p:spPr>
          <a:xfrm>
            <a:off x="5760720" y="1929384"/>
            <a:ext cx="5852160" cy="566928"/>
          </a:xfrm>
          <a:prstGeom prst="rect">
            <a:avLst/>
          </a:prstGeom>
          <a:noFill/>
          <a:ln/>
        </p:spPr>
        <p:txBody>
          <a:bodyPr wrap="square" lIns="0" tIns="0" rIns="0" bIns="0" rtlCol="0" anchor="t"/>
          <a:lstStyle/>
          <a:p>
            <a:pPr indent="0" marL="0">
              <a:lnSpc>
                <a:spcPct val="115000"/>
              </a:lnSpc>
              <a:buNone/>
            </a:pPr>
            <a:r>
              <a:rPr lang="en-US" sz="1150" dirty="0">
                <a:solidFill>
                  <a:srgbClr val="5F6B78"/>
                </a:solidFill>
                <a:latin typeface="Calibri" pitchFamily="34" charset="0"/>
                <a:ea typeface="Calibri" pitchFamily="34" charset="-122"/>
                <a:cs typeface="Calibri" pitchFamily="34" charset="-120"/>
              </a:rPr>
              <a:t>Pemula butuh proporsi. “4 bermasalah dari 27” terbaca jauh berbeda dari sekadar empat peringatan berdiri sendiri.</a:t>
            </a:r>
            <a:endParaRPr lang="en-US" sz="1150" dirty="0"/>
          </a:p>
        </p:txBody>
      </p:sp>
      <p:sp>
        <p:nvSpPr>
          <p:cNvPr id="27" name="Text 25"/>
          <p:cNvSpPr txBox="1"/>
          <p:nvPr/>
        </p:nvSpPr>
        <p:spPr>
          <a:xfrm>
            <a:off x="5349240" y="2670048"/>
            <a:ext cx="274320" cy="274320"/>
          </a:xfrm>
          <a:prstGeom prst="ellipse">
            <a:avLst/>
          </a:prstGeom>
          <a:solidFill>
            <a:srgbClr val="1B243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6"/>
          <p:cNvSpPr txBox="1"/>
          <p:nvPr/>
        </p:nvSpPr>
        <p:spPr>
          <a:xfrm>
            <a:off x="5760720" y="2651760"/>
            <a:ext cx="585216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Tiap poin menjelaskan metriknya dulu, baru angkanya</a:t>
            </a:r>
            <a:endParaRPr lang="en-US" sz="1400" dirty="0"/>
          </a:p>
        </p:txBody>
      </p:sp>
      <p:sp>
        <p:nvSpPr>
          <p:cNvPr id="29" name="Text 27"/>
          <p:cNvSpPr txBox="1"/>
          <p:nvPr/>
        </p:nvSpPr>
        <p:spPr>
          <a:xfrm>
            <a:off x="5760720" y="2953512"/>
            <a:ext cx="5852160" cy="566928"/>
          </a:xfrm>
          <a:prstGeom prst="rect">
            <a:avLst/>
          </a:prstGeom>
          <a:noFill/>
          <a:ln/>
        </p:spPr>
        <p:txBody>
          <a:bodyPr wrap="square" lIns="0" tIns="0" rIns="0" bIns="0" rtlCol="0" anchor="t"/>
          <a:lstStyle/>
          <a:p>
            <a:pPr indent="0" marL="0">
              <a:lnSpc>
                <a:spcPct val="115000"/>
              </a:lnSpc>
              <a:buNone/>
            </a:pPr>
            <a:r>
              <a:rPr lang="en-US" sz="1150" dirty="0">
                <a:solidFill>
                  <a:srgbClr val="5F6B78"/>
                </a:solidFill>
                <a:latin typeface="Calibri" pitchFamily="34" charset="0"/>
                <a:ea typeface="Calibri" pitchFamily="34" charset="-122"/>
                <a:cs typeface="Calibri" pitchFamily="34" charset="-120"/>
              </a:rPr>
              <a:t>“Volume adalah jumlah lembar yang berpindah tangan” sebelum menyebut 7× lipat. Orang yang belum tahu istilahnya tetap bisa mengikuti.</a:t>
            </a:r>
            <a:endParaRPr lang="en-US" sz="1150" dirty="0"/>
          </a:p>
        </p:txBody>
      </p:sp>
      <p:sp>
        <p:nvSpPr>
          <p:cNvPr id="30" name="Text 28"/>
          <p:cNvSpPr txBox="1"/>
          <p:nvPr/>
        </p:nvSpPr>
        <p:spPr>
          <a:xfrm>
            <a:off x="5349240" y="3694176"/>
            <a:ext cx="274320" cy="274320"/>
          </a:xfrm>
          <a:prstGeom prst="ellipse">
            <a:avLst/>
          </a:prstGeom>
          <a:solidFill>
            <a:srgbClr val="1B243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9"/>
          <p:cNvSpPr txBox="1"/>
          <p:nvPr/>
        </p:nvSpPr>
        <p:spPr>
          <a:xfrm>
            <a:off x="5760720" y="3675888"/>
            <a:ext cx="585216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Dikelompokkan per pilar, masing-masing dengan vonis</a:t>
            </a:r>
            <a:endParaRPr lang="en-US" sz="1400" dirty="0"/>
          </a:p>
        </p:txBody>
      </p:sp>
      <p:sp>
        <p:nvSpPr>
          <p:cNvPr id="32" name="Text 30"/>
          <p:cNvSpPr txBox="1"/>
          <p:nvPr/>
        </p:nvSpPr>
        <p:spPr>
          <a:xfrm>
            <a:off x="5760720" y="3977640"/>
            <a:ext cx="5852160" cy="566928"/>
          </a:xfrm>
          <a:prstGeom prst="rect">
            <a:avLst/>
          </a:prstGeom>
          <a:noFill/>
          <a:ln/>
        </p:spPr>
        <p:txBody>
          <a:bodyPr wrap="square" lIns="0" tIns="0" rIns="0" bIns="0" rtlCol="0" anchor="t"/>
          <a:lstStyle/>
          <a:p>
            <a:pPr indent="0" marL="0">
              <a:lnSpc>
                <a:spcPct val="115000"/>
              </a:lnSpc>
              <a:buNone/>
            </a:pPr>
            <a:r>
              <a:rPr lang="en-US" sz="1150" dirty="0">
                <a:solidFill>
                  <a:srgbClr val="5F6B78"/>
                </a:solidFill>
                <a:latin typeface="Calibri" pitchFamily="34" charset="0"/>
                <a:ea typeface="Calibri" pitchFamily="34" charset="-122"/>
                <a:cs typeface="Calibri" pitchFamily="34" charset="-120"/>
              </a:rPr>
              <a:t>Kesehatan keuangan kuat, perilaku harga bermasalah. Ini memisahkan kondisi perusahaan dari pergerakan sahamnya — pembedaan terpenting bagi pemula.</a:t>
            </a:r>
            <a:endParaRPr lang="en-US" sz="1150" dirty="0"/>
          </a:p>
        </p:txBody>
      </p:sp>
      <p:sp>
        <p:nvSpPr>
          <p:cNvPr id="33" name="Text 31"/>
          <p:cNvSpPr txBox="1"/>
          <p:nvPr/>
        </p:nvSpPr>
        <p:spPr>
          <a:xfrm>
            <a:off x="5349240" y="4718304"/>
            <a:ext cx="274320" cy="274320"/>
          </a:xfrm>
          <a:prstGeom prst="ellipse">
            <a:avLst/>
          </a:prstGeom>
          <a:solidFill>
            <a:srgbClr val="1B243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4" name="Text 32"/>
          <p:cNvSpPr txBox="1"/>
          <p:nvPr/>
        </p:nvSpPr>
        <p:spPr>
          <a:xfrm>
            <a:off x="5760720" y="4700016"/>
            <a:ext cx="585216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Ketidaktahuan diakui</a:t>
            </a:r>
            <a:endParaRPr lang="en-US" sz="1400" dirty="0"/>
          </a:p>
        </p:txBody>
      </p:sp>
      <p:sp>
        <p:nvSpPr>
          <p:cNvPr id="35" name="Text 33"/>
          <p:cNvSpPr txBox="1"/>
          <p:nvPr/>
        </p:nvSpPr>
        <p:spPr>
          <a:xfrm>
            <a:off x="5760720" y="5001768"/>
            <a:ext cx="5852160" cy="566928"/>
          </a:xfrm>
          <a:prstGeom prst="rect">
            <a:avLst/>
          </a:prstGeom>
          <a:noFill/>
          <a:ln/>
        </p:spPr>
        <p:txBody>
          <a:bodyPr wrap="square" lIns="0" tIns="0" rIns="0" bIns="0" rtlCol="0" anchor="t"/>
          <a:lstStyle/>
          <a:p>
            <a:pPr indent="0" marL="0">
              <a:lnSpc>
                <a:spcPct val="115000"/>
              </a:lnSpc>
              <a:buNone/>
            </a:pPr>
            <a:r>
              <a:rPr lang="en-US" sz="1150" dirty="0">
                <a:solidFill>
                  <a:srgbClr val="5F6B78"/>
                </a:solidFill>
                <a:latin typeface="Calibri" pitchFamily="34" charset="0"/>
                <a:ea typeface="Calibri" pitchFamily="34" charset="-122"/>
                <a:cs typeface="Calibri" pitchFamily="34" charset="-120"/>
              </a:rPr>
              <a:t>Tiga indikator tidak bisa dinilai karena datanya tidak dilaporkan emiten. Ditampilkan apa adanya, bukan disembunyikan atau dianggap aman.</a:t>
            </a:r>
            <a:endParaRPr lang="en-US" sz="1150" dirty="0"/>
          </a:p>
        </p:txBody>
      </p:sp>
      <p:sp>
        <p:nvSpPr>
          <p:cNvPr id="36" name="Shape 34"/>
          <p:cNvSpPr/>
          <p:nvPr/>
        </p:nvSpPr>
        <p:spPr>
          <a:xfrm>
            <a:off x="5349240" y="5779008"/>
            <a:ext cx="6263640" cy="548640"/>
          </a:xfrm>
          <a:prstGeom prst="roundRect">
            <a:avLst>
              <a:gd name="adj" fmla="val 13333"/>
            </a:avLst>
          </a:prstGeom>
          <a:solidFill>
            <a:srgbClr val="FDF0DC"/>
          </a:solidFill>
          <a:ln w="12700">
            <a:solidFill>
              <a:srgbClr val="FDF0DC"/>
            </a:solidFill>
            <a:prstDash val="solid"/>
          </a:ln>
        </p:spPr>
      </p:sp>
      <p:sp>
        <p:nvSpPr>
          <p:cNvPr id="37" name="Text 35"/>
          <p:cNvSpPr txBox="1"/>
          <p:nvPr/>
        </p:nvSpPr>
        <p:spPr>
          <a:xfrm>
            <a:off x="5513832" y="5779008"/>
            <a:ext cx="5934456" cy="548640"/>
          </a:xfrm>
          <a:prstGeom prst="rect">
            <a:avLst/>
          </a:prstGeom>
          <a:noFill/>
          <a:ln/>
        </p:spPr>
        <p:txBody>
          <a:bodyPr wrap="square" lIns="0" tIns="0" rIns="0" bIns="0" rtlCol="0" anchor="ctr"/>
          <a:lstStyle/>
          <a:p>
            <a:pPr indent="0" marL="0">
              <a:buNone/>
            </a:pPr>
            <a:r>
              <a:rPr lang="en-US" sz="1100" dirty="0">
                <a:solidFill>
                  <a:srgbClr val="8A5A12"/>
                </a:solidFill>
                <a:latin typeface="Calibri" pitchFamily="34" charset="0"/>
                <a:ea typeface="Calibri" pitchFamily="34" charset="-122"/>
                <a:cs typeface="Calibri" pitchFamily="34" charset="-120"/>
              </a:rPr>
              <a:t>Versi 27 indikator ±6.000 karakter, melebihi batas 4.096 satu pesan Telegram. Alert memakai versi ringkas; /risk dipecah dua pesan.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1B2430"/>
        </a:solidFill>
        <a:effectLst/>
      </p:bgPr>
    </p:bg>
    <p:spTree>
      <p:nvGrpSpPr>
        <p:cNvPr id="1" name=""/>
        <p:cNvGrpSpPr/>
        <p:nvPr/>
      </p:nvGrpSpPr>
      <p:grpSpPr>
        <a:xfrm>
          <a:off x="0" y="0"/>
          <a:ext cx="0" cy="0"/>
          <a:chOff x="0" y="0"/>
          <a:chExt cx="0" cy="0"/>
        </a:xfrm>
      </p:grpSpPr>
      <p:sp>
        <p:nvSpPr>
          <p:cNvPr id="2" name="Text 0"/>
          <p:cNvSpPr txBox="1"/>
          <p:nvPr/>
        </p:nvSpPr>
        <p:spPr>
          <a:xfrm>
            <a:off x="731520" y="2103120"/>
            <a:ext cx="105156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Skor tinggi berarti risiko tinggi.</a:t>
            </a:r>
            <a:endParaRPr lang="en-US" sz="4000" dirty="0"/>
          </a:p>
        </p:txBody>
      </p:sp>
      <p:sp>
        <p:nvSpPr>
          <p:cNvPr id="3" name="Text 1"/>
          <p:cNvSpPr txBox="1"/>
          <p:nvPr/>
        </p:nvSpPr>
        <p:spPr>
          <a:xfrm>
            <a:off x="731520" y="2971800"/>
            <a:ext cx="10515600" cy="640080"/>
          </a:xfrm>
          <a:prstGeom prst="rect">
            <a:avLst/>
          </a:prstGeom>
          <a:noFill/>
          <a:ln/>
        </p:spPr>
        <p:txBody>
          <a:bodyPr wrap="square" lIns="0" tIns="0" rIns="0" bIns="0" rtlCol="0" anchor="ctr"/>
          <a:lstStyle/>
          <a:p>
            <a:pPr marL="0" indent="0">
              <a:buNone/>
            </a:pPr>
            <a:r>
              <a:rPr lang="en-US" sz="1800" dirty="0">
                <a:solidFill>
                  <a:srgbClr val="C9D2DB"/>
                </a:solidFill>
                <a:latin typeface="Calibri" pitchFamily="34" charset="0"/>
                <a:ea typeface="Calibri" pitchFamily="34" charset="-122"/>
                <a:cs typeface="Calibri" pitchFamily="34" charset="-120"/>
              </a:rPr>
              <a:t>Bukan rekomendasi beli atau jual. Setiap angka punya sumber, </a:t>
            </a:r>
            <a:r>
              <a:rPr lang="en-US" sz="1800" dirty="0" err="1">
                <a:solidFill>
                  <a:srgbClr val="C9D2DB"/>
                </a:solidFill>
                <a:latin typeface="Calibri" pitchFamily="34" charset="0"/>
                <a:ea typeface="Calibri" pitchFamily="34" charset="-122"/>
                <a:cs typeface="Calibri" pitchFamily="34" charset="-120"/>
              </a:rPr>
              <a:t>setiap</a:t>
            </a:r>
            <a:r>
              <a:rPr lang="en-US" sz="1800" dirty="0">
                <a:solidFill>
                  <a:srgbClr val="C9D2DB"/>
                </a:solidFill>
                <a:latin typeface="Calibri" pitchFamily="34" charset="0"/>
                <a:ea typeface="Calibri" pitchFamily="34" charset="-122"/>
                <a:cs typeface="Calibri" pitchFamily="34" charset="-120"/>
              </a:rPr>
              <a:t> result punya tanggal.</a:t>
            </a:r>
            <a:endParaRPr lang="en-US" sz="1800" dirty="0"/>
          </a:p>
        </p:txBody>
      </p:sp>
      <p:sp>
        <p:nvSpPr>
          <p:cNvPr id="5" name="Shape 3"/>
          <p:cNvSpPr/>
          <p:nvPr/>
        </p:nvSpPr>
        <p:spPr>
          <a:xfrm>
            <a:off x="731520" y="3931920"/>
            <a:ext cx="822960" cy="128016"/>
          </a:xfrm>
          <a:prstGeom prst="roundRect">
            <a:avLst>
              <a:gd name="adj" fmla="val 50000"/>
            </a:avLst>
          </a:prstGeom>
          <a:solidFill>
            <a:srgbClr val="C4451F"/>
          </a:solidFill>
          <a:ln w="12700">
            <a:solidFill>
              <a:srgbClr val="C4451F"/>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Update setelah uji API</a:t>
            </a:r>
            <a:endParaRPr lang="en-US" sz="3000" dirty="0"/>
          </a:p>
        </p:txBody>
      </p:sp>
      <p:sp>
        <p:nvSpPr>
          <p:cNvPr id="3" name="Text 1"/>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400" dirty="0">
                <a:solidFill>
                  <a:srgbClr val="5F6B78"/>
                </a:solidFill>
                <a:latin typeface="Calibri" pitchFamily="34" charset="0"/>
                <a:ea typeface="Calibri" pitchFamily="34" charset="-122"/>
                <a:cs typeface="Calibri" pitchFamily="34" charset="-120"/>
              </a:rPr>
              <a:t>24 panggilan nyata ke Sectors dengan ANTM, BBCA, dan AEGS. Enam hal berubah sebelum koding dimulai.</a:t>
            </a:r>
            <a:endParaRPr lang="en-US" sz="1400" dirty="0"/>
          </a:p>
        </p:txBody>
      </p:sp>
      <p:sp>
        <p:nvSpPr>
          <p:cNvPr id="4" name="Shape 2"/>
          <p:cNvSpPr/>
          <p:nvPr/>
        </p:nvSpPr>
        <p:spPr>
          <a:xfrm>
            <a:off x="548640" y="1600200"/>
            <a:ext cx="5486400" cy="3977640"/>
          </a:xfrm>
          <a:prstGeom prst="roundRect">
            <a:avLst>
              <a:gd name="adj" fmla="val 2299"/>
            </a:avLst>
          </a:prstGeom>
          <a:solidFill>
            <a:srgbClr val="FFFFFF"/>
          </a:solidFill>
          <a:ln w="12700">
            <a:solidFill>
              <a:srgbClr val="D5DAE0"/>
            </a:solidFill>
            <a:prstDash val="solid"/>
          </a:ln>
        </p:spPr>
      </p:sp>
      <p:sp>
        <p:nvSpPr>
          <p:cNvPr id="5" name="Text 3"/>
          <p:cNvSpPr txBox="1"/>
          <p:nvPr/>
        </p:nvSpPr>
        <p:spPr>
          <a:xfrm>
            <a:off x="749808" y="1755648"/>
            <a:ext cx="5084064" cy="274320"/>
          </a:xfrm>
          <a:prstGeom prst="roundRect">
            <a:avLst>
              <a:gd name="adj" fmla="val 20000"/>
            </a:avLst>
          </a:prstGeom>
          <a:solidFill>
            <a:srgbClr val="FBE7E0"/>
          </a:solidFill>
          <a:ln/>
        </p:spPr>
        <p:txBody>
          <a:bodyPr wrap="square" lIns="0" tIns="0" rIns="0" bIns="0" rtlCol="0" anchor="ctr"/>
          <a:lstStyle/>
          <a:p>
            <a:pPr algn="ctr" indent="0" marL="0">
              <a:buNone/>
            </a:pPr>
            <a:r>
              <a:rPr lang="en-US" sz="1100" b="1" dirty="0">
                <a:solidFill>
                  <a:srgbClr val="8E2F14"/>
                </a:solidFill>
                <a:latin typeface="Calibri" pitchFamily="34" charset="0"/>
                <a:ea typeface="Calibri" pitchFamily="34" charset="-122"/>
                <a:cs typeface="Calibri" pitchFamily="34" charset="-120"/>
              </a:rPr>
              <a:t>Berubah di katalog indikator</a:t>
            </a:r>
            <a:endParaRPr lang="en-US" sz="1100" dirty="0"/>
          </a:p>
        </p:txBody>
      </p:sp>
      <p:sp>
        <p:nvSpPr>
          <p:cNvPr id="6" name="Text 4"/>
          <p:cNvSpPr txBox="1"/>
          <p:nvPr/>
        </p:nvSpPr>
        <p:spPr>
          <a:xfrm>
            <a:off x="749808" y="2212848"/>
            <a:ext cx="508406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Beneish dihapus, diganti rasio akrual</a:t>
            </a:r>
            <a:endParaRPr lang="en-US" sz="1250" dirty="0"/>
          </a:p>
        </p:txBody>
      </p:sp>
      <p:sp>
        <p:nvSpPr>
          <p:cNvPr id="7" name="Text 5"/>
          <p:cNvSpPr txBox="1"/>
          <p:nvPr/>
        </p:nvSpPr>
        <p:spPr>
          <a:xfrm>
            <a:off x="749808" y="2441448"/>
            <a:ext cx="508406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Field piutang tidak ada di endpoint mana pun, jadi DSRI mustahil. Penggantinya (laba − arus kas operasi) ÷ aset, sumber Sloan (1996).</a:t>
            </a:r>
            <a:endParaRPr lang="en-US" sz="1050" dirty="0"/>
          </a:p>
        </p:txBody>
      </p:sp>
      <p:sp>
        <p:nvSpPr>
          <p:cNvPr id="8" name="Text 6"/>
          <p:cNvSpPr txBox="1"/>
          <p:nvPr/>
        </p:nvSpPr>
        <p:spPr>
          <a:xfrm>
            <a:off x="749808" y="2999232"/>
            <a:ext cx="508406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Piotroski pakai data tahunan</a:t>
            </a:r>
            <a:endParaRPr lang="en-US" sz="1250" dirty="0"/>
          </a:p>
        </p:txBody>
      </p:sp>
      <p:sp>
        <p:nvSpPr>
          <p:cNvPr id="9" name="Text 7"/>
          <p:cNvSpPr txBox="1"/>
          <p:nvPr/>
        </p:nvSpPr>
        <p:spPr>
          <a:xfrm>
            <a:off x="749808" y="3227832"/>
            <a:ext cx="508406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Semua field ada di historical_financials. Biayanya 1 kredit, bukan 8 kredit kuartalan seperti rencana awal.</a:t>
            </a:r>
            <a:endParaRPr lang="en-US" sz="1050" dirty="0"/>
          </a:p>
        </p:txBody>
      </p:sp>
      <p:sp>
        <p:nvSpPr>
          <p:cNvPr id="10" name="Text 8"/>
          <p:cNvSpPr txBox="1"/>
          <p:nvPr/>
        </p:nvSpPr>
        <p:spPr>
          <a:xfrm>
            <a:off x="749808" y="3785616"/>
            <a:ext cx="508406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Lonjakan harga dari return /daily</a:t>
            </a:r>
            <a:endParaRPr lang="en-US" sz="1250" dirty="0"/>
          </a:p>
        </p:txBody>
      </p:sp>
      <p:sp>
        <p:nvSpPr>
          <p:cNvPr id="11" name="Text 9"/>
          <p:cNvSpPr txBox="1"/>
          <p:nvPr/>
        </p:nvSpPr>
        <p:spPr>
          <a:xfrm>
            <a:off x="749808" y="4014216"/>
            <a:ext cx="508406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top-changes maksimal 10 emiten, jadi klaim “mencakup seluruh pasar” salah. Return harian sudah ikut terambil dari /daily yang memang dipanggil.</a:t>
            </a:r>
            <a:endParaRPr lang="en-US" sz="1050" dirty="0"/>
          </a:p>
        </p:txBody>
      </p:sp>
      <p:sp>
        <p:nvSpPr>
          <p:cNvPr id="12" name="Text 10"/>
          <p:cNvSpPr txBox="1"/>
          <p:nvPr/>
        </p:nvSpPr>
        <p:spPr>
          <a:xfrm>
            <a:off x="749808" y="4572000"/>
            <a:ext cx="508406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Pembanding jadi subsektor, bukan pasar</a:t>
            </a:r>
            <a:endParaRPr lang="en-US" sz="1250" dirty="0"/>
          </a:p>
        </p:txBody>
      </p:sp>
      <p:sp>
        <p:nvSpPr>
          <p:cNvPr id="13" name="Text 11"/>
          <p:cNvSpPr txBox="1"/>
          <p:nvPr/>
        </p:nvSpPr>
        <p:spPr>
          <a:xfrm>
            <a:off x="749808" y="4800600"/>
            <a:ext cx="508406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/close hanya mengembalikan satu harga per emiten untuk satu tanggal, jadi tidak bisa membentuk deret 90 hari. Rencana 32 kredit mingguan dibatalkan.</a:t>
            </a:r>
            <a:endParaRPr lang="en-US" sz="1050" dirty="0"/>
          </a:p>
        </p:txBody>
      </p:sp>
      <p:sp>
        <p:nvSpPr>
          <p:cNvPr id="14" name="Shape 12"/>
          <p:cNvSpPr/>
          <p:nvPr/>
        </p:nvSpPr>
        <p:spPr>
          <a:xfrm>
            <a:off x="6309360" y="1600200"/>
            <a:ext cx="5303520" cy="3977640"/>
          </a:xfrm>
          <a:prstGeom prst="roundRect">
            <a:avLst>
              <a:gd name="adj" fmla="val 2299"/>
            </a:avLst>
          </a:prstGeom>
          <a:solidFill>
            <a:srgbClr val="FFFFFF"/>
          </a:solidFill>
          <a:ln w="12700">
            <a:solidFill>
              <a:srgbClr val="D5DAE0"/>
            </a:solidFill>
            <a:prstDash val="solid"/>
          </a:ln>
        </p:spPr>
      </p:sp>
      <p:sp>
        <p:nvSpPr>
          <p:cNvPr id="15" name="Text 13"/>
          <p:cNvSpPr txBox="1"/>
          <p:nvPr/>
        </p:nvSpPr>
        <p:spPr>
          <a:xfrm>
            <a:off x="6510528" y="1755648"/>
            <a:ext cx="4901184" cy="274320"/>
          </a:xfrm>
          <a:prstGeom prst="roundRect">
            <a:avLst>
              <a:gd name="adj" fmla="val 20000"/>
            </a:avLst>
          </a:prstGeom>
          <a:solidFill>
            <a:srgbClr val="E3F2EC"/>
          </a:solidFill>
          <a:ln/>
        </p:spPr>
        <p:txBody>
          <a:bodyPr wrap="square" lIns="0" tIns="0" rIns="0" bIns="0" rtlCol="0" anchor="ctr"/>
          <a:lstStyle/>
          <a:p>
            <a:pPr algn="ctr" indent="0" marL="0">
              <a:buNone/>
            </a:pPr>
            <a:r>
              <a:rPr lang="en-US" sz="1100" b="1" dirty="0">
                <a:solidFill>
                  <a:srgbClr val="0F4A3B"/>
                </a:solidFill>
                <a:latin typeface="Calibri" pitchFamily="34" charset="0"/>
                <a:ea typeface="Calibri" pitchFamily="34" charset="-122"/>
                <a:cs typeface="Calibri" pitchFamily="34" charset="-120"/>
              </a:rPr>
              <a:t>Harus ditangani kode</a:t>
            </a:r>
            <a:endParaRPr lang="en-US" sz="1100" dirty="0"/>
          </a:p>
        </p:txBody>
      </p:sp>
      <p:sp>
        <p:nvSpPr>
          <p:cNvPr id="16" name="Text 14"/>
          <p:cNvSpPr txBox="1"/>
          <p:nvPr/>
        </p:nvSpPr>
        <p:spPr>
          <a:xfrm>
            <a:off x="6510528" y="2212848"/>
            <a:ext cx="490118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/daily dipotong diam-diam</a:t>
            </a:r>
            <a:endParaRPr lang="en-US" sz="1250" dirty="0"/>
          </a:p>
        </p:txBody>
      </p:sp>
      <p:sp>
        <p:nvSpPr>
          <p:cNvPr id="17" name="Text 15"/>
          <p:cNvSpPr txBox="1"/>
          <p:nvPr/>
        </p:nvSpPr>
        <p:spPr>
          <a:xfrm>
            <a:off x="6510528" y="2441448"/>
            <a:ext cx="490118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Batasnya 90 hari kalender, hasilnya 63 baris bursa. Minta 120 hari tetap dapat 90. Likuiditas 6 bulan butuh 2–3 panggilan backfill.</a:t>
            </a:r>
            <a:endParaRPr lang="en-US" sz="1050" dirty="0"/>
          </a:p>
        </p:txBody>
      </p:sp>
      <p:sp>
        <p:nvSpPr>
          <p:cNvPr id="18" name="Text 16"/>
          <p:cNvSpPr txBox="1"/>
          <p:nvPr/>
        </p:nvSpPr>
        <p:spPr>
          <a:xfrm>
            <a:off x="6510528" y="2999232"/>
            <a:ext cx="490118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Urutan array berbeda antar endpoint</a:t>
            </a:r>
            <a:endParaRPr lang="en-US" sz="1250" dirty="0"/>
          </a:p>
        </p:txBody>
      </p:sp>
      <p:sp>
        <p:nvSpPr>
          <p:cNvPr id="19" name="Text 17"/>
          <p:cNvSpPr txBox="1"/>
          <p:nvPr/>
        </p:nvSpPr>
        <p:spPr>
          <a:xfrm>
            <a:off x="6510528" y="3227832"/>
            <a:ext cx="490118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historical_* diurutkan tertua dulu; /financials/quarterly dan komposisi pemegang saham justru terbaru dulu. Jangan pernah memakai indeks 0.</a:t>
            </a:r>
            <a:endParaRPr lang="en-US" sz="1050" dirty="0"/>
          </a:p>
        </p:txBody>
      </p:sp>
      <p:sp>
        <p:nvSpPr>
          <p:cNvPr id="20" name="Text 18"/>
          <p:cNvSpPr txBox="1"/>
          <p:nvPr/>
        </p:nvSpPr>
        <p:spPr>
          <a:xfrm>
            <a:off x="6510528" y="3785616"/>
            <a:ext cx="490118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Angka yang menipu</a:t>
            </a:r>
            <a:endParaRPr lang="en-US" sz="1250" dirty="0"/>
          </a:p>
        </p:txBody>
      </p:sp>
      <p:sp>
        <p:nvSpPr>
          <p:cNvPr id="21" name="Text 19"/>
          <p:cNvSpPr txBox="1"/>
          <p:nvPr/>
        </p:nvSpPr>
        <p:spPr>
          <a:xfrm>
            <a:off x="6510528" y="4014216"/>
            <a:ext cx="490118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allowance_for_loans bernilai negatif, pakai abs(). efficiency_ratio sama persis dengan roa, kemungkinan bug, jangan dipakai. share_percentage berupa string.</a:t>
            </a:r>
            <a:endParaRPr lang="en-US" sz="1050" dirty="0"/>
          </a:p>
        </p:txBody>
      </p:sp>
      <p:sp>
        <p:nvSpPr>
          <p:cNvPr id="22" name="Text 20"/>
          <p:cNvSpPr txBox="1"/>
          <p:nvPr/>
        </p:nvSpPr>
        <p:spPr>
          <a:xfrm>
            <a:off x="6510528" y="4572000"/>
            <a:ext cx="4901184" cy="219456"/>
          </a:xfrm>
          <a:prstGeom prst="rect">
            <a:avLst/>
          </a:prstGeom>
          <a:noFill/>
          <a:ln/>
        </p:spPr>
        <p:txBody>
          <a:bodyPr wrap="square" lIns="0" tIns="0" rIns="0" bIns="0" rtlCol="0" anchor="t"/>
          <a:lstStyle/>
          <a:p>
            <a:pPr indent="0" marL="0">
              <a:buNone/>
            </a:pPr>
            <a:r>
              <a:rPr lang="en-US" sz="1250" b="1" dirty="0">
                <a:solidFill>
                  <a:srgbClr val="1B2430"/>
                </a:solidFill>
                <a:highlight>
                  <a:srgbClr val="FFFF00"/>
                </a:highlight>
                <a:latin typeface="Calibri" pitchFamily="34" charset="0"/>
                <a:ea typeface="Calibri" pitchFamily="34" charset="-122"/>
                <a:cs typeface="Calibri" pitchFamily="34" charset="-120"/>
              </a:rPr>
              <a:t>Screener punya aturan sendiri</a:t>
            </a:r>
            <a:endParaRPr lang="en-US" sz="1250" dirty="0"/>
          </a:p>
        </p:txBody>
      </p:sp>
      <p:sp>
        <p:nvSpPr>
          <p:cNvPr id="23" name="Text 21"/>
          <p:cNvSpPr txBox="1"/>
          <p:nvPr/>
        </p:nvSpPr>
        <p:spPr>
          <a:xfrm>
            <a:off x="6510528" y="4800600"/>
            <a:ext cx="4901184" cy="475488"/>
          </a:xfrm>
          <a:prstGeom prst="rect">
            <a:avLst/>
          </a:prstGeom>
          <a:noFill/>
          <a:ln/>
        </p:spPr>
        <p:txBody>
          <a:bodyPr wrap="square" lIns="0" tIns="0" rIns="0" bIns="0" rtlCol="0" anchor="t"/>
          <a:lstStyle/>
          <a:p>
            <a:pPr indent="0" marL="0">
              <a:lnSpc>
                <a:spcPct val="112000"/>
              </a:lnSpc>
              <a:buNone/>
            </a:pPr>
            <a:r>
              <a:rPr lang="en-US" sz="1050" dirty="0">
                <a:solidFill>
                  <a:srgbClr val="5F6B78"/>
                </a:solidFill>
                <a:latin typeface="Calibri" pitchFamily="34" charset="0"/>
                <a:ea typeface="Calibri" pitchFamily="34" charset="-122"/>
                <a:cs typeface="Calibri" pitchFamily="34" charset="-120"/>
              </a:rPr>
              <a:t>order_by wajib berindeks tahun (-pe[2025]) plus include_query_values. Null di where membuat baris hilang: emiten yang tidak muncul berstatus tidak_tersedia, bukan error.</a:t>
            </a:r>
            <a:endParaRPr lang="en-US" sz="1050" dirty="0"/>
          </a:p>
        </p:txBody>
      </p:sp>
      <p:sp>
        <p:nvSpPr>
          <p:cNvPr id="24" name="Shape 22"/>
          <p:cNvSpPr/>
          <p:nvPr/>
        </p:nvSpPr>
        <p:spPr>
          <a:xfrm>
            <a:off x="548640" y="5742432"/>
            <a:ext cx="11064240" cy="749808"/>
          </a:xfrm>
          <a:prstGeom prst="roundRect">
            <a:avLst>
              <a:gd name="adj" fmla="val 9756"/>
            </a:avLst>
          </a:prstGeom>
          <a:solidFill>
            <a:srgbClr val="FFF6C2"/>
          </a:solidFill>
          <a:ln w="12700">
            <a:solidFill>
              <a:srgbClr val="F2DE7E"/>
            </a:solidFill>
            <a:prstDash val="solid"/>
          </a:ln>
        </p:spPr>
      </p:sp>
      <p:sp>
        <p:nvSpPr>
          <p:cNvPr id="25" name="Text 23"/>
          <p:cNvSpPr txBox="1"/>
          <p:nvPr/>
        </p:nvSpPr>
        <p:spPr>
          <a:xfrm>
            <a:off x="777240" y="5742432"/>
            <a:ext cx="10607040" cy="749808"/>
          </a:xfrm>
          <a:prstGeom prst="rect">
            <a:avLst/>
          </a:prstGeom>
          <a:noFill/>
          <a:ln/>
        </p:spPr>
        <p:txBody>
          <a:bodyPr wrap="square" lIns="0" tIns="0" rIns="0" bIns="0" rtlCol="0" anchor="ctr"/>
          <a:lstStyle/>
          <a:p>
            <a:pPr indent="0" marL="0">
              <a:lnSpc>
                <a:spcPct val="110000"/>
              </a:lnSpc>
              <a:buNone/>
            </a:pPr>
            <a:r>
              <a:rPr lang="en-US" sz="1200" b="1" dirty="0">
                <a:solidFill>
                  <a:srgbClr val="6B5510"/>
                </a:solidFill>
                <a:latin typeface="Calibri" pitchFamily="34" charset="0"/>
                <a:ea typeface="Calibri" pitchFamily="34" charset="-122"/>
                <a:cs typeface="Calibri" pitchFamily="34" charset="-120"/>
              </a:rPr>
              <a:t>Yang justru jadi lebih murah:  </a:t>
            </a:r>
            <a:pPr indent="0" marL="0">
              <a:lnSpc>
                <a:spcPct val="110000"/>
              </a:lnSpc>
              <a:buNone/>
            </a:pPr>
            <a:r>
              <a:rPr lang="en-US" sz="1200" dirty="0">
                <a:solidFill>
                  <a:srgbClr val="6B5510"/>
                </a:solidFill>
                <a:latin typeface="Calibri" pitchFamily="34" charset="0"/>
                <a:ea typeface="Calibri" pitchFamily="34" charset="-122"/>
                <a:cs typeface="Calibri" pitchFamily="34" charset="-120"/>
              </a:rPr>
              <a:t>satu panggilan screener dengan aritmetika di where mengembalikan CAR, LDR, cost-to-income, NIM, dan proksi NPL untuk 46 dari 48 bank sekaligus — menggantikan puluhan panggilan per emiten.
</a:t>
            </a:r>
            <a:pPr indent="0" marL="0">
              <a:lnSpc>
                <a:spcPct val="110000"/>
              </a:lnSpc>
              <a:buNone/>
            </a:pPr>
            <a:r>
              <a:rPr lang="en-US" sz="1100" dirty="0">
                <a:solidFill>
                  <a:srgbClr val="6B5510"/>
                </a:solidFill>
                <a:latin typeface="Calibri" pitchFamily="34" charset="0"/>
                <a:ea typeface="Calibri" pitchFamily="34" charset="-122"/>
                <a:cs typeface="Calibri" pitchFamily="34" charset="-120"/>
              </a:rPr>
              <a:t>Autentikasi: header Authorization tanpa Bearer.  ·  /v1 sudah mati (410).  ·  19 fixture respons mentah tersimpan di tests/fixtures/.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368</TotalTime>
  <Words>4176</Words>
  <Application>Microsoft Macintosh PowerPoint</Application>
  <PresentationFormat>Widescreen</PresentationFormat>
  <Paragraphs>572</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Skor Risiko — briefing tim</dc:title>
  <dc:subject>PptxGenJS Presentation</dc:subject>
  <dc:creator>Tim Skor Risiko</dc:creator>
  <cp:lastModifiedBy>iqbalrahmatullah</cp:lastModifiedBy>
  <cp:revision>28</cp:revision>
  <dcterms:created xsi:type="dcterms:W3CDTF">2026-09-16T12:24:46Z</dcterms:created>
  <dcterms:modified xsi:type="dcterms:W3CDTF">2026-09-19T11:52:45Z</dcterms:modified>
</cp:coreProperties>
</file>